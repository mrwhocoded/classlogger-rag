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6" r:id="rId20"/>
    <p:sldId id="278" r:id="rId21"/>
    <p:sldId id="280" r:id="rId22"/>
    <p:sldId id="281" r:id="rId23"/>
    <p:sldId id="283" r:id="rId24"/>
    <p:sldId id="285" r:id="rId25"/>
    <p:sldId id="288" r:id="rId26"/>
    <p:sldId id="286" r:id="rId27"/>
    <p:sldId id="289" r:id="rId28"/>
    <p:sldId id="287" r:id="rId29"/>
    <p:sldId id="290" r:id="rId30"/>
    <p:sldId id="292" r:id="rId31"/>
    <p:sldId id="293" r:id="rId32"/>
    <p:sldId id="294" r:id="rId33"/>
    <p:sldId id="295" r:id="rId34"/>
    <p:sldId id="297" r:id="rId35"/>
    <p:sldId id="298" r:id="rId36"/>
    <p:sldId id="299" r:id="rId37"/>
    <p:sldId id="296" r:id="rId38"/>
    <p:sldId id="291" r:id="rId39"/>
    <p:sldId id="300" r:id="rId40"/>
    <p:sldId id="302" r:id="rId41"/>
    <p:sldId id="303" r:id="rId42"/>
    <p:sldId id="304" r:id="rId43"/>
    <p:sldId id="306" r:id="rId44"/>
    <p:sldId id="307" r:id="rId45"/>
    <p:sldId id="308" r:id="rId46"/>
    <p:sldId id="309" r:id="rId47"/>
    <p:sldId id="301" r:id="rId48"/>
    <p:sldId id="331" r:id="rId49"/>
    <p:sldId id="311" r:id="rId50"/>
    <p:sldId id="312" r:id="rId51"/>
    <p:sldId id="313" r:id="rId52"/>
    <p:sldId id="314" r:id="rId53"/>
    <p:sldId id="315" r:id="rId54"/>
    <p:sldId id="316" r:id="rId55"/>
    <p:sldId id="317" r:id="rId56"/>
    <p:sldId id="318" r:id="rId57"/>
    <p:sldId id="319" r:id="rId58"/>
    <p:sldId id="320" r:id="rId59"/>
    <p:sldId id="321" r:id="rId60"/>
    <p:sldId id="322" r:id="rId61"/>
    <p:sldId id="323" r:id="rId62"/>
    <p:sldId id="324" r:id="rId63"/>
    <p:sldId id="325" r:id="rId64"/>
    <p:sldId id="326" r:id="rId65"/>
    <p:sldId id="327" r:id="rId66"/>
    <p:sldId id="328" r:id="rId67"/>
    <p:sldId id="329" r:id="rId68"/>
    <p:sldId id="330" r:id="rId69"/>
    <p:sldId id="332" r:id="rId70"/>
    <p:sldId id="333" r:id="rId71"/>
    <p:sldId id="334" r:id="rId7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4CED20-5199-4795-91A2-7C12ED9EECA8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8BA3E1-1E37-4E91-9070-15089183B7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544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59AC8-33B2-4A3B-9827-5D34F749CE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811E06-AC01-480C-BF71-ADDF7EE9A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03BF8-4195-401B-ADAF-FAAED46D2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B217-9E42-4D59-81D9-186645E9549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00B4A-A3DB-4A4D-8AC2-EB828EE21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D1A33-1A52-4768-A35F-9C775607C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24614-7417-4DF7-A778-B60E592BC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9951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EEE3C-DA49-4B18-B9E1-6EF369A0F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3854E-A0D2-4454-AD68-8FB5FFF63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3A583-AF39-49F3-87EE-D72C72237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B217-9E42-4D59-81D9-186645E9549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C1E81-9C85-42C5-91E0-7EFB582FF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C1961-6AE7-421A-83D7-86D92E973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24614-7417-4DF7-A778-B60E592BC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584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712B6-D1FC-4F2C-A8D2-51AF72733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24F4E-929D-4244-B962-9770E4980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B188A-DCB4-4877-9078-83EEF4C08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B217-9E42-4D59-81D9-186645E9549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25AE5-0C4A-4AD6-B200-05BAAACFB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F0702-47DE-4505-886F-B0F39BE07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24614-7417-4DF7-A778-B60E592BC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635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94914-0DC4-4CBD-8B87-15115EFCB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CD4FA-5445-4D9F-A871-DB5183825E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C4E6AE-D68C-4637-80BA-8D4FA085F4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44B8B-A3AE-4226-892D-D825DB96F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B217-9E42-4D59-81D9-186645E9549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C1C84-24CD-4F15-895F-CADA76D8A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B27EBC-84E1-4062-A328-3D611F996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24614-7417-4DF7-A778-B60E592BC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612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4BC6D-A7FE-48F3-9D55-BB43DAAB6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1B4D23-2361-4F41-9F58-F407674EF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768C66-0410-47AE-8C18-53E45C0A41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E5EC24-8648-451B-ACF3-62D8A4B961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36920A-63E9-4779-930F-1B0A8CC016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73926D-A79E-46CD-9233-31CD287A8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B217-9E42-4D59-81D9-186645E9549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95007C-FC0F-41F2-9FCD-A77EE6396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2EEC84-39D9-42B6-9569-AD4EB5737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24614-7417-4DF7-A778-B60E592BC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278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8BDE7-E042-4C5A-BD18-117E0EB82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9BA73B-2BCF-4ED0-9F5A-ACFAFF393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B217-9E42-4D59-81D9-186645E9549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B45789-8C0F-4BA0-A2D0-23F1B8514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63125E-8F8E-470D-B78C-26CFB8E6D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24614-7417-4DF7-A778-B60E592BC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666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11D535-1571-4A38-86D8-2D8BDAB64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B217-9E42-4D59-81D9-186645E9549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96E0F0-1D0D-4C9A-B254-EEA86CA00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8C486D-69FD-4B49-8A6D-764968467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24614-7417-4DF7-A778-B60E592BC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700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5E029-7ACA-4DB4-A378-8D8BD771A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6731C-2383-4C31-B0AF-4CC224F9C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DD61FE-479A-4E5F-B3B4-1DD48EFA68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BB589C-170E-4E3D-BDE3-17EA410A6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B217-9E42-4D59-81D9-186645E9549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8942D7-FDB8-48CE-B930-DEB29CFD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450D3C-967B-41DE-B05E-22B1AE3E8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24614-7417-4DF7-A778-B60E592BC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653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39E86-30D7-48FB-AC53-D8256F8CB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13D07A-E2DE-4C1C-ACED-3A1276F7E7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BDDC93-C3D1-4FB0-BFEE-CEB3D7F2CC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21C60D-E01F-490F-B481-0DB0AB197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B217-9E42-4D59-81D9-186645E9549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7DBD8D-BE2D-47C3-8695-0E26F0F0C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8DEE38-F5D7-4800-8A45-1032400F7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24614-7417-4DF7-A778-B60E592BC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288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A22DC-96DE-45FD-96B8-86FE6D558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D8E393-FD76-4CB3-A897-DAED3B85BB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C94F7-4D1F-47FB-A479-73443B795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B217-9E42-4D59-81D9-186645E9549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70423-AC82-41C5-9A2D-9F2CB54EE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8698F-2B3B-4301-A99C-983FE671F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24614-7417-4DF7-A778-B60E592BC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039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D70FF7-13BD-41A9-96A0-4A9865880F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CE246F-6967-4A6E-BFA5-00A3833DFB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CD40E-0DD0-46EE-A3E0-849BC8392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B217-9E42-4D59-81D9-186645E9549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D99F1-BD69-4F9B-8D0A-AA4A657D0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4BFA6-F3F2-4DBF-B699-D5964CAA4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24614-7417-4DF7-A778-B60E592BC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0593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7562A1-785C-4B02-A248-EECC94574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5BE46F-768F-4C6F-9796-B32D9E303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A972F-B648-442A-82F9-1DF13277C9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54B217-9E42-4D59-81D9-186645E95494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46277-876A-4B77-A056-16098FE85A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29233-6C3D-4293-AF2F-D016AFD695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524614-7417-4DF7-A778-B60E592BC8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3230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2FBE9-86F2-45A5-9C37-D3B29D235E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 4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3AE4F7-998B-481C-A367-C822B10CB0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79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CB624-507D-4E32-A29E-6A0520F2D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Apache </a:t>
            </a:r>
            <a:r>
              <a:rPr lang="en-IN" dirty="0" err="1"/>
              <a:t>TinkerPop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54828-E016-4C0D-8564-54DF2AFB7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Apache </a:t>
            </a:r>
            <a:r>
              <a:rPr lang="en-IN" b="1" dirty="0" err="1"/>
              <a:t>TinkerPop</a:t>
            </a:r>
            <a:r>
              <a:rPr lang="en-IN" dirty="0"/>
              <a:t> is like a </a:t>
            </a:r>
            <a:r>
              <a:rPr lang="en-IN" b="1" dirty="0"/>
              <a:t>common platform (or bridge)</a:t>
            </a:r>
            <a:r>
              <a:rPr lang="en-IN" dirty="0"/>
              <a:t> for working with graph databases.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Provides a </a:t>
            </a:r>
            <a:r>
              <a:rPr lang="en-IN" b="1" dirty="0"/>
              <a:t>standard way to interact</a:t>
            </a:r>
            <a:r>
              <a:rPr lang="en-IN" dirty="0"/>
              <a:t> with different graph databases</a:t>
            </a:r>
            <a:br>
              <a:rPr lang="en-IN" dirty="0"/>
            </a:br>
            <a:r>
              <a:rPr lang="en-IN" dirty="0"/>
              <a:t>(like Neo4j, </a:t>
            </a:r>
            <a:r>
              <a:rPr lang="en-IN" dirty="0" err="1"/>
              <a:t>JanusGraph</a:t>
            </a:r>
            <a:r>
              <a:rPr lang="en-IN" dirty="0"/>
              <a:t>, Amazon Neptune)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You don’t need to learn a different API for each database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Supports: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OLTP</a:t>
            </a:r>
            <a:r>
              <a:rPr lang="en-IN" dirty="0"/>
              <a:t> → real-time queries (like finding friends of a user)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OLAP</a:t>
            </a:r>
            <a:r>
              <a:rPr lang="en-IN" dirty="0"/>
              <a:t> → large-scale analysis (like </a:t>
            </a:r>
            <a:r>
              <a:rPr lang="en-IN" dirty="0" err="1"/>
              <a:t>analyzing</a:t>
            </a:r>
            <a:r>
              <a:rPr lang="en-IN" dirty="0"/>
              <a:t> entire networks)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2360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4E43D-32BF-4051-8F4C-C02D2E67B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Gremlin (The Query Language)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620DC-ECB8-4DA5-8FFF-E9DB8A4A0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Gremlin</a:t>
            </a:r>
            <a:r>
              <a:rPr lang="en-US" dirty="0"/>
              <a:t> is the </a:t>
            </a:r>
            <a:r>
              <a:rPr lang="en-US" b="1" dirty="0"/>
              <a:t>language used to query graph data</a:t>
            </a:r>
            <a:r>
              <a:rPr lang="en-US" dirty="0"/>
              <a:t> in </a:t>
            </a:r>
            <a:r>
              <a:rPr lang="en-US" dirty="0" err="1"/>
              <a:t>TinkerPop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you </a:t>
            </a:r>
            <a:r>
              <a:rPr lang="en-US" b="1" dirty="0"/>
              <a:t>navigate through nodes (vertices) and connections (edges)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Works like SQL but for graphs</a:t>
            </a:r>
          </a:p>
          <a:p>
            <a:pPr marL="0" indent="0">
              <a:buNone/>
            </a:pPr>
            <a:r>
              <a:rPr lang="en-IN" dirty="0"/>
              <a:t>Example: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g.V</a:t>
            </a:r>
            <a:r>
              <a:rPr lang="en-US" dirty="0"/>
              <a:t>().has('name', 'Alice').out('knows').values('name')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6768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1A728-4E6C-439C-A086-85B652918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Groovy (The Scripting Language)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64C4C-F79B-47F2-B069-E288840A3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programming language</a:t>
            </a:r>
            <a:r>
              <a:rPr lang="en-US" dirty="0"/>
              <a:t> used to write Gremlin queries</a:t>
            </a:r>
          </a:p>
          <a:p>
            <a:r>
              <a:rPr lang="en-US" dirty="0"/>
              <a:t>Groovy is a dynamic programming language that runs on the Java platform.</a:t>
            </a:r>
          </a:p>
          <a:p>
            <a:r>
              <a:rPr lang="en-US" dirty="0"/>
              <a:t>Syntax is similar to Java, but shorter and easier</a:t>
            </a:r>
          </a:p>
          <a:p>
            <a:r>
              <a:rPr lang="en-US" dirty="0"/>
              <a:t>Used for scripting and automation</a:t>
            </a:r>
          </a:p>
          <a:p>
            <a:r>
              <a:rPr lang="en-US" dirty="0"/>
              <a:t>Runs on the JVM (Java Virtual Machine)</a:t>
            </a:r>
          </a:p>
          <a:p>
            <a:r>
              <a:rPr lang="en-US" dirty="0"/>
              <a:t>In graph databases, it is used in the Gremlin Console </a:t>
            </a:r>
          </a:p>
          <a:p>
            <a:r>
              <a:rPr lang="en-US" dirty="0"/>
              <a:t>Groovy is used to write Gremlin queries </a:t>
            </a:r>
          </a:p>
          <a:p>
            <a:r>
              <a:rPr lang="en-US" dirty="0"/>
              <a:t>Groovy is a simple scripting language on the Java platform used to write and execute Gremlin graph queries.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646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BA480B-857B-44C3-BAC0-15EB2A3288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2490349"/>
              </p:ext>
            </p:extLst>
          </p:nvPr>
        </p:nvGraphicFramePr>
        <p:xfrm>
          <a:off x="838200" y="3452654"/>
          <a:ext cx="10515600" cy="1097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50449345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7493721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Neo4j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Gremlin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6979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Node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Vertex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7566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Relationship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Edge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362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5951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8F778-3F09-4232-BEB7-1AC59393E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Commands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6A944DB-B4F1-4921-B46E-34E282A7A2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31637"/>
            <a:ext cx="862012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g.V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nodes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all edges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g.E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all relationships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specific node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g.v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60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CEC24-0F93-47E6-BB0F-C205D074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Create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5E591-72FB-4FBA-96F3-2BD4EA3FD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graph = </a:t>
            </a:r>
            <a:r>
              <a:rPr lang="en-IN" dirty="0" err="1"/>
              <a:t>TinkerGraph.open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US" dirty="0"/>
              <a:t>Creates a new empty graph database in memory</a:t>
            </a:r>
          </a:p>
          <a:p>
            <a:r>
              <a:rPr lang="en-US" dirty="0"/>
              <a:t>No data yet</a:t>
            </a:r>
          </a:p>
          <a:p>
            <a:r>
              <a:rPr lang="en-IN" dirty="0"/>
              <a:t>0 nodes, 0 relationships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712727-E50E-407A-A952-5FA933BD4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825" y="4490990"/>
            <a:ext cx="7440489" cy="1404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526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B6612-9C56-4DFC-86D6-76FC69EDB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Create Traversal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23FA8-5C20-4911-AAC4-A6B5834F7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 = </a:t>
            </a:r>
            <a:r>
              <a:rPr lang="en-IN" dirty="0" err="1"/>
              <a:t>graph.traversal</a:t>
            </a:r>
            <a:r>
              <a:rPr lang="en-IN" dirty="0"/>
              <a:t>()</a:t>
            </a:r>
          </a:p>
          <a:p>
            <a:r>
              <a:rPr lang="en-US" dirty="0"/>
              <a:t>Creates a traversal source</a:t>
            </a:r>
          </a:p>
          <a:p>
            <a:r>
              <a:rPr lang="en-US" dirty="0"/>
              <a:t>g is used to query the graph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41A9D5-286F-4CB7-8B0E-308649C8D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9830" y="4119511"/>
            <a:ext cx="6201640" cy="73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827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294B7-FB1B-4560-A791-2C57431B5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// 1. Create Alice and save her to a variable 'a'</a:t>
            </a:r>
          </a:p>
          <a:p>
            <a:pPr marL="0" indent="0">
              <a:buNone/>
            </a:pPr>
            <a:r>
              <a:rPr lang="en-IN" dirty="0"/>
              <a:t>a = </a:t>
            </a:r>
            <a:r>
              <a:rPr lang="en-IN" dirty="0" err="1"/>
              <a:t>g.addV</a:t>
            </a:r>
            <a:r>
              <a:rPr lang="en-IN" dirty="0"/>
              <a:t>('person').property('name', 'Alice').next()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// 2. Create Bob and save him to a variable 'b'</a:t>
            </a:r>
          </a:p>
          <a:p>
            <a:pPr marL="0" indent="0">
              <a:buNone/>
            </a:pPr>
            <a:r>
              <a:rPr lang="en-IN" dirty="0"/>
              <a:t>b = </a:t>
            </a:r>
            <a:r>
              <a:rPr lang="en-IN" dirty="0" err="1"/>
              <a:t>g.addV</a:t>
            </a:r>
            <a:r>
              <a:rPr lang="en-IN" dirty="0"/>
              <a:t>('person').property('name', 'Bob').next()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9EC5D58-3621-4272-A6F5-4CE0FBD8A4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427742"/>
            <a:ext cx="4942956" cy="12003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Nodes (Vertices)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696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294B7-FB1B-4560-A791-2C57431B5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// 1. Create Alice and save her to a variable 'a'</a:t>
            </a:r>
          </a:p>
          <a:p>
            <a:pPr marL="0" indent="0">
              <a:buNone/>
            </a:pPr>
            <a:r>
              <a:rPr lang="en-IN" dirty="0"/>
              <a:t>a = </a:t>
            </a:r>
            <a:r>
              <a:rPr lang="en-IN" dirty="0" err="1"/>
              <a:t>g.addV</a:t>
            </a:r>
            <a:r>
              <a:rPr lang="en-IN" dirty="0"/>
              <a:t>('person').property('name', 'Alice').next()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// 2. Create Bob and save him to a variable 'b'</a:t>
            </a:r>
          </a:p>
          <a:p>
            <a:pPr marL="0" indent="0">
              <a:buNone/>
            </a:pPr>
            <a:r>
              <a:rPr lang="en-IN" dirty="0"/>
              <a:t>b = </a:t>
            </a:r>
            <a:r>
              <a:rPr lang="en-IN" dirty="0" err="1"/>
              <a:t>g.addV</a:t>
            </a:r>
            <a:r>
              <a:rPr lang="en-IN" dirty="0"/>
              <a:t>('person').property('name', 'Bob').next()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// 3. Link them directly using the variables</a:t>
            </a:r>
          </a:p>
          <a:p>
            <a:pPr marL="0" indent="0">
              <a:buNone/>
            </a:pPr>
            <a:r>
              <a:rPr lang="en-IN" b="1" dirty="0" err="1"/>
              <a:t>g.V</a:t>
            </a:r>
            <a:r>
              <a:rPr lang="en-IN" b="1" dirty="0"/>
              <a:t>(a).</a:t>
            </a:r>
            <a:r>
              <a:rPr lang="en-IN" b="1" dirty="0" err="1"/>
              <a:t>addE</a:t>
            </a:r>
            <a:r>
              <a:rPr lang="en-IN" b="1" dirty="0"/>
              <a:t>('follows').to(b).iterate()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9EC5D58-3621-4272-A6F5-4CE0FBD8A4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427742"/>
            <a:ext cx="5284780" cy="12003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relationship(Edge)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656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BB4A4-918E-4B11-A13A-51EB00F53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F4954D-A8EC-44ED-B138-33751C1D21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473" y="95250"/>
            <a:ext cx="10733513" cy="2072563"/>
          </a:xfrm>
        </p:spPr>
      </p:pic>
    </p:spTree>
    <p:extLst>
      <p:ext uri="{BB962C8B-B14F-4D97-AF65-F5344CB8AC3E}">
        <p14:creationId xmlns:p14="http://schemas.microsoft.com/office/powerpoint/2010/main" val="2948755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6FE9A-082B-4CAA-B416-D3916ED3B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Display Vertices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75C8A1-3C40-4BFE-BB78-A685391EAC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7750" y="1453640"/>
            <a:ext cx="6431778" cy="2223010"/>
          </a:xfrm>
        </p:spPr>
      </p:pic>
    </p:spTree>
    <p:extLst>
      <p:ext uri="{BB962C8B-B14F-4D97-AF65-F5344CB8AC3E}">
        <p14:creationId xmlns:p14="http://schemas.microsoft.com/office/powerpoint/2010/main" val="1899102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85C13-C4F4-493E-9D43-1B220EB14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 Node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545A59-3293-48BE-9324-CBD1F5A813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5234" y="2002056"/>
            <a:ext cx="6497949" cy="685799"/>
          </a:xfrm>
        </p:spPr>
      </p:pic>
    </p:spTree>
    <p:extLst>
      <p:ext uri="{BB962C8B-B14F-4D97-AF65-F5344CB8AC3E}">
        <p14:creationId xmlns:p14="http://schemas.microsoft.com/office/powerpoint/2010/main" val="452624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4B6B8-915A-4D82-AFBD-8175784B5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D55567-707E-4F1D-BA82-7CF3733A01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1285" y="1690688"/>
            <a:ext cx="6791003" cy="641372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D5CF1D-48BE-4CF8-B721-5C3BFC13D21F}"/>
              </a:ext>
            </a:extLst>
          </p:cNvPr>
          <p:cNvSpPr txBox="1"/>
          <p:nvPr/>
        </p:nvSpPr>
        <p:spPr>
          <a:xfrm>
            <a:off x="838200" y="273429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g.V</a:t>
            </a:r>
            <a:r>
              <a:rPr lang="en-US" dirty="0"/>
              <a:t>(): Selects all vertices.</a:t>
            </a:r>
          </a:p>
          <a:p>
            <a:r>
              <a:rPr lang="en-US" dirty="0"/>
              <a:t>.drop(): Deletes them.</a:t>
            </a:r>
          </a:p>
          <a:p>
            <a:r>
              <a:rPr lang="en-US" dirty="0"/>
              <a:t>.iterate(): Executes the command.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490B3E-6C0D-4FD6-9F75-ACA8298CA650}"/>
              </a:ext>
            </a:extLst>
          </p:cNvPr>
          <p:cNvSpPr txBox="1"/>
          <p:nvPr/>
        </p:nvSpPr>
        <p:spPr>
          <a:xfrm>
            <a:off x="619125" y="5534025"/>
            <a:ext cx="9563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In Gremlin, you simply find every vertex and "drop" them. Since edges (relationships) cannot exist without vertices, deleting the nodes automatically deletes the relationships.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4253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.next() if you need to use the result (the Node or Edge) in your next line of code.</a:t>
            </a:r>
          </a:p>
          <a:p>
            <a:r>
              <a:rPr lang="en-US" dirty="0"/>
              <a:t>Use .iterate() if you just want the database to "do the work and shut up" (common for creating links or bulk updates).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42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Social Network Exercise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Nodes: Create 2 'person' nodes.</a:t>
            </a:r>
          </a:p>
          <a:p>
            <a:pPr marL="0" indent="0">
              <a:buNone/>
            </a:pPr>
            <a:r>
              <a:rPr lang="en-US" dirty="0"/>
              <a:t>Node 1: Name it "Sam", add age 25 and city "New York".</a:t>
            </a:r>
          </a:p>
          <a:p>
            <a:pPr marL="0" indent="0">
              <a:buNone/>
            </a:pPr>
            <a:r>
              <a:rPr lang="en-US" dirty="0"/>
              <a:t>Node 2: Name it "Alex", add age 30 and city "London".</a:t>
            </a:r>
          </a:p>
          <a:p>
            <a:pPr marL="0" indent="0">
              <a:buNone/>
            </a:pPr>
            <a:r>
              <a:rPr lang="en-US" dirty="0"/>
              <a:t>Relations: Create a "friends" relationship from Sam to Alex.</a:t>
            </a:r>
          </a:p>
          <a:p>
            <a:pPr marL="0" indent="0">
              <a:buNone/>
            </a:pPr>
            <a:r>
              <a:rPr lang="en-US" dirty="0"/>
              <a:t>Add two properties to this relationship: since (value: "2020") and strength (value: 5).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7325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Gremlin (Groovy)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// Create Sam and Alex (using .next() to save them to variables)</a:t>
            </a:r>
          </a:p>
          <a:p>
            <a:pPr marL="0" indent="0">
              <a:buNone/>
            </a:pPr>
            <a:r>
              <a:rPr lang="en-US" dirty="0" err="1"/>
              <a:t>sam</a:t>
            </a:r>
            <a:r>
              <a:rPr lang="en-US" dirty="0"/>
              <a:t> = </a:t>
            </a:r>
            <a:r>
              <a:rPr lang="en-US" dirty="0" err="1"/>
              <a:t>g.addV</a:t>
            </a:r>
            <a:r>
              <a:rPr lang="en-US" dirty="0"/>
              <a:t>('person').property('name', 'Sam').property('age', 25).property('city', 'New York').next()</a:t>
            </a:r>
          </a:p>
          <a:p>
            <a:pPr marL="0" indent="0">
              <a:buNone/>
            </a:pPr>
            <a:r>
              <a:rPr lang="en-US" dirty="0" err="1"/>
              <a:t>alex</a:t>
            </a:r>
            <a:r>
              <a:rPr lang="en-US" dirty="0"/>
              <a:t> = </a:t>
            </a:r>
            <a:r>
              <a:rPr lang="en-US" dirty="0" err="1"/>
              <a:t>g.addV</a:t>
            </a:r>
            <a:r>
              <a:rPr lang="en-US" dirty="0"/>
              <a:t>('person').property('name', 'Alex').property('age', 30).property('city', 'London').next()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Create the relationship with properties (using .iterate() to execute)</a:t>
            </a:r>
          </a:p>
          <a:p>
            <a:pPr marL="0" indent="0">
              <a:buNone/>
            </a:pPr>
            <a:r>
              <a:rPr lang="en-US" dirty="0" err="1"/>
              <a:t>g.V</a:t>
            </a:r>
            <a:r>
              <a:rPr lang="en-US" dirty="0"/>
              <a:t>(</a:t>
            </a:r>
            <a:r>
              <a:rPr lang="en-US" dirty="0" err="1"/>
              <a:t>sam</a:t>
            </a:r>
            <a:r>
              <a:rPr lang="en-US" dirty="0"/>
              <a:t>).</a:t>
            </a:r>
            <a:r>
              <a:rPr lang="en-US" dirty="0" err="1"/>
              <a:t>addE</a:t>
            </a:r>
            <a:r>
              <a:rPr lang="en-US" dirty="0"/>
              <a:t>('friends').to(</a:t>
            </a:r>
            <a:r>
              <a:rPr lang="en-US" dirty="0" err="1"/>
              <a:t>alex</a:t>
            </a:r>
            <a:r>
              <a:rPr lang="en-US" dirty="0"/>
              <a:t>).property('since', '2020').property('strength', 5).iterate()</a:t>
            </a:r>
          </a:p>
        </p:txBody>
      </p:sp>
    </p:spTree>
    <p:extLst>
      <p:ext uri="{BB962C8B-B14F-4D97-AF65-F5344CB8AC3E}">
        <p14:creationId xmlns:p14="http://schemas.microsoft.com/office/powerpoint/2010/main" val="2934964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2101" y="518733"/>
            <a:ext cx="7366374" cy="565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5770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Display Sam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g.V</a:t>
            </a:r>
            <a:r>
              <a:rPr lang="en-US" dirty="0"/>
              <a:t>().has('person', 'name', 'Sam').</a:t>
            </a:r>
            <a:r>
              <a:rPr lang="en-US" dirty="0" err="1"/>
              <a:t>elementMap</a:t>
            </a:r>
            <a:r>
              <a:rPr lang="en-US" dirty="0"/>
              <a:t>()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MATCH (</a:t>
            </a:r>
            <a:r>
              <a:rPr lang="en-US" dirty="0" err="1"/>
              <a:t>p:person</a:t>
            </a:r>
            <a:r>
              <a:rPr lang="en-US" dirty="0"/>
              <a:t> {name: 'Sam'}) </a:t>
            </a:r>
          </a:p>
          <a:p>
            <a:pPr marL="0" indent="0">
              <a:buNone/>
            </a:pPr>
            <a:r>
              <a:rPr lang="en-US" dirty="0"/>
              <a:t>RETURN p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674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Update Sam's 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g.V</a:t>
            </a:r>
            <a:r>
              <a:rPr lang="en-US" dirty="0"/>
              <a:t>().has('person', 'name', 'Sam').property('age', 26).iterate()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MATCH (</a:t>
            </a:r>
            <a:r>
              <a:rPr lang="en-US" dirty="0" err="1"/>
              <a:t>p:person</a:t>
            </a:r>
            <a:r>
              <a:rPr lang="en-US" dirty="0"/>
              <a:t> {name: 'Sam'})</a:t>
            </a:r>
          </a:p>
          <a:p>
            <a:pPr marL="0" indent="0">
              <a:buNone/>
            </a:pPr>
            <a:r>
              <a:rPr lang="en-US" dirty="0"/>
              <a:t>SET </a:t>
            </a:r>
            <a:r>
              <a:rPr lang="en-US" dirty="0" err="1"/>
              <a:t>p.age</a:t>
            </a:r>
            <a:r>
              <a:rPr lang="en-US" dirty="0"/>
              <a:t> = 26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6051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See Sam's Friends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g.V</a:t>
            </a:r>
            <a:r>
              <a:rPr lang="en-US" dirty="0"/>
              <a:t>().has('person', 'name', 'Sam').out('friends').values('name') 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MATCH (</a:t>
            </a:r>
            <a:r>
              <a:rPr lang="en-US" dirty="0" err="1"/>
              <a:t>s:person</a:t>
            </a:r>
            <a:r>
              <a:rPr lang="en-US" dirty="0"/>
              <a:t> {name: 'Sam'})-[:friends]-&gt;(f)</a:t>
            </a:r>
          </a:p>
          <a:p>
            <a:pPr marL="0" indent="0">
              <a:buNone/>
            </a:pPr>
            <a:r>
              <a:rPr lang="en-US" dirty="0"/>
              <a:t>RETURN f.name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2523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Remove the 'city' property from Sam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g.V</a:t>
            </a:r>
            <a:r>
              <a:rPr lang="en-US" dirty="0"/>
              <a:t>().has('name', 'Sam').properties('city').drop().iterate()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MATCH (</a:t>
            </a:r>
            <a:r>
              <a:rPr lang="en-US" dirty="0" err="1"/>
              <a:t>p:person</a:t>
            </a:r>
            <a:r>
              <a:rPr lang="en-US" dirty="0"/>
              <a:t> {name: 'Sam'})</a:t>
            </a:r>
          </a:p>
          <a:p>
            <a:pPr marL="0" indent="0">
              <a:buNone/>
            </a:pPr>
            <a:r>
              <a:rPr lang="en-US" dirty="0"/>
              <a:t>REMOVE </a:t>
            </a:r>
            <a:r>
              <a:rPr lang="en-US" dirty="0" err="1"/>
              <a:t>p.city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7175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Delete the "friends" link between Sam and Alex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g.V</a:t>
            </a:r>
            <a:r>
              <a:rPr lang="en-US" dirty="0"/>
              <a:t>().has('name', 'Sam').</a:t>
            </a:r>
            <a:r>
              <a:rPr lang="en-US" dirty="0" err="1"/>
              <a:t>outE</a:t>
            </a:r>
            <a:r>
              <a:rPr lang="en-US" dirty="0"/>
              <a:t>('friends').where(</a:t>
            </a:r>
            <a:r>
              <a:rPr lang="en-US" dirty="0" err="1"/>
              <a:t>inV</a:t>
            </a:r>
            <a:r>
              <a:rPr lang="en-US" dirty="0"/>
              <a:t>().has('name', 'Alex')).drop().iterate()</a:t>
            </a:r>
          </a:p>
          <a:p>
            <a:r>
              <a:rPr lang="en-US" dirty="0" err="1"/>
              <a:t>g.V</a:t>
            </a:r>
            <a:r>
              <a:rPr lang="en-US" dirty="0"/>
              <a:t>().has('name', 'Sam'): Start at the "Sam" node.</a:t>
            </a:r>
          </a:p>
          <a:p>
            <a:r>
              <a:rPr lang="en-US" dirty="0" err="1"/>
              <a:t>outE</a:t>
            </a:r>
            <a:r>
              <a:rPr lang="en-US" dirty="0"/>
              <a:t>('friends'): Move from the node to the Edge (the arrow) labeled "friends." You are now standing on the line.</a:t>
            </a:r>
          </a:p>
          <a:p>
            <a:r>
              <a:rPr lang="en-US" dirty="0"/>
              <a:t>where(</a:t>
            </a:r>
            <a:r>
              <a:rPr lang="en-US" dirty="0" err="1"/>
              <a:t>inV</a:t>
            </a:r>
            <a:r>
              <a:rPr lang="en-US" dirty="0"/>
              <a:t>()...): While standing on that line, look at the node it is pointing into.</a:t>
            </a:r>
          </a:p>
          <a:p>
            <a:r>
              <a:rPr lang="en-US" dirty="0"/>
              <a:t>has('name', 'Alex'): Check if that "target" node is named "Alex."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4872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71475" y="323850"/>
            <a:ext cx="10277475" cy="4993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1: Create Graph Nodes (Vertices)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graph database using Gremlin by defining the following entities as vertices: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winery named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“Prancing Wolf Winery”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wines: 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“Prancing Wolf Ice Wine 2007” 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“Prancing Wolf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Kabinett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2002” 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“Prancing Wolf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Spatlese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2007”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grape type named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“Riesling”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each vertex in a variable for further use in graph construction.</a:t>
            </a:r>
          </a:p>
        </p:txBody>
      </p:sp>
    </p:spTree>
    <p:extLst>
      <p:ext uri="{BB962C8B-B14F-4D97-AF65-F5344CB8AC3E}">
        <p14:creationId xmlns:p14="http://schemas.microsoft.com/office/powerpoint/2010/main" val="542292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2422" y="1834123"/>
            <a:ext cx="11065141" cy="310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487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81074" y="597664"/>
            <a:ext cx="8924925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2: Create Relationships (Edges)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 meaningful relationships between the vertices created in Task 1: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winery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all three wines using a relationship that represents production.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the wines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Kabinett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2002”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Spatlese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2007”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grape type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“Riesling”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a relationship that represents grape type association. 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that edges correctly represent directional relationships in the graph.</a:t>
            </a:r>
          </a:p>
        </p:txBody>
      </p:sp>
    </p:spTree>
    <p:extLst>
      <p:ext uri="{BB962C8B-B14F-4D97-AF65-F5344CB8AC3E}">
        <p14:creationId xmlns:p14="http://schemas.microsoft.com/office/powerpoint/2010/main" val="17297308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59" y="1342145"/>
            <a:ext cx="11251312" cy="405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6558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399" y="903238"/>
            <a:ext cx="11268076" cy="45502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3: Query the Graph</a:t>
            </a:r>
          </a:p>
          <a:p>
            <a:pPr>
              <a:lnSpc>
                <a:spcPct val="2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Gremlin traversal queries to retrieve the following information from the graph:</a:t>
            </a: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 all wines produced by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“Prancing Wolf Winery”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grape type associated with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“Prancing Wolf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Kabinett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2002”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all wines that are associated with the grape type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“Riesling”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20748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8061"/>
            <a:ext cx="11887200" cy="299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2218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802610"/>
            <a:ext cx="6607629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v[0] →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Prancing Wolf Ice Wine 2007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v[1] →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Wine Expert Monthly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v[2] → </a:t>
            </a:r>
            <a:r>
              <a:rPr kumimoji="0" lang="en-US" altLang="en-US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riesling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744278" y="3357656"/>
            <a:ext cx="223168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e[0] →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(Wine Expert Monthly) -[</a:t>
            </a:r>
            <a:r>
              <a:rPr kumimoji="0" lang="en-US" altLang="en-U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reported_on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]-&gt; (Prancing Wolf Ice Wine 2007)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837" y="4081704"/>
            <a:ext cx="8081963" cy="252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794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42260"/>
            <a:ext cx="10515600" cy="563470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// 1. Filter </a:t>
            </a:r>
            <a:r>
              <a:rPr lang="en-US" dirty="0" err="1"/>
              <a:t>riesling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g.V.filter</a:t>
            </a:r>
            <a:r>
              <a:rPr lang="en-US" dirty="0"/>
              <a:t>{it.name=='</a:t>
            </a:r>
            <a:r>
              <a:rPr lang="en-US" dirty="0" err="1"/>
              <a:t>riesling</a:t>
            </a:r>
            <a:r>
              <a:rPr lang="en-US" dirty="0"/>
              <a:t>'}</a:t>
            </a:r>
            <a:br>
              <a:rPr lang="en-US" dirty="0"/>
            </a:br>
            <a:r>
              <a:rPr lang="en-US" dirty="0"/>
              <a:t>==&gt; v[2]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// 2. Outgoing edges of Wine Expert Monthly</a:t>
            </a:r>
            <a:br>
              <a:rPr lang="en-US" dirty="0"/>
            </a:br>
            <a:r>
              <a:rPr lang="en-US" dirty="0" err="1"/>
              <a:t>g.V.filter</a:t>
            </a:r>
            <a:r>
              <a:rPr lang="en-US" dirty="0"/>
              <a:t>{it.name=='Wine Expert Monthly'}.</a:t>
            </a:r>
            <a:r>
              <a:rPr lang="en-US" dirty="0" err="1"/>
              <a:t>outE</a:t>
            </a:r>
            <a:r>
              <a:rPr lang="en-US" dirty="0"/>
              <a:t>()</a:t>
            </a:r>
            <a:br>
              <a:rPr lang="en-US" dirty="0"/>
            </a:br>
            <a:r>
              <a:rPr lang="en-US" dirty="0"/>
              <a:t>==&gt; e[0][1-reported_on-&gt;0]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// 3. Move to vertex and get name</a:t>
            </a:r>
            <a:br>
              <a:rPr lang="en-US" dirty="0"/>
            </a:br>
            <a:r>
              <a:rPr lang="en-US" dirty="0" err="1"/>
              <a:t>g.V.filter</a:t>
            </a:r>
            <a:r>
              <a:rPr lang="en-US" dirty="0"/>
              <a:t>{it.name=='Wine Expert Monthly'}.</a:t>
            </a:r>
            <a:r>
              <a:rPr lang="en-US" dirty="0" err="1"/>
              <a:t>outE</a:t>
            </a:r>
            <a:r>
              <a:rPr lang="en-US" dirty="0"/>
              <a:t>().</a:t>
            </a:r>
            <a:r>
              <a:rPr lang="en-US" dirty="0" err="1"/>
              <a:t>inV</a:t>
            </a:r>
            <a:r>
              <a:rPr lang="en-US" dirty="0"/>
              <a:t>().name</a:t>
            </a:r>
            <a:br>
              <a:rPr lang="en-US" dirty="0"/>
            </a:br>
            <a:r>
              <a:rPr lang="en-US" dirty="0"/>
              <a:t>==&gt; Prancing Wolf Ice Wine 2007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// 4. Using shortcut</a:t>
            </a:r>
            <a:br>
              <a:rPr lang="en-US" dirty="0"/>
            </a:br>
            <a:r>
              <a:rPr lang="en-US" dirty="0" err="1"/>
              <a:t>g.V.filter</a:t>
            </a:r>
            <a:r>
              <a:rPr lang="en-US" dirty="0"/>
              <a:t>{it.name=='Wine Expert Monthly'}.out().name</a:t>
            </a:r>
            <a:br>
              <a:rPr lang="en-US" dirty="0"/>
            </a:br>
            <a:r>
              <a:rPr lang="en-US" dirty="0"/>
              <a:t>==&gt; Prancing Wolf Ice Wine 2007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6809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93" y="0"/>
            <a:ext cx="6583326" cy="5517744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endParaRPr lang="en-US" sz="2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/>
              <a:t>// 1. Create Students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/>
              <a:t>s1 = </a:t>
            </a:r>
            <a:r>
              <a:rPr lang="en-US" sz="2000" dirty="0" err="1"/>
              <a:t>g.addV</a:t>
            </a:r>
            <a:r>
              <a:rPr lang="en-US" sz="2000" dirty="0"/>
              <a:t>('Student').property('</a:t>
            </a:r>
            <a:r>
              <a:rPr lang="en-US" sz="2000" dirty="0" err="1"/>
              <a:t>name','Alice</a:t>
            </a:r>
            <a:r>
              <a:rPr lang="en-US" sz="2000" dirty="0"/>
              <a:t>').next()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/>
              <a:t>s2 = </a:t>
            </a:r>
            <a:r>
              <a:rPr lang="en-US" sz="2000" dirty="0" err="1"/>
              <a:t>g.addV</a:t>
            </a:r>
            <a:r>
              <a:rPr lang="en-US" sz="2000" dirty="0"/>
              <a:t>('Student').property('</a:t>
            </a:r>
            <a:r>
              <a:rPr lang="en-US" sz="2000" dirty="0" err="1"/>
              <a:t>name','Bob</a:t>
            </a:r>
            <a:r>
              <a:rPr lang="en-US" sz="2000" dirty="0"/>
              <a:t>').next()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/>
              <a:t>// 2. Create Course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/>
              <a:t>c1 = </a:t>
            </a:r>
            <a:r>
              <a:rPr lang="en-US" sz="2000" dirty="0" err="1"/>
              <a:t>g.addV</a:t>
            </a:r>
            <a:r>
              <a:rPr lang="en-US" sz="2000" dirty="0"/>
              <a:t>('Course').property('</a:t>
            </a:r>
            <a:r>
              <a:rPr lang="en-US" sz="2000" dirty="0" err="1"/>
              <a:t>name','DBMS</a:t>
            </a:r>
            <a:r>
              <a:rPr lang="en-US" sz="2000" dirty="0"/>
              <a:t>').next()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/>
              <a:t>// 3. Create Relationship (</a:t>
            </a:r>
            <a:r>
              <a:rPr lang="en-US" sz="2000" dirty="0" err="1"/>
              <a:t>enrolled_in</a:t>
            </a:r>
            <a:r>
              <a:rPr lang="en-US" sz="2000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 err="1"/>
              <a:t>g.V</a:t>
            </a:r>
            <a:r>
              <a:rPr lang="en-US" sz="2000" dirty="0"/>
              <a:t>(s1).</a:t>
            </a:r>
            <a:r>
              <a:rPr lang="en-US" sz="2000" dirty="0" err="1"/>
              <a:t>addE</a:t>
            </a:r>
            <a:r>
              <a:rPr lang="en-US" sz="2000" dirty="0"/>
              <a:t>('</a:t>
            </a:r>
            <a:r>
              <a:rPr lang="en-US" sz="2000" dirty="0" err="1"/>
              <a:t>enrolled_in</a:t>
            </a:r>
            <a:r>
              <a:rPr lang="en-US" sz="2000" dirty="0"/>
              <a:t>').to(</a:t>
            </a:r>
            <a:r>
              <a:rPr lang="en-US" sz="2000" dirty="0" err="1"/>
              <a:t>g.V</a:t>
            </a:r>
            <a:r>
              <a:rPr lang="en-US" sz="2000" dirty="0"/>
              <a:t>(c1))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 err="1"/>
              <a:t>g.V</a:t>
            </a:r>
            <a:r>
              <a:rPr lang="en-US" sz="2000" dirty="0"/>
              <a:t>(s2).</a:t>
            </a:r>
            <a:r>
              <a:rPr lang="en-US" sz="2000" dirty="0" err="1"/>
              <a:t>addE</a:t>
            </a:r>
            <a:r>
              <a:rPr lang="en-US" sz="2000" dirty="0"/>
              <a:t>('</a:t>
            </a:r>
            <a:r>
              <a:rPr lang="en-US" sz="2000" dirty="0" err="1"/>
              <a:t>enrolled_in</a:t>
            </a:r>
            <a:r>
              <a:rPr lang="en-US" sz="2000" dirty="0"/>
              <a:t>').to(</a:t>
            </a:r>
            <a:r>
              <a:rPr lang="en-US" sz="2000" dirty="0" err="1"/>
              <a:t>g.V</a:t>
            </a:r>
            <a:r>
              <a:rPr lang="en-US" sz="2000" dirty="0"/>
              <a:t>(c1))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/>
              <a:t>// 4. Using has() → find student Alice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 err="1"/>
              <a:t>g.V</a:t>
            </a:r>
            <a:r>
              <a:rPr lang="en-US" sz="2000" dirty="0"/>
              <a:t>().has('</a:t>
            </a:r>
            <a:r>
              <a:rPr lang="en-US" sz="2000" dirty="0" err="1"/>
              <a:t>name','Alice</a:t>
            </a:r>
            <a:r>
              <a:rPr lang="en-US" sz="2000" dirty="0"/>
              <a:t>')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6422065" y="1509824"/>
            <a:ext cx="6113721" cy="4081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// 5. Using filter{} → find student Alice</a:t>
            </a:r>
          </a:p>
          <a:p>
            <a:pPr>
              <a:lnSpc>
                <a:spcPct val="120000"/>
              </a:lnSpc>
            </a:pPr>
            <a:r>
              <a:rPr lang="en-US" sz="2000" b="1" dirty="0" err="1"/>
              <a:t>g.V</a:t>
            </a:r>
            <a:r>
              <a:rPr lang="en-US" sz="2000" b="1" dirty="0"/>
              <a:t>().filter{</a:t>
            </a:r>
            <a:r>
              <a:rPr lang="en-US" sz="2000" b="1" dirty="0" err="1"/>
              <a:t>it.get</a:t>
            </a:r>
            <a:r>
              <a:rPr lang="en-US" sz="2000" b="1" dirty="0"/>
              <a:t>().value('name')=='Alice'}</a:t>
            </a:r>
          </a:p>
          <a:p>
            <a:pPr>
              <a:lnSpc>
                <a:spcPct val="120000"/>
              </a:lnSpc>
            </a:pPr>
            <a:endParaRPr lang="en-US" sz="2000" b="1" dirty="0"/>
          </a:p>
          <a:p>
            <a:pPr>
              <a:lnSpc>
                <a:spcPct val="120000"/>
              </a:lnSpc>
            </a:pPr>
            <a:r>
              <a:rPr lang="en-US" sz="2000" b="1" dirty="0"/>
              <a:t>// 6. Find students enrolled in DBMS (using has)</a:t>
            </a:r>
          </a:p>
          <a:p>
            <a:pPr>
              <a:lnSpc>
                <a:spcPct val="120000"/>
              </a:lnSpc>
            </a:pPr>
            <a:r>
              <a:rPr lang="en-US" sz="2000" b="1" dirty="0" err="1"/>
              <a:t>g.V</a:t>
            </a:r>
            <a:r>
              <a:rPr lang="en-US" sz="2000" b="1" dirty="0"/>
              <a:t>().has('</a:t>
            </a:r>
            <a:r>
              <a:rPr lang="en-US" sz="2000" b="1" dirty="0" err="1"/>
              <a:t>name','DBMS</a:t>
            </a:r>
            <a:r>
              <a:rPr lang="en-US" sz="2000" b="1" dirty="0"/>
              <a:t>').in('</a:t>
            </a:r>
            <a:r>
              <a:rPr lang="en-US" sz="2000" b="1" dirty="0" err="1"/>
              <a:t>enrolled_in</a:t>
            </a:r>
            <a:r>
              <a:rPr lang="en-US" sz="2000" b="1" dirty="0"/>
              <a:t>').values('name')</a:t>
            </a:r>
          </a:p>
          <a:p>
            <a:pPr>
              <a:lnSpc>
                <a:spcPct val="120000"/>
              </a:lnSpc>
            </a:pPr>
            <a:endParaRPr lang="en-US" sz="2000" b="1" dirty="0"/>
          </a:p>
          <a:p>
            <a:pPr>
              <a:lnSpc>
                <a:spcPct val="120000"/>
              </a:lnSpc>
            </a:pPr>
            <a:r>
              <a:rPr lang="en-US" sz="2000" b="1" dirty="0"/>
              <a:t>// 7. Same using filter{}</a:t>
            </a:r>
          </a:p>
          <a:p>
            <a:pPr>
              <a:lnSpc>
                <a:spcPct val="120000"/>
              </a:lnSpc>
            </a:pPr>
            <a:r>
              <a:rPr lang="en-US" sz="2000" b="1" dirty="0" err="1"/>
              <a:t>g.V</a:t>
            </a:r>
            <a:r>
              <a:rPr lang="en-US" sz="2000" b="1" dirty="0"/>
              <a:t>().filter{</a:t>
            </a:r>
            <a:r>
              <a:rPr lang="en-US" sz="2000" b="1" dirty="0" err="1"/>
              <a:t>it.get</a:t>
            </a:r>
            <a:r>
              <a:rPr lang="en-US" sz="2000" b="1" dirty="0"/>
              <a:t>().value('name')=='DBMS'}</a:t>
            </a:r>
          </a:p>
          <a:p>
            <a:pPr>
              <a:lnSpc>
                <a:spcPct val="120000"/>
              </a:lnSpc>
            </a:pPr>
            <a:r>
              <a:rPr lang="en-US" sz="2000" b="1" dirty="0"/>
              <a:t>     .in('</a:t>
            </a:r>
            <a:r>
              <a:rPr lang="en-US" sz="2000" b="1" dirty="0" err="1"/>
              <a:t>enrolled_in</a:t>
            </a:r>
            <a:r>
              <a:rPr lang="en-US" sz="2000" b="1" dirty="0"/>
              <a:t>').values('name')</a:t>
            </a:r>
          </a:p>
          <a:p>
            <a:pPr>
              <a:lnSpc>
                <a:spcPct val="120000"/>
              </a:lnSpc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4185739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3647" y="287079"/>
            <a:ext cx="8984511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g.addV</a:t>
            </a:r>
            <a:r>
              <a:rPr lang="en-US" dirty="0"/>
              <a:t>('Student').property('</a:t>
            </a:r>
            <a:r>
              <a:rPr lang="en-US" dirty="0" err="1"/>
              <a:t>name','Alice</a:t>
            </a:r>
            <a:r>
              <a:rPr lang="en-US" dirty="0"/>
              <a:t>')</a:t>
            </a:r>
          </a:p>
          <a:p>
            <a:endParaRPr lang="en-US" dirty="0"/>
          </a:p>
          <a:p>
            <a:r>
              <a:rPr lang="en-US" dirty="0" err="1"/>
              <a:t>g.V</a:t>
            </a:r>
            <a:r>
              <a:rPr lang="en-US" dirty="0"/>
              <a:t>().has('</a:t>
            </a:r>
            <a:r>
              <a:rPr lang="en-US" dirty="0" err="1"/>
              <a:t>name','Alice</a:t>
            </a:r>
            <a:r>
              <a:rPr lang="en-US" dirty="0"/>
              <a:t>').</a:t>
            </a:r>
          </a:p>
          <a:p>
            <a:r>
              <a:rPr lang="en-US" dirty="0"/>
              <a:t>  </a:t>
            </a:r>
            <a:r>
              <a:rPr lang="en-US" dirty="0" err="1"/>
              <a:t>addE</a:t>
            </a:r>
            <a:r>
              <a:rPr lang="en-US" dirty="0"/>
              <a:t>('</a:t>
            </a:r>
            <a:r>
              <a:rPr lang="en-US" dirty="0" err="1"/>
              <a:t>enrolled_in</a:t>
            </a:r>
            <a:r>
              <a:rPr lang="en-US" dirty="0"/>
              <a:t>').</a:t>
            </a:r>
          </a:p>
          <a:p>
            <a:r>
              <a:rPr lang="en-US" dirty="0"/>
              <a:t>  to(</a:t>
            </a:r>
            <a:r>
              <a:rPr lang="en-US" dirty="0" err="1"/>
              <a:t>g.V</a:t>
            </a:r>
            <a:r>
              <a:rPr lang="en-US" dirty="0"/>
              <a:t>().has('</a:t>
            </a:r>
            <a:r>
              <a:rPr lang="en-US" dirty="0" err="1"/>
              <a:t>name','DBMS</a:t>
            </a:r>
            <a:r>
              <a:rPr lang="en-US" dirty="0"/>
              <a:t>'))</a:t>
            </a:r>
          </a:p>
          <a:p>
            <a:endParaRPr lang="en-US" dirty="0"/>
          </a:p>
          <a:p>
            <a:r>
              <a:rPr lang="en-US" dirty="0" err="1"/>
              <a:t>g.V</a:t>
            </a:r>
            <a:r>
              <a:rPr lang="en-US" dirty="0"/>
              <a:t>().has('</a:t>
            </a:r>
            <a:r>
              <a:rPr lang="en-US" dirty="0" err="1"/>
              <a:t>name','Alice</a:t>
            </a:r>
            <a:r>
              <a:rPr lang="en-US" dirty="0"/>
              <a:t>')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Alice --</a:t>
            </a:r>
            <a:r>
              <a:rPr lang="en-US" dirty="0" err="1"/>
              <a:t>enrolled_in</a:t>
            </a:r>
            <a:r>
              <a:rPr lang="en-US" dirty="0"/>
              <a:t>--&gt; DBMS</a:t>
            </a:r>
          </a:p>
          <a:p>
            <a:r>
              <a:rPr lang="en-US" dirty="0"/>
              <a:t>Bob   --</a:t>
            </a:r>
            <a:r>
              <a:rPr lang="en-US" dirty="0" err="1"/>
              <a:t>enrolled_in</a:t>
            </a:r>
            <a:r>
              <a:rPr lang="en-US" dirty="0"/>
              <a:t>--&gt; AI</a:t>
            </a:r>
          </a:p>
          <a:p>
            <a:endParaRPr lang="en-US" dirty="0"/>
          </a:p>
          <a:p>
            <a:r>
              <a:rPr lang="en-US" b="1" dirty="0"/>
              <a:t>Which course is Alice studying?</a:t>
            </a:r>
          </a:p>
          <a:p>
            <a:endParaRPr lang="en-US" dirty="0"/>
          </a:p>
          <a:p>
            <a:r>
              <a:rPr lang="en-US" dirty="0" err="1"/>
              <a:t>g.V</a:t>
            </a:r>
            <a:r>
              <a:rPr lang="en-US" dirty="0"/>
              <a:t>().has('</a:t>
            </a:r>
            <a:r>
              <a:rPr lang="en-US" dirty="0" err="1"/>
              <a:t>name','Alice</a:t>
            </a:r>
            <a:r>
              <a:rPr lang="en-US" dirty="0"/>
              <a:t>')</a:t>
            </a:r>
          </a:p>
          <a:p>
            <a:r>
              <a:rPr lang="en-US" dirty="0"/>
              <a:t>     .out('</a:t>
            </a:r>
            <a:r>
              <a:rPr lang="en-US" dirty="0" err="1"/>
              <a:t>enrolled_in</a:t>
            </a:r>
            <a:r>
              <a:rPr lang="en-US" dirty="0"/>
              <a:t>')</a:t>
            </a:r>
          </a:p>
          <a:p>
            <a:r>
              <a:rPr lang="en-US" dirty="0"/>
              <a:t>     .values('name')</a:t>
            </a:r>
          </a:p>
          <a:p>
            <a:endParaRPr lang="en-US" dirty="0"/>
          </a:p>
          <a:p>
            <a:r>
              <a:rPr lang="en-US" b="1" dirty="0"/>
              <a:t>Who are studying DBMS?</a:t>
            </a:r>
          </a:p>
          <a:p>
            <a:endParaRPr lang="en-US" dirty="0"/>
          </a:p>
          <a:p>
            <a:r>
              <a:rPr lang="en-US" dirty="0" err="1"/>
              <a:t>g.V</a:t>
            </a:r>
            <a:r>
              <a:rPr lang="en-US" dirty="0"/>
              <a:t>().has('</a:t>
            </a:r>
            <a:r>
              <a:rPr lang="en-US" dirty="0" err="1"/>
              <a:t>name','DBMS</a:t>
            </a:r>
            <a:r>
              <a:rPr lang="en-US" dirty="0"/>
              <a:t>')</a:t>
            </a:r>
          </a:p>
          <a:p>
            <a:r>
              <a:rPr lang="en-US" dirty="0"/>
              <a:t>     .in('</a:t>
            </a:r>
            <a:r>
              <a:rPr lang="en-US" dirty="0" err="1"/>
              <a:t>enrolled_in</a:t>
            </a:r>
            <a:r>
              <a:rPr lang="en-US" dirty="0"/>
              <a:t>')</a:t>
            </a:r>
          </a:p>
          <a:p>
            <a:r>
              <a:rPr lang="en-US" dirty="0"/>
              <a:t>     .values('name')</a:t>
            </a:r>
          </a:p>
        </p:txBody>
      </p:sp>
    </p:spTree>
    <p:extLst>
      <p:ext uri="{BB962C8B-B14F-4D97-AF65-F5344CB8AC3E}">
        <p14:creationId xmlns:p14="http://schemas.microsoft.com/office/powerpoint/2010/main" val="28847413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35665" y="552893"/>
            <a:ext cx="897387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Alice --</a:t>
            </a:r>
            <a:r>
              <a:rPr lang="en-US" sz="2400" dirty="0" err="1"/>
              <a:t>enrolled_in</a:t>
            </a:r>
            <a:r>
              <a:rPr lang="en-US" sz="2400" dirty="0"/>
              <a:t>--&gt; DBMS</a:t>
            </a:r>
          </a:p>
          <a:p>
            <a:r>
              <a:rPr lang="en-US" sz="2400" dirty="0"/>
              <a:t>Bob   --</a:t>
            </a:r>
            <a:r>
              <a:rPr lang="en-US" sz="2400" dirty="0" err="1"/>
              <a:t>enrolled_in</a:t>
            </a:r>
            <a:r>
              <a:rPr lang="en-US" sz="2400" dirty="0"/>
              <a:t>--&gt; AI</a:t>
            </a:r>
          </a:p>
          <a:p>
            <a:r>
              <a:rPr lang="en-US" sz="2400" dirty="0"/>
              <a:t>Charlie --</a:t>
            </a:r>
            <a:r>
              <a:rPr lang="en-US" sz="2400" dirty="0" err="1"/>
              <a:t>enrolled_in</a:t>
            </a:r>
            <a:r>
              <a:rPr lang="en-US" sz="2400" dirty="0"/>
              <a:t>--&gt; DBMS</a:t>
            </a:r>
          </a:p>
          <a:p>
            <a:endParaRPr lang="en-US" sz="2400" dirty="0"/>
          </a:p>
          <a:p>
            <a:r>
              <a:rPr lang="en-US" sz="2400" b="1" i="1" dirty="0"/>
              <a:t>Find students whose name is Alice”</a:t>
            </a:r>
            <a:endParaRPr lang="en-US" sz="2400" b="1" dirty="0"/>
          </a:p>
          <a:p>
            <a:endParaRPr lang="en-US" sz="2400" b="1" dirty="0"/>
          </a:p>
          <a:p>
            <a:r>
              <a:rPr lang="en-US" sz="2400" b="1" dirty="0" err="1"/>
              <a:t>g.V</a:t>
            </a:r>
            <a:r>
              <a:rPr lang="en-US" sz="2400" b="1" dirty="0"/>
              <a:t>().filter{</a:t>
            </a:r>
            <a:r>
              <a:rPr lang="en-US" sz="2400" b="1" dirty="0" err="1"/>
              <a:t>it.get</a:t>
            </a:r>
            <a:r>
              <a:rPr lang="en-US" sz="2400" b="1" dirty="0"/>
              <a:t>().value('name') == 'Alice'}</a:t>
            </a:r>
          </a:p>
        </p:txBody>
      </p:sp>
    </p:spTree>
    <p:extLst>
      <p:ext uri="{BB962C8B-B14F-4D97-AF65-F5344CB8AC3E}">
        <p14:creationId xmlns:p14="http://schemas.microsoft.com/office/powerpoint/2010/main" val="5482578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4791" y="255181"/>
            <a:ext cx="8484781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Alice --</a:t>
            </a:r>
            <a:r>
              <a:rPr lang="en-US" dirty="0" err="1"/>
              <a:t>enrolled_in</a:t>
            </a:r>
            <a:r>
              <a:rPr lang="en-US" dirty="0"/>
              <a:t>--&gt; DBMS</a:t>
            </a:r>
          </a:p>
          <a:p>
            <a:r>
              <a:rPr lang="en-US" dirty="0"/>
              <a:t>Bob   --</a:t>
            </a:r>
            <a:r>
              <a:rPr lang="en-US" dirty="0" err="1"/>
              <a:t>enrolled_in</a:t>
            </a:r>
            <a:r>
              <a:rPr lang="en-US" dirty="0"/>
              <a:t>--&gt; AI</a:t>
            </a:r>
          </a:p>
          <a:p>
            <a:endParaRPr lang="en-US" dirty="0"/>
          </a:p>
          <a:p>
            <a:r>
              <a:rPr lang="en-US" dirty="0" err="1"/>
              <a:t>g.E</a:t>
            </a:r>
            <a:r>
              <a:rPr lang="en-US" dirty="0"/>
              <a:t>()</a:t>
            </a:r>
          </a:p>
          <a:p>
            <a:r>
              <a:rPr lang="it-IT" dirty="0"/>
              <a:t>e[1][Alice-enrolled_in-&gt;DBMS]</a:t>
            </a:r>
            <a:br>
              <a:rPr lang="it-IT" dirty="0"/>
            </a:br>
            <a:r>
              <a:rPr lang="it-IT" dirty="0"/>
              <a:t>e[2][Bob-enrolled_in-&gt;AI]</a:t>
            </a:r>
          </a:p>
          <a:p>
            <a:endParaRPr lang="en-US" sz="2000" b="1" dirty="0"/>
          </a:p>
          <a:p>
            <a:r>
              <a:rPr lang="en-US" sz="2000" b="1" dirty="0"/>
              <a:t>What relationships does Alice have</a:t>
            </a:r>
          </a:p>
          <a:p>
            <a:endParaRPr lang="en-US" sz="2000" b="1" dirty="0"/>
          </a:p>
          <a:p>
            <a:r>
              <a:rPr lang="en-US" dirty="0" err="1"/>
              <a:t>g.V</a:t>
            </a:r>
            <a:r>
              <a:rPr lang="en-US" dirty="0"/>
              <a:t>().has('</a:t>
            </a:r>
            <a:r>
              <a:rPr lang="en-US" dirty="0" err="1"/>
              <a:t>name','Alice</a:t>
            </a:r>
            <a:r>
              <a:rPr lang="en-US" sz="2400" dirty="0"/>
              <a:t>').</a:t>
            </a:r>
            <a:r>
              <a:rPr lang="en-US" sz="2400" dirty="0" err="1"/>
              <a:t>outE</a:t>
            </a:r>
            <a:r>
              <a:rPr lang="en-US" sz="2400" dirty="0"/>
              <a:t>()</a:t>
            </a:r>
            <a:endParaRPr lang="en-US" dirty="0"/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full relationship of Alice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g.V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().has('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name','Alice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.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.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.values('name’)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g.V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().has('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name','Alice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.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enrolled_in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.values('since')</a:t>
            </a:r>
          </a:p>
        </p:txBody>
      </p:sp>
    </p:spTree>
    <p:extLst>
      <p:ext uri="{BB962C8B-B14F-4D97-AF65-F5344CB8AC3E}">
        <p14:creationId xmlns:p14="http://schemas.microsoft.com/office/powerpoint/2010/main" val="21482170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1451" y="1088571"/>
            <a:ext cx="64878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Alice --</a:t>
            </a:r>
            <a:r>
              <a:rPr lang="en-US" sz="3600" b="1" dirty="0" err="1"/>
              <a:t>enrolled_in</a:t>
            </a:r>
            <a:r>
              <a:rPr lang="en-US" sz="3600" b="1" dirty="0"/>
              <a:t>--&gt; DBMS</a:t>
            </a:r>
          </a:p>
          <a:p>
            <a:r>
              <a:rPr lang="en-US" sz="3600" b="1" dirty="0"/>
              <a:t>Bob   --</a:t>
            </a:r>
            <a:r>
              <a:rPr lang="en-US" sz="3600" b="1" dirty="0" err="1"/>
              <a:t>enrolled_in</a:t>
            </a:r>
            <a:r>
              <a:rPr lang="en-US" sz="3600" b="1" dirty="0"/>
              <a:t>--&gt; AI</a:t>
            </a:r>
          </a:p>
          <a:p>
            <a:endParaRPr lang="en-US" sz="3600" b="1" dirty="0"/>
          </a:p>
          <a:p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3420967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Gremlin, every query is a </a:t>
            </a:r>
            <a:r>
              <a:rPr lang="en-US" b="1" dirty="0"/>
              <a:t>chain of steps (pipes)</a:t>
            </a:r>
            <a:r>
              <a:rPr lang="en-US" dirty="0"/>
              <a:t>.</a:t>
            </a:r>
          </a:p>
          <a:p>
            <a:r>
              <a:rPr lang="en-US" dirty="0"/>
              <a:t>Each step: </a:t>
            </a:r>
          </a:p>
          <a:p>
            <a:pPr lvl="1"/>
            <a:r>
              <a:rPr lang="en-US" dirty="0"/>
              <a:t>Takes input </a:t>
            </a:r>
          </a:p>
          <a:p>
            <a:pPr lvl="1"/>
            <a:r>
              <a:rPr lang="en-US" dirty="0"/>
              <a:t>Processes it </a:t>
            </a:r>
          </a:p>
          <a:p>
            <a:pPr lvl="1"/>
            <a:r>
              <a:rPr lang="en-US" dirty="0"/>
              <a:t>Passes output to next step </a:t>
            </a:r>
          </a:p>
          <a:p>
            <a:pPr marL="0" indent="0">
              <a:buNone/>
            </a:pPr>
            <a:r>
              <a:rPr lang="en-US" dirty="0"/>
              <a:t> This chain is called a </a:t>
            </a:r>
            <a:r>
              <a:rPr lang="en-US" b="1" dirty="0"/>
              <a:t>Traversal</a:t>
            </a:r>
            <a:r>
              <a:rPr lang="en-US" dirty="0"/>
              <a:t> (modern term instead of “pipeline”)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52DC3C-6CB4-4355-8A09-9FB5DB0C4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520925"/>
            <a:ext cx="8773749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7134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4912" y="361507"/>
            <a:ext cx="7899990" cy="3338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PIPE EXAMPLE</a:t>
            </a:r>
          </a:p>
          <a:p>
            <a:pPr>
              <a:lnSpc>
                <a:spcPct val="200000"/>
              </a:lnSpc>
            </a:pPr>
            <a:r>
              <a:rPr lang="en-US" b="1" dirty="0" err="1"/>
              <a:t>g.V</a:t>
            </a:r>
            <a:r>
              <a:rPr lang="en-US" b="1" dirty="0"/>
              <a:t>().has('</a:t>
            </a:r>
            <a:r>
              <a:rPr lang="en-US" b="1" dirty="0" err="1"/>
              <a:t>name','Ice</a:t>
            </a:r>
            <a:r>
              <a:rPr lang="en-US" b="1" dirty="0"/>
              <a:t> Wine')</a:t>
            </a:r>
          </a:p>
          <a:p>
            <a:pPr>
              <a:lnSpc>
                <a:spcPct val="200000"/>
              </a:lnSpc>
            </a:pPr>
            <a:r>
              <a:rPr lang="en-US" b="1" dirty="0"/>
              <a:t>  .out('</a:t>
            </a:r>
            <a:r>
              <a:rPr lang="en-US" b="1" dirty="0" err="1"/>
              <a:t>grape_type</a:t>
            </a:r>
            <a:r>
              <a:rPr lang="en-US" b="1" dirty="0"/>
              <a:t>')</a:t>
            </a:r>
          </a:p>
          <a:p>
            <a:pPr>
              <a:lnSpc>
                <a:spcPct val="200000"/>
              </a:lnSpc>
            </a:pPr>
            <a:r>
              <a:rPr lang="en-US" b="1" dirty="0"/>
              <a:t>  .in('</a:t>
            </a:r>
            <a:r>
              <a:rPr lang="en-US" b="1" dirty="0" err="1"/>
              <a:t>grape_type</a:t>
            </a:r>
            <a:r>
              <a:rPr lang="en-US" b="1" dirty="0"/>
              <a:t>')</a:t>
            </a:r>
          </a:p>
          <a:p>
            <a:pPr>
              <a:lnSpc>
                <a:spcPct val="200000"/>
              </a:lnSpc>
            </a:pPr>
            <a:r>
              <a:rPr lang="en-US" b="1" dirty="0"/>
              <a:t>  .where(</a:t>
            </a:r>
            <a:r>
              <a:rPr lang="en-US" b="1" dirty="0" err="1"/>
              <a:t>neq</a:t>
            </a:r>
            <a:r>
              <a:rPr lang="en-US" b="1" dirty="0"/>
              <a:t>('Ice Wine'))</a:t>
            </a:r>
          </a:p>
          <a:p>
            <a:pPr>
              <a:lnSpc>
                <a:spcPct val="200000"/>
              </a:lnSpc>
            </a:pPr>
            <a:r>
              <a:rPr lang="en-US" b="1" dirty="0"/>
              <a:t>  .values('name')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6E9649-9EAB-440C-9144-B1DFF59F6C0F}"/>
              </a:ext>
            </a:extLst>
          </p:cNvPr>
          <p:cNvSpPr txBox="1"/>
          <p:nvPr/>
        </p:nvSpPr>
        <p:spPr>
          <a:xfrm>
            <a:off x="5667375" y="1371600"/>
            <a:ext cx="63246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 err="1"/>
              <a:t>g.V</a:t>
            </a:r>
            <a:r>
              <a:rPr lang="en-US" dirty="0"/>
              <a:t>() → all vertices</a:t>
            </a:r>
          </a:p>
          <a:p>
            <a:pPr>
              <a:lnSpc>
                <a:spcPct val="200000"/>
              </a:lnSpc>
            </a:pPr>
            <a:r>
              <a:rPr lang="en-US" dirty="0"/>
              <a:t>has() → filter Ice Wine</a:t>
            </a:r>
          </a:p>
          <a:p>
            <a:pPr>
              <a:lnSpc>
                <a:spcPct val="200000"/>
              </a:lnSpc>
            </a:pPr>
            <a:r>
              <a:rPr lang="en-US" dirty="0"/>
              <a:t>out('</a:t>
            </a:r>
            <a:r>
              <a:rPr lang="en-US" dirty="0" err="1"/>
              <a:t>grape_type</a:t>
            </a:r>
            <a:r>
              <a:rPr lang="en-US" dirty="0"/>
              <a:t>') → go to grape</a:t>
            </a:r>
          </a:p>
          <a:p>
            <a:pPr>
              <a:lnSpc>
                <a:spcPct val="200000"/>
              </a:lnSpc>
            </a:pPr>
            <a:r>
              <a:rPr lang="en-US" dirty="0"/>
              <a:t>in('</a:t>
            </a:r>
            <a:r>
              <a:rPr lang="en-US" dirty="0" err="1"/>
              <a:t>grape_type</a:t>
            </a:r>
            <a:r>
              <a:rPr lang="en-US" dirty="0"/>
              <a:t>') → find other wines</a:t>
            </a:r>
          </a:p>
          <a:p>
            <a:pPr>
              <a:lnSpc>
                <a:spcPct val="200000"/>
              </a:lnSpc>
            </a:pPr>
            <a:r>
              <a:rPr lang="en-US" dirty="0"/>
              <a:t>where() → remove original wine</a:t>
            </a:r>
          </a:p>
          <a:p>
            <a:pPr>
              <a:lnSpc>
                <a:spcPct val="200000"/>
              </a:lnSpc>
            </a:pPr>
            <a:r>
              <a:rPr lang="en-US" dirty="0"/>
              <a:t>values('name') → get names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58384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A251B1-7DCA-4918-B5C5-724CAE861297}"/>
              </a:ext>
            </a:extLst>
          </p:cNvPr>
          <p:cNvSpPr txBox="1"/>
          <p:nvPr/>
        </p:nvSpPr>
        <p:spPr>
          <a:xfrm>
            <a:off x="942975" y="666750"/>
            <a:ext cx="8629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vs Vertex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68163D-BA24-463E-A633-8937F610B04A}"/>
              </a:ext>
            </a:extLst>
          </p:cNvPr>
          <p:cNvSpPr txBox="1"/>
          <p:nvPr/>
        </p:nvSpPr>
        <p:spPr>
          <a:xfrm>
            <a:off x="800100" y="1371600"/>
            <a:ext cx="959167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  <a:endParaRPr lang="en-IN" dirty="0"/>
          </a:p>
          <a:p>
            <a:r>
              <a:rPr lang="en-IN" dirty="0" err="1"/>
              <a:t>g.V</a:t>
            </a:r>
            <a:r>
              <a:rPr lang="en-IN" dirty="0"/>
              <a:t>().filter{it.name=='Alice’}</a:t>
            </a:r>
          </a:p>
          <a:p>
            <a:endParaRPr lang="en-IN" dirty="0"/>
          </a:p>
          <a:p>
            <a:r>
              <a:rPr lang="en-US" dirty="0"/>
              <a:t>Output: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Not a single node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is a </a:t>
            </a:r>
            <a:r>
              <a:rPr lang="en-US" b="1" dirty="0"/>
              <a:t>pipeline (list/stream of results)</a:t>
            </a:r>
            <a:endParaRPr lang="en-US" dirty="0"/>
          </a:p>
          <a:p>
            <a:endParaRPr lang="en-IN" dirty="0"/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Vertex</a:t>
            </a:r>
            <a:endParaRPr lang="en-IN" dirty="0"/>
          </a:p>
          <a:p>
            <a:r>
              <a:rPr lang="en-IN" dirty="0" err="1"/>
              <a:t>g.V</a:t>
            </a:r>
            <a:r>
              <a:rPr lang="en-IN" dirty="0"/>
              <a:t>().filter{it.name=='Alice'}.next()</a:t>
            </a:r>
          </a:p>
          <a:p>
            <a:r>
              <a:rPr lang="en-IN" dirty="0"/>
              <a:t>One </a:t>
            </a:r>
            <a:r>
              <a:rPr lang="en-IN" b="1" dirty="0"/>
              <a:t>actual vertex (Alice)</a:t>
            </a:r>
          </a:p>
          <a:p>
            <a:endParaRPr lang="en-IN" b="1" dirty="0"/>
          </a:p>
          <a:p>
            <a:r>
              <a:rPr lang="en-US" dirty="0"/>
              <a:t>Without .next() → list (pipeline)</a:t>
            </a:r>
          </a:p>
          <a:p>
            <a:r>
              <a:rPr lang="en-US" dirty="0"/>
              <a:t>With .next() → single element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874770-FFAE-42AB-9B23-D6E03C448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0724" y="1566699"/>
            <a:ext cx="6553575" cy="284685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B26BE67-ECE1-435F-BDE3-998E692216BA}"/>
              </a:ext>
            </a:extLst>
          </p:cNvPr>
          <p:cNvSpPr txBox="1"/>
          <p:nvPr/>
        </p:nvSpPr>
        <p:spPr>
          <a:xfrm>
            <a:off x="1209674" y="5291301"/>
            <a:ext cx="77057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Pipeline (Traversal)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flow / collection of results (like a list)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Vertex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single node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next() = takes one element from pipeline</a:t>
            </a:r>
          </a:p>
        </p:txBody>
      </p:sp>
    </p:spTree>
    <p:extLst>
      <p:ext uri="{BB962C8B-B14F-4D97-AF65-F5344CB8AC3E}">
        <p14:creationId xmlns:p14="http://schemas.microsoft.com/office/powerpoint/2010/main" val="12891975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813444-63D7-45F5-BB02-DC20CAF59E69}"/>
              </a:ext>
            </a:extLst>
          </p:cNvPr>
          <p:cNvSpPr txBox="1"/>
          <p:nvPr/>
        </p:nvSpPr>
        <p:spPr>
          <a:xfrm>
            <a:off x="676275" y="1057275"/>
            <a:ext cx="8743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Gremlin?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82EE2A-D44F-42FD-8A7D-ECB0A7353E9E}"/>
              </a:ext>
            </a:extLst>
          </p:cNvPr>
          <p:cNvSpPr txBox="1"/>
          <p:nvPr/>
        </p:nvSpPr>
        <p:spPr>
          <a:xfrm>
            <a:off x="676275" y="1706463"/>
            <a:ext cx="88582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pipe</a:t>
            </a:r>
            <a:r>
              <a:rPr lang="en-US" dirty="0"/>
              <a:t> is just a </a:t>
            </a:r>
            <a:r>
              <a:rPr lang="en-US" b="1" dirty="0"/>
              <a:t>step in a query</a:t>
            </a:r>
            <a:r>
              <a:rPr lang="en-US" dirty="0"/>
              <a:t> that processes data and passes it to the next step.</a:t>
            </a:r>
          </a:p>
          <a:p>
            <a:endParaRPr lang="en-US" dirty="0"/>
          </a:p>
          <a:p>
            <a:r>
              <a:rPr lang="en-US" dirty="0" err="1"/>
              <a:t>g.V</a:t>
            </a:r>
            <a:r>
              <a:rPr lang="en-US" dirty="0"/>
              <a:t>().has('</a:t>
            </a:r>
            <a:r>
              <a:rPr lang="en-US" dirty="0" err="1"/>
              <a:t>name','Alice</a:t>
            </a:r>
            <a:r>
              <a:rPr lang="en-US" dirty="0"/>
              <a:t>').out('</a:t>
            </a:r>
            <a:r>
              <a:rPr lang="en-US" dirty="0" err="1"/>
              <a:t>enrolled_in</a:t>
            </a:r>
            <a:r>
              <a:rPr lang="en-US" dirty="0"/>
              <a:t>').values('name’)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D7FAA8-1F0F-4C63-B061-B1E8BCB399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5774355"/>
              </p:ext>
            </p:extLst>
          </p:nvPr>
        </p:nvGraphicFramePr>
        <p:xfrm>
          <a:off x="809625" y="3926820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40919292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919139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5653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 err="1"/>
                        <a:t>g.V</a:t>
                      </a:r>
                      <a:r>
                        <a:rPr lang="en-IN" dirty="0"/>
                        <a:t>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get all vertices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4797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has('name','Alice')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filter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4530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out('</a:t>
                      </a:r>
                      <a:r>
                        <a:rPr lang="en-IN" dirty="0" err="1"/>
                        <a:t>enrolled_in</a:t>
                      </a:r>
                      <a:r>
                        <a:rPr lang="en-IN" dirty="0"/>
                        <a:t>')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move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0406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values('name')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display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565667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DB7E67F-119C-4C34-B4CA-A5F44B1A49FD}"/>
              </a:ext>
            </a:extLst>
          </p:cNvPr>
          <p:cNvSpPr txBox="1"/>
          <p:nvPr/>
        </p:nvSpPr>
        <p:spPr>
          <a:xfrm>
            <a:off x="676275" y="3317706"/>
            <a:ext cx="1819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Pipes/Steps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17C907-22D2-4EA5-8C08-B47E9F685944}"/>
              </a:ext>
            </a:extLst>
          </p:cNvPr>
          <p:cNvSpPr txBox="1"/>
          <p:nvPr/>
        </p:nvSpPr>
        <p:spPr>
          <a:xfrm>
            <a:off x="1038225" y="6019800"/>
            <a:ext cx="567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All together = </a:t>
            </a:r>
            <a:r>
              <a:rPr lang="en-IN" b="1" dirty="0"/>
              <a:t>Pipeline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63DD11-0166-47B6-8323-563224E96EA4}"/>
              </a:ext>
            </a:extLst>
          </p:cNvPr>
          <p:cNvSpPr txBox="1"/>
          <p:nvPr/>
        </p:nvSpPr>
        <p:spPr>
          <a:xfrm>
            <a:off x="4048125" y="5881588"/>
            <a:ext cx="60483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Pipe = single operation</a:t>
            </a:r>
            <a:br>
              <a:rPr lang="en-US" dirty="0"/>
            </a:br>
            <a:r>
              <a:rPr lang="en-US" dirty="0"/>
              <a:t>Pipeline = sequence of operations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12456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03406-C91F-4FBC-A0B8-A12F09F1D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/>
              <a:t>Schemaless</a:t>
            </a:r>
            <a:r>
              <a:rPr lang="en-IN" b="1" dirty="0"/>
              <a:t>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F8A54-6B59-4E25-B7DD-0A0BC16FD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Adding new types of nodes and relationships </a:t>
            </a:r>
            <a:r>
              <a:rPr lang="en-US" dirty="0"/>
              <a:t>WITHOUT changing any schema (structure)</a:t>
            </a:r>
          </a:p>
          <a:p>
            <a:endParaRPr lang="en-US" dirty="0"/>
          </a:p>
          <a:p>
            <a:r>
              <a:rPr lang="en-US" b="1" dirty="0"/>
              <a:t>Alice and her preference</a:t>
            </a:r>
          </a:p>
          <a:p>
            <a:pPr marL="0" indent="0">
              <a:buNone/>
            </a:pPr>
            <a:r>
              <a:rPr lang="en-IN" dirty="0" err="1"/>
              <a:t>alice</a:t>
            </a:r>
            <a:r>
              <a:rPr lang="en-IN" dirty="0"/>
              <a:t> = </a:t>
            </a:r>
            <a:r>
              <a:rPr lang="en-IN" dirty="0" err="1"/>
              <a:t>g.addV</a:t>
            </a:r>
            <a:r>
              <a:rPr lang="en-IN" dirty="0"/>
              <a:t>('Person').property('</a:t>
            </a:r>
            <a:r>
              <a:rPr lang="en-IN" dirty="0" err="1"/>
              <a:t>name','Alice</a:t>
            </a:r>
            <a:r>
              <a:rPr lang="en-IN" dirty="0"/>
              <a:t>')</a:t>
            </a:r>
          </a:p>
          <a:p>
            <a:pPr marL="0" indent="0">
              <a:buNone/>
            </a:pPr>
            <a:r>
              <a:rPr lang="en-IN" dirty="0" err="1"/>
              <a:t>ice_wine</a:t>
            </a:r>
            <a:r>
              <a:rPr lang="en-IN" dirty="0"/>
              <a:t> = </a:t>
            </a:r>
            <a:r>
              <a:rPr lang="en-IN" dirty="0" err="1"/>
              <a:t>g.V</a:t>
            </a:r>
            <a:r>
              <a:rPr lang="en-IN" dirty="0"/>
              <a:t>().has('</a:t>
            </a:r>
            <a:r>
              <a:rPr lang="en-IN" dirty="0" err="1"/>
              <a:t>name','Prancing</a:t>
            </a:r>
            <a:r>
              <a:rPr lang="en-IN" dirty="0"/>
              <a:t> Wolf Ice Wine 2007').next()</a:t>
            </a:r>
          </a:p>
          <a:p>
            <a:pPr marL="0" indent="0">
              <a:buNone/>
            </a:pPr>
            <a:r>
              <a:rPr lang="en-IN" dirty="0" err="1"/>
              <a:t>g.V</a:t>
            </a:r>
            <a:r>
              <a:rPr lang="en-IN" dirty="0"/>
              <a:t>(</a:t>
            </a:r>
            <a:r>
              <a:rPr lang="en-IN" dirty="0" err="1"/>
              <a:t>alice</a:t>
            </a:r>
            <a:r>
              <a:rPr lang="en-IN" dirty="0"/>
              <a:t>).</a:t>
            </a:r>
            <a:r>
              <a:rPr lang="en-IN" dirty="0" err="1"/>
              <a:t>addE</a:t>
            </a:r>
            <a:r>
              <a:rPr lang="en-IN" dirty="0"/>
              <a:t>('likes').to(</a:t>
            </a:r>
            <a:r>
              <a:rPr lang="en-IN" dirty="0" err="1"/>
              <a:t>ice_wine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728993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03406-C91F-4FBC-A0B8-A12F09F1D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/>
              <a:t>Schemaless</a:t>
            </a:r>
            <a:r>
              <a:rPr lang="en-IN" b="1" dirty="0"/>
              <a:t>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F8A54-6B59-4E25-B7DD-0A0BC16FD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Adding new types of nodes and relationships </a:t>
            </a:r>
            <a:r>
              <a:rPr lang="en-US" dirty="0"/>
              <a:t>WITHOUT changing any schema (structure)</a:t>
            </a:r>
          </a:p>
          <a:p>
            <a:endParaRPr lang="en-US" dirty="0"/>
          </a:p>
          <a:p>
            <a:r>
              <a:rPr lang="en-US" b="1" dirty="0"/>
              <a:t>Tom and his preferences</a:t>
            </a:r>
          </a:p>
          <a:p>
            <a:pPr marL="0" indent="0">
              <a:buNone/>
            </a:pPr>
            <a:r>
              <a:rPr lang="en-IN" dirty="0"/>
              <a:t>tom = </a:t>
            </a:r>
            <a:r>
              <a:rPr lang="en-IN" dirty="0" err="1"/>
              <a:t>g.addV</a:t>
            </a:r>
            <a:r>
              <a:rPr lang="en-IN" dirty="0"/>
              <a:t>('Person').property('</a:t>
            </a:r>
            <a:r>
              <a:rPr lang="en-IN" dirty="0" err="1"/>
              <a:t>name','Tom</a:t>
            </a:r>
            <a:r>
              <a:rPr lang="en-IN" dirty="0"/>
              <a:t>')</a:t>
            </a:r>
          </a:p>
          <a:p>
            <a:pPr marL="0" indent="0">
              <a:buNone/>
            </a:pPr>
            <a:r>
              <a:rPr lang="en-IN" dirty="0" err="1"/>
              <a:t>kabinett</a:t>
            </a:r>
            <a:r>
              <a:rPr lang="en-IN" dirty="0"/>
              <a:t> = </a:t>
            </a:r>
            <a:r>
              <a:rPr lang="en-IN" dirty="0" err="1"/>
              <a:t>g.V</a:t>
            </a:r>
            <a:r>
              <a:rPr lang="en-IN" dirty="0"/>
              <a:t>().has('</a:t>
            </a:r>
            <a:r>
              <a:rPr lang="en-IN" dirty="0" err="1"/>
              <a:t>name','Prancing</a:t>
            </a:r>
            <a:r>
              <a:rPr lang="en-IN" dirty="0"/>
              <a:t> Wolf </a:t>
            </a:r>
            <a:r>
              <a:rPr lang="en-IN" dirty="0" err="1"/>
              <a:t>Kabinett</a:t>
            </a:r>
            <a:r>
              <a:rPr lang="en-IN" dirty="0"/>
              <a:t> 2002').next()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g.V</a:t>
            </a:r>
            <a:r>
              <a:rPr lang="en-IN" dirty="0"/>
              <a:t>(tom).</a:t>
            </a:r>
            <a:r>
              <a:rPr lang="en-IN" dirty="0" err="1"/>
              <a:t>addE</a:t>
            </a:r>
            <a:r>
              <a:rPr lang="en-IN" dirty="0"/>
              <a:t>('likes').to(</a:t>
            </a:r>
            <a:r>
              <a:rPr lang="en-IN" dirty="0" err="1"/>
              <a:t>kabinett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 err="1"/>
              <a:t>g.V</a:t>
            </a:r>
            <a:r>
              <a:rPr lang="en-IN" dirty="0"/>
              <a:t>(tom).</a:t>
            </a:r>
            <a:r>
              <a:rPr lang="en-IN" dirty="0" err="1"/>
              <a:t>addE</a:t>
            </a:r>
            <a:r>
              <a:rPr lang="en-IN" dirty="0"/>
              <a:t>('likes').to(</a:t>
            </a:r>
            <a:r>
              <a:rPr lang="en-IN" dirty="0" err="1"/>
              <a:t>ice_wine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 err="1"/>
              <a:t>g.V</a:t>
            </a:r>
            <a:r>
              <a:rPr lang="en-IN" dirty="0"/>
              <a:t>(tom).</a:t>
            </a:r>
            <a:r>
              <a:rPr lang="en-IN" dirty="0" err="1"/>
              <a:t>addE</a:t>
            </a:r>
            <a:r>
              <a:rPr lang="en-IN" dirty="0"/>
              <a:t>('trusts').to(</a:t>
            </a:r>
            <a:r>
              <a:rPr lang="en-IN" dirty="0" err="1"/>
              <a:t>g.V</a:t>
            </a:r>
            <a:r>
              <a:rPr lang="en-IN" dirty="0"/>
              <a:t>().has('</a:t>
            </a:r>
            <a:r>
              <a:rPr lang="en-IN" dirty="0" err="1"/>
              <a:t>name','Wine</a:t>
            </a:r>
            <a:r>
              <a:rPr lang="en-IN" dirty="0"/>
              <a:t> Expert Monthly').next())</a:t>
            </a:r>
          </a:p>
        </p:txBody>
      </p:sp>
    </p:spTree>
    <p:extLst>
      <p:ext uri="{BB962C8B-B14F-4D97-AF65-F5344CB8AC3E}">
        <p14:creationId xmlns:p14="http://schemas.microsoft.com/office/powerpoint/2010/main" val="25324062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03406-C91F-4FBC-A0B8-A12F09F1D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/>
              <a:t>Schemaless</a:t>
            </a:r>
            <a:r>
              <a:rPr lang="en-IN" b="1" dirty="0"/>
              <a:t>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F8A54-6B59-4E25-B7DD-0A0BC16FD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Adding new types of nodes and relationships </a:t>
            </a:r>
            <a:r>
              <a:rPr lang="en-US" dirty="0"/>
              <a:t>WITHOUT changing any schema (structure)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Add Patty (social connection)</a:t>
            </a:r>
          </a:p>
          <a:p>
            <a:pPr marL="0" indent="0">
              <a:buNone/>
            </a:pPr>
            <a:r>
              <a:rPr lang="en-US" dirty="0"/>
              <a:t>patty = </a:t>
            </a:r>
            <a:r>
              <a:rPr lang="en-US" dirty="0" err="1"/>
              <a:t>g.addV</a:t>
            </a:r>
            <a:r>
              <a:rPr lang="en-US" dirty="0"/>
              <a:t>('Person').property('</a:t>
            </a:r>
            <a:r>
              <a:rPr lang="en-US" dirty="0" err="1"/>
              <a:t>name','Patty</a:t>
            </a:r>
            <a:r>
              <a:rPr lang="en-US" dirty="0"/>
              <a:t>')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g.V</a:t>
            </a:r>
            <a:r>
              <a:rPr lang="en-US" dirty="0"/>
              <a:t>(patty).</a:t>
            </a:r>
            <a:r>
              <a:rPr lang="en-US" dirty="0" err="1"/>
              <a:t>addE</a:t>
            </a:r>
            <a:r>
              <a:rPr lang="en-US" dirty="0"/>
              <a:t>('friends').to(tom)</a:t>
            </a:r>
          </a:p>
          <a:p>
            <a:pPr marL="0" indent="0">
              <a:buNone/>
            </a:pPr>
            <a:r>
              <a:rPr lang="en-US" dirty="0" err="1"/>
              <a:t>g.V</a:t>
            </a:r>
            <a:r>
              <a:rPr lang="en-US" dirty="0"/>
              <a:t>(patty).</a:t>
            </a:r>
            <a:r>
              <a:rPr lang="en-US" dirty="0" err="1"/>
              <a:t>addE</a:t>
            </a:r>
            <a:r>
              <a:rPr lang="en-US" dirty="0"/>
              <a:t>('friends').to(</a:t>
            </a:r>
            <a:r>
              <a:rPr lang="en-US" dirty="0" err="1"/>
              <a:t>alice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We added new relationships (likes, trusts, friends)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WITHOUT modifying existing structure</a:t>
            </a:r>
          </a:p>
        </p:txBody>
      </p:sp>
    </p:spTree>
    <p:extLst>
      <p:ext uri="{BB962C8B-B14F-4D97-AF65-F5344CB8AC3E}">
        <p14:creationId xmlns:p14="http://schemas.microsoft.com/office/powerpoint/2010/main" val="36458017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6C287-D872-4D3F-8F50-77D045CDA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Domain-Specific 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4EE26-292E-47EC-9971-0F845CBF9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custom step (method)</a:t>
            </a:r>
            <a:r>
              <a:rPr lang="en-US" dirty="0"/>
              <a:t> you create in Gremlin so queries become </a:t>
            </a:r>
            <a:r>
              <a:rPr lang="en-US" b="1" dirty="0"/>
              <a:t>easy to read like English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3E9940-69ED-4D90-8AB7-1B6E140DF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86" y="2685946"/>
            <a:ext cx="5820587" cy="8573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2BA566-C201-436E-961A-BB1F76AC3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198" y="2800262"/>
            <a:ext cx="4867954" cy="628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321488-2BD4-43FD-BD44-9DF419E4D3D7}"/>
              </a:ext>
            </a:extLst>
          </p:cNvPr>
          <p:cNvSpPr txBox="1"/>
          <p:nvPr/>
        </p:nvSpPr>
        <p:spPr>
          <a:xfrm>
            <a:off x="762000" y="6042026"/>
            <a:ext cx="1006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Earlier versions allowed custom steps, but modern Gremlin uses direct traversals instead.</a:t>
            </a:r>
            <a:endParaRPr lang="en-IN"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FF000C91-50C4-4FB0-AAF5-4B6311406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" y="4064976"/>
            <a:ext cx="1006792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earlier versions of Gremlin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TinkerPop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2), users could define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 traversal steps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Gremlin.defineStep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allowed developers to create reusable shortcuts for frequently used traversal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instead of repeatedly writing a traversal like: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.out('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enrolled_in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’)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sz="2000" dirty="0"/>
              <a:t>a custom step such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IN" sz="2000" b="1" dirty="0"/>
              <a:t>.course()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F7C57AC-0E62-4770-A346-D4F25082C3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8312" y="3627909"/>
            <a:ext cx="5668166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2993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94E2A-9D8A-486D-A8CA-821F9EE70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Delete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B9905B-8F66-4DF3-A422-437FD41E2C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535" y="1567571"/>
            <a:ext cx="7192379" cy="122889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4738E4-35C8-44C3-A79E-6F0733407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696" y="3154140"/>
            <a:ext cx="7341864" cy="12288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255459-1FB8-40EC-8822-23DB3B8CD4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4125" y="4829130"/>
            <a:ext cx="6736134" cy="10173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927459C-563B-4E3D-8CEC-362AB66A1B02}"/>
              </a:ext>
            </a:extLst>
          </p:cNvPr>
          <p:cNvSpPr txBox="1"/>
          <p:nvPr/>
        </p:nvSpPr>
        <p:spPr>
          <a:xfrm>
            <a:off x="9344025" y="4383036"/>
            <a:ext cx="2228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Store the edge and update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18452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94E2A-9D8A-486D-A8CA-821F9EE70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Delete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71990E5-41BB-4F3C-94F5-AFA47A5503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2416092"/>
            <a:ext cx="4639491" cy="875114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21416CD-8CB5-4278-AB97-D906503F7960}"/>
              </a:ext>
            </a:extLst>
          </p:cNvPr>
          <p:cNvSpPr txBox="1"/>
          <p:nvPr/>
        </p:nvSpPr>
        <p:spPr>
          <a:xfrm>
            <a:off x="762000" y="2058109"/>
            <a:ext cx="3848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 vertex property</a:t>
            </a: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6390D77-6473-4B8B-B678-C7D30D685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885" y="3649189"/>
            <a:ext cx="6143990" cy="172556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9995542-7D10-4F56-A16A-E737CAB60C9C}"/>
              </a:ext>
            </a:extLst>
          </p:cNvPr>
          <p:cNvSpPr txBox="1"/>
          <p:nvPr/>
        </p:nvSpPr>
        <p:spPr>
          <a:xfrm>
            <a:off x="7753350" y="3248025"/>
            <a:ext cx="3114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Delete property, edge, and vertex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6597305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5736CB-846D-46F1-A827-559046876806}"/>
              </a:ext>
            </a:extLst>
          </p:cNvPr>
          <p:cNvSpPr txBox="1"/>
          <p:nvPr/>
        </p:nvSpPr>
        <p:spPr>
          <a:xfrm>
            <a:off x="3009900" y="2162175"/>
            <a:ext cx="6324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REST </a:t>
            </a:r>
            <a:r>
              <a:rPr lang="en-US" sz="3200" b="1"/>
              <a:t>API Refer </a:t>
            </a:r>
            <a:r>
              <a:rPr lang="en-US" sz="3200" b="1" dirty="0"/>
              <a:t>word document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3610075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90354" y="2011680"/>
            <a:ext cx="7097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CQL REF LAB DOCUMENT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3893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Exact Match Index (Key-Value / Hash Index)</a:t>
            </a:r>
          </a:p>
          <a:p>
            <a:r>
              <a:rPr lang="en-US" dirty="0" smtClean="0"/>
              <a:t>This </a:t>
            </a:r>
            <a:r>
              <a:rPr lang="en-US" dirty="0"/>
              <a:t>is the </a:t>
            </a:r>
            <a:r>
              <a:rPr lang="en-US" b="1" dirty="0"/>
              <a:t>simplest and most common type</a:t>
            </a:r>
            <a:endParaRPr lang="en-US" dirty="0"/>
          </a:p>
          <a:p>
            <a:r>
              <a:rPr lang="en-US" dirty="0" smtClean="0"/>
              <a:t>Works </a:t>
            </a:r>
            <a:r>
              <a:rPr lang="en-US" dirty="0"/>
              <a:t>like a </a:t>
            </a:r>
            <a:r>
              <a:rPr lang="en-US" b="1" dirty="0"/>
              <a:t>key → value lookup</a:t>
            </a:r>
            <a:r>
              <a:rPr lang="en-US" dirty="0"/>
              <a:t> </a:t>
            </a:r>
          </a:p>
          <a:p>
            <a:r>
              <a:rPr lang="en-US" dirty="0"/>
              <a:t>Finds nodes based on </a:t>
            </a:r>
            <a:r>
              <a:rPr lang="en-US" b="1" dirty="0"/>
              <a:t>exact property value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419497" y="4001294"/>
            <a:ext cx="71758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CREATE INDEX FOR (</a:t>
            </a:r>
            <a:r>
              <a:rPr lang="en-US" b="1" dirty="0" err="1"/>
              <a:t>p:Person</a:t>
            </a:r>
            <a:r>
              <a:rPr lang="en-US" b="1" dirty="0"/>
              <a:t>) ON (p.name</a:t>
            </a:r>
            <a:r>
              <a:rPr lang="en-US" b="1" dirty="0" smtClean="0"/>
              <a:t>);</a:t>
            </a:r>
          </a:p>
          <a:p>
            <a:endParaRPr lang="en-US" b="1" dirty="0"/>
          </a:p>
          <a:p>
            <a:r>
              <a:rPr lang="en-US" b="1" dirty="0"/>
              <a:t>MATCH (</a:t>
            </a:r>
            <a:r>
              <a:rPr lang="en-US" b="1" dirty="0" err="1"/>
              <a:t>p:Person</a:t>
            </a:r>
            <a:r>
              <a:rPr lang="en-US" b="1" dirty="0"/>
              <a:t> {name: "Alice"})</a:t>
            </a:r>
          </a:p>
          <a:p>
            <a:r>
              <a:rPr lang="en-US" b="1" dirty="0"/>
              <a:t>RETURN p</a:t>
            </a:r>
            <a:r>
              <a:rPr lang="en-US" b="1" dirty="0" smtClean="0"/>
              <a:t>;</a:t>
            </a:r>
          </a:p>
          <a:p>
            <a:endParaRPr lang="en-US" b="1" dirty="0" smtClean="0"/>
          </a:p>
          <a:p>
            <a:r>
              <a:rPr lang="en-US" b="1" dirty="0" smtClean="0"/>
              <a:t> </a:t>
            </a:r>
            <a:r>
              <a:rPr lang="en-US" b="1" dirty="0"/>
              <a:t>"Alice" must match </a:t>
            </a:r>
            <a:r>
              <a:rPr lang="en-US" b="1" dirty="0" err="1"/>
              <a:t>exactlyFast</a:t>
            </a:r>
            <a:r>
              <a:rPr lang="en-US" b="1" dirty="0"/>
              <a:t> lookup using index</a:t>
            </a:r>
            <a:endParaRPr lang="en-US" b="1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6160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195" y="1425031"/>
            <a:ext cx="10515600" cy="4351338"/>
          </a:xfrm>
        </p:spPr>
        <p:txBody>
          <a:bodyPr/>
          <a:lstStyle/>
          <a:p>
            <a:r>
              <a:rPr lang="en-US" b="1" dirty="0"/>
              <a:t>Exact Match Index (Key-Value / Hash Index)</a:t>
            </a:r>
          </a:p>
          <a:p>
            <a:pPr marL="0" indent="0">
              <a:buNone/>
            </a:pPr>
            <a:r>
              <a:rPr lang="en-US" dirty="0" smtClean="0"/>
              <a:t>Using REST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500" y="2418669"/>
            <a:ext cx="786765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436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195" y="1425031"/>
            <a:ext cx="10515600" cy="4351338"/>
          </a:xfrm>
        </p:spPr>
        <p:txBody>
          <a:bodyPr/>
          <a:lstStyle/>
          <a:p>
            <a:r>
              <a:rPr lang="en-US" b="1" dirty="0"/>
              <a:t>Full-Text Index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Used for </a:t>
            </a:r>
            <a:r>
              <a:rPr lang="en-US" b="1" dirty="0"/>
              <a:t>searching text (not exact match</a:t>
            </a:r>
            <a:r>
              <a:rPr lang="en-US" b="1" dirty="0" smtClean="0"/>
              <a:t>)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 smtClean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 smtClean="0">
                <a:latin typeface="Arial" panose="020B0604020202020204" pitchFamily="34" charset="0"/>
              </a:rPr>
              <a:t>Works </a:t>
            </a:r>
            <a:r>
              <a:rPr lang="en-US" altLang="en-US" dirty="0">
                <a:latin typeface="Arial" panose="020B0604020202020204" pitchFamily="34" charset="0"/>
              </a:rPr>
              <a:t>like </a:t>
            </a:r>
            <a:r>
              <a:rPr lang="en-US" altLang="en-US" b="1" dirty="0">
                <a:latin typeface="Arial" panose="020B0604020202020204" pitchFamily="34" charset="0"/>
              </a:rPr>
              <a:t>Google search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</a:rPr>
              <a:t>Supports: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partial match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case-insensitive search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similar words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0382468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195" y="1425030"/>
            <a:ext cx="8488680" cy="5432969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Full-Text Index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dirty="0"/>
              <a:t>CALL </a:t>
            </a:r>
            <a:r>
              <a:rPr lang="en-US" dirty="0" err="1"/>
              <a:t>db.index.fulltext.createNodeIndex</a:t>
            </a:r>
            <a:r>
              <a:rPr lang="en-US" dirty="0"/>
              <a:t>(</a:t>
            </a:r>
            <a:br>
              <a:rPr lang="en-US" dirty="0"/>
            </a:br>
            <a:r>
              <a:rPr lang="en-US" dirty="0"/>
              <a:t>"</a:t>
            </a:r>
            <a:r>
              <a:rPr lang="en-US" dirty="0" err="1"/>
              <a:t>personIndex</a:t>
            </a:r>
            <a:r>
              <a:rPr lang="en-US" dirty="0"/>
              <a:t>",</a:t>
            </a:r>
            <a:br>
              <a:rPr lang="en-US" dirty="0"/>
            </a:br>
            <a:r>
              <a:rPr lang="en-US" dirty="0"/>
              <a:t>["Person"],</a:t>
            </a:r>
            <a:br>
              <a:rPr lang="en-US" dirty="0"/>
            </a:br>
            <a:r>
              <a:rPr lang="en-US" dirty="0"/>
              <a:t>["name"]</a:t>
            </a:r>
            <a:br>
              <a:rPr lang="en-US" dirty="0"/>
            </a:br>
            <a:r>
              <a:rPr lang="en-US" dirty="0" smtClean="0"/>
              <a:t>);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Query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CALL </a:t>
            </a:r>
            <a:r>
              <a:rPr lang="en-US" dirty="0" err="1"/>
              <a:t>db.index.fulltext.queryNodes</a:t>
            </a:r>
            <a:r>
              <a:rPr lang="en-US" dirty="0"/>
              <a:t>("</a:t>
            </a:r>
            <a:r>
              <a:rPr lang="en-US" dirty="0" err="1"/>
              <a:t>personIndex</a:t>
            </a:r>
            <a:r>
              <a:rPr lang="en-US" dirty="0"/>
              <a:t>", "Ali") </a:t>
            </a:r>
          </a:p>
          <a:p>
            <a:pPr marL="0" indent="0">
              <a:buNone/>
            </a:pPr>
            <a:r>
              <a:rPr lang="en-US" dirty="0"/>
              <a:t>YIELD node</a:t>
            </a:r>
          </a:p>
          <a:p>
            <a:pPr marL="0" indent="0">
              <a:buNone/>
            </a:pPr>
            <a:r>
              <a:rPr lang="en-US" dirty="0"/>
              <a:t>RETURN node;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4755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195" y="1425030"/>
            <a:ext cx="8488680" cy="5432969"/>
          </a:xfrm>
        </p:spPr>
        <p:txBody>
          <a:bodyPr>
            <a:normAutofit/>
          </a:bodyPr>
          <a:lstStyle/>
          <a:p>
            <a:r>
              <a:rPr lang="en-US" b="1" dirty="0"/>
              <a:t>Full-Text Index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3535"/>
            <a:ext cx="5046481" cy="350802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6812" y="4810384"/>
            <a:ext cx="8220892" cy="155107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4783" y="1479005"/>
            <a:ext cx="5086350" cy="283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4730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 Finding in </a:t>
            </a:r>
            <a:r>
              <a:rPr lang="en-US" dirty="0" smtClean="0"/>
              <a:t>Neo4j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Path finding means:</a:t>
            </a:r>
            <a:br>
              <a:rPr lang="en-US" dirty="0"/>
            </a:br>
            <a:r>
              <a:rPr lang="en-US" dirty="0"/>
              <a:t>finding how one node is connected to another node through </a:t>
            </a:r>
            <a:r>
              <a:rPr lang="en-US" dirty="0" smtClean="0"/>
              <a:t>relationships</a:t>
            </a:r>
          </a:p>
          <a:p>
            <a:pPr marL="0" indent="0">
              <a:buNone/>
            </a:pPr>
            <a:r>
              <a:rPr lang="en-US" dirty="0" smtClean="0"/>
              <a:t>Example</a:t>
            </a:r>
            <a:r>
              <a:rPr lang="en-US" dirty="0"/>
              <a:t>:</a:t>
            </a:r>
          </a:p>
          <a:p>
            <a:r>
              <a:rPr lang="en-US" dirty="0"/>
              <a:t>Alice → wrote → Book → published by → Publisher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6588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 Finding in </a:t>
            </a:r>
            <a:r>
              <a:rPr lang="en-US" dirty="0" smtClean="0"/>
              <a:t>Neo4j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0010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Example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curl -X POST http://localhost:7474/db/data/node/9/paths \</a:t>
            </a:r>
          </a:p>
          <a:p>
            <a:pPr marL="0" indent="0">
              <a:buNone/>
            </a:pPr>
            <a:r>
              <a:rPr lang="en-US" dirty="0"/>
              <a:t>-H "Content-Type: application/</a:t>
            </a:r>
            <a:r>
              <a:rPr lang="en-US" dirty="0" err="1"/>
              <a:t>json</a:t>
            </a:r>
            <a:r>
              <a:rPr lang="en-US" dirty="0"/>
              <a:t>" \</a:t>
            </a:r>
          </a:p>
          <a:p>
            <a:pPr marL="0" indent="0">
              <a:buNone/>
            </a:pPr>
            <a:r>
              <a:rPr lang="en-US" dirty="0"/>
              <a:t>-d '{</a:t>
            </a:r>
          </a:p>
          <a:p>
            <a:pPr marL="0" indent="0">
              <a:buNone/>
            </a:pPr>
            <a:r>
              <a:rPr lang="en-US" dirty="0"/>
              <a:t>"</a:t>
            </a:r>
            <a:r>
              <a:rPr lang="en-US" dirty="0" err="1"/>
              <a:t>to":"http</a:t>
            </a:r>
            <a:r>
              <a:rPr lang="en-US" dirty="0"/>
              <a:t>://localhost:7474/</a:t>
            </a:r>
            <a:r>
              <a:rPr lang="en-US" dirty="0" err="1"/>
              <a:t>db</a:t>
            </a:r>
            <a:r>
              <a:rPr lang="en-US" dirty="0"/>
              <a:t>/data/node/10",</a:t>
            </a:r>
          </a:p>
          <a:p>
            <a:pPr marL="0" indent="0">
              <a:buNone/>
            </a:pPr>
            <a:r>
              <a:rPr lang="en-US" dirty="0"/>
              <a:t>"relationships": {"type" : "WROTE"},</a:t>
            </a:r>
          </a:p>
          <a:p>
            <a:pPr marL="0" indent="0">
              <a:buNone/>
            </a:pPr>
            <a:r>
              <a:rPr lang="en-US" dirty="0"/>
              <a:t>"algorithm":"</a:t>
            </a:r>
            <a:r>
              <a:rPr lang="en-US" dirty="0" err="1"/>
              <a:t>shortestPath</a:t>
            </a:r>
            <a:r>
              <a:rPr lang="en-US" dirty="0"/>
              <a:t>",</a:t>
            </a:r>
          </a:p>
          <a:p>
            <a:pPr marL="0" indent="0">
              <a:buNone/>
            </a:pPr>
            <a:r>
              <a:rPr lang="en-US" dirty="0"/>
              <a:t>"max_depth":10</a:t>
            </a:r>
          </a:p>
          <a:p>
            <a:pPr marL="0" indent="0">
              <a:buNone/>
            </a:pPr>
            <a:r>
              <a:rPr lang="en-US" dirty="0"/>
              <a:t>}'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61417" y="2107474"/>
            <a:ext cx="2264229" cy="3492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281085"/>
              </p:ext>
            </p:extLst>
          </p:nvPr>
        </p:nvGraphicFramePr>
        <p:xfrm>
          <a:off x="7701514" y="4001294"/>
          <a:ext cx="5184034" cy="1828800"/>
        </p:xfrm>
        <a:graphic>
          <a:graphicData uri="http://schemas.openxmlformats.org/drawingml/2006/table">
            <a:tbl>
              <a:tblPr/>
              <a:tblGrid>
                <a:gridCol w="2592017">
                  <a:extLst>
                    <a:ext uri="{9D8B030D-6E8A-4147-A177-3AD203B41FA5}">
                      <a16:colId xmlns:a16="http://schemas.microsoft.com/office/drawing/2014/main" val="3595601394"/>
                    </a:ext>
                  </a:extLst>
                </a:gridCol>
                <a:gridCol w="2592017">
                  <a:extLst>
                    <a:ext uri="{9D8B030D-6E8A-4147-A177-3AD203B41FA5}">
                      <a16:colId xmlns:a16="http://schemas.microsoft.com/office/drawing/2014/main" val="3858235107"/>
                    </a:ext>
                  </a:extLst>
                </a:gridCol>
              </a:tblGrid>
              <a:tr h="243233">
                <a:tc>
                  <a:txBody>
                    <a:bodyPr/>
                    <a:lstStyle/>
                    <a:p>
                      <a:r>
                        <a:rPr lang="en-US" b="1" dirty="0"/>
                        <a:t>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8222419"/>
                  </a:ext>
                </a:extLst>
              </a:tr>
              <a:tr h="243233">
                <a:tc>
                  <a:txBody>
                    <a:bodyPr/>
                    <a:lstStyle/>
                    <a:p>
                      <a:r>
                        <a:rPr lang="en-US" dirty="0"/>
                        <a:t>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Target node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8736198"/>
                  </a:ext>
                </a:extLst>
              </a:tr>
              <a:tr h="243233">
                <a:tc>
                  <a:txBody>
                    <a:bodyPr/>
                    <a:lstStyle/>
                    <a:p>
                      <a:r>
                        <a:rPr lang="en-US"/>
                        <a:t>relationships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 of edge to follow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961870"/>
                  </a:ext>
                </a:extLst>
              </a:tr>
              <a:tr h="243233">
                <a:tc>
                  <a:txBody>
                    <a:bodyPr/>
                    <a:lstStyle/>
                    <a:p>
                      <a:r>
                        <a:rPr lang="en-US"/>
                        <a:t>algorithm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Path algorithm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281290"/>
                  </a:ext>
                </a:extLst>
              </a:tr>
              <a:tr h="243233">
                <a:tc>
                  <a:txBody>
                    <a:bodyPr/>
                    <a:lstStyle/>
                    <a:p>
                      <a:r>
                        <a:rPr lang="en-US"/>
                        <a:t>max_depth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How far to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574413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430871" y="2177097"/>
            <a:ext cx="27611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OUTPUT</a:t>
            </a:r>
          </a:p>
          <a:p>
            <a:r>
              <a:rPr lang="en-US" dirty="0" smtClean="0"/>
              <a:t>start </a:t>
            </a:r>
            <a:r>
              <a:rPr lang="en-US" dirty="0"/>
              <a:t>→ node9</a:t>
            </a:r>
          </a:p>
          <a:p>
            <a:r>
              <a:rPr lang="en-US" dirty="0"/>
              <a:t>nodes → [node9, node10]</a:t>
            </a:r>
          </a:p>
          <a:p>
            <a:r>
              <a:rPr lang="en-US" dirty="0"/>
              <a:t>length → 1</a:t>
            </a:r>
          </a:p>
          <a:p>
            <a:r>
              <a:rPr lang="en-US" dirty="0"/>
              <a:t>relationships → [WROTE]</a:t>
            </a:r>
          </a:p>
          <a:p>
            <a:r>
              <a:rPr lang="en-US" dirty="0"/>
              <a:t>end → node10</a:t>
            </a:r>
          </a:p>
        </p:txBody>
      </p:sp>
    </p:spTree>
    <p:extLst>
      <p:ext uri="{BB962C8B-B14F-4D97-AF65-F5344CB8AC3E}">
        <p14:creationId xmlns:p14="http://schemas.microsoft.com/office/powerpoint/2010/main" val="295070115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 Finding in Neo4j?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0010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Path Algorithms</a:t>
            </a:r>
          </a:p>
          <a:p>
            <a:pPr marL="0" indent="0">
              <a:buNone/>
            </a:pPr>
            <a:r>
              <a:rPr lang="en-US" b="1" dirty="0" err="1" smtClean="0"/>
              <a:t>shortestPath</a:t>
            </a:r>
            <a:endParaRPr lang="en-US" b="1" dirty="0"/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Finds </a:t>
            </a:r>
            <a:r>
              <a:rPr lang="en-US" b="1" dirty="0"/>
              <a:t>minimum steps path</a:t>
            </a:r>
            <a:endParaRPr lang="en-US" dirty="0"/>
          </a:p>
          <a:p>
            <a:r>
              <a:rPr lang="en-US" b="1" dirty="0" err="1"/>
              <a:t>allPaths</a:t>
            </a:r>
            <a:endParaRPr lang="en-US" b="1" dirty="0"/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Finds </a:t>
            </a:r>
            <a:r>
              <a:rPr lang="en-US" b="1" dirty="0"/>
              <a:t>all possible paths</a:t>
            </a:r>
            <a:endParaRPr lang="en-US" dirty="0"/>
          </a:p>
          <a:p>
            <a:r>
              <a:rPr lang="en-US" b="1" dirty="0" err="1"/>
              <a:t>allSimplePaths</a:t>
            </a:r>
            <a:endParaRPr lang="en-US" b="1" dirty="0"/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Finds paths without repeating nodes</a:t>
            </a:r>
          </a:p>
          <a:p>
            <a:r>
              <a:rPr lang="en-US" b="1" dirty="0" err="1"/>
              <a:t>dijkstra</a:t>
            </a:r>
            <a:endParaRPr lang="en-US" b="1" dirty="0"/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Finds </a:t>
            </a:r>
            <a:r>
              <a:rPr lang="en-US" b="1" dirty="0"/>
              <a:t>shortest weighted path</a:t>
            </a:r>
            <a:r>
              <a:rPr lang="en-US" dirty="0"/>
              <a:t> (if weights exist)</a:t>
            </a:r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9161417" y="2107474"/>
            <a:ext cx="2264229" cy="3492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0" y="1370827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57967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Neo4j High Availability (HA)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High Availability (HA)</a:t>
            </a:r>
            <a:r>
              <a:rPr lang="en-US" dirty="0"/>
              <a:t> means:</a:t>
            </a:r>
          </a:p>
          <a:p>
            <a:r>
              <a:rPr lang="en-US" dirty="0"/>
              <a:t>Neo4j runs on </a:t>
            </a:r>
            <a:r>
              <a:rPr lang="en-US" b="1" dirty="0"/>
              <a:t>multiple servers (cluster)</a:t>
            </a:r>
            <a:r>
              <a:rPr lang="en-US" dirty="0"/>
              <a:t> </a:t>
            </a:r>
          </a:p>
          <a:p>
            <a:r>
              <a:rPr lang="en-US" dirty="0"/>
              <a:t>If one server fails, others still work </a:t>
            </a:r>
          </a:p>
          <a:p>
            <a:r>
              <a:rPr lang="en-US" dirty="0"/>
              <a:t>System stays </a:t>
            </a:r>
            <a:r>
              <a:rPr lang="en-US" b="1" dirty="0"/>
              <a:t>always available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13699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Neo4j High Availability (HA)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5886" y="1943894"/>
            <a:ext cx="6899501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1976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Neo4j High Availability (HA)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Neo4j 1 (Leader/Master)</a:t>
            </a:r>
            <a:r>
              <a:rPr lang="en-US" dirty="0"/>
              <a:t> → Handles all </a:t>
            </a:r>
            <a:r>
              <a:rPr lang="en-US" b="1" dirty="0"/>
              <a:t>write operations</a:t>
            </a:r>
            <a:r>
              <a:rPr lang="en-US" dirty="0"/>
              <a:t> </a:t>
            </a:r>
          </a:p>
          <a:p>
            <a:r>
              <a:rPr lang="en-US" b="1" dirty="0"/>
              <a:t>Neo4j 2 &amp; Neo4j 3 (Followers/Slaves)</a:t>
            </a:r>
            <a:r>
              <a:rPr lang="en-US" dirty="0"/>
              <a:t> → Handle </a:t>
            </a:r>
            <a:r>
              <a:rPr lang="en-US" b="1" dirty="0"/>
              <a:t>read operations</a:t>
            </a:r>
            <a:r>
              <a:rPr lang="en-US" dirty="0"/>
              <a:t> and copy data from leader </a:t>
            </a:r>
          </a:p>
          <a:p>
            <a:r>
              <a:rPr lang="en-US" b="1" dirty="0" err="1" smtClean="0"/>
              <a:t>ZooKeeper</a:t>
            </a:r>
            <a:r>
              <a:rPr lang="en-US" dirty="0" smtClean="0"/>
              <a:t>-</a:t>
            </a:r>
            <a:r>
              <a:rPr lang="en-US" b="1" dirty="0" smtClean="0"/>
              <a:t>Coordinator </a:t>
            </a:r>
            <a:r>
              <a:rPr lang="en-US" b="1" dirty="0"/>
              <a:t>1, 2, 3</a:t>
            </a:r>
            <a:r>
              <a:rPr lang="en-US" dirty="0"/>
              <a:t> → Act as </a:t>
            </a:r>
            <a:r>
              <a:rPr lang="en-US" b="1" dirty="0"/>
              <a:t>request managers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Receive queries from clients </a:t>
            </a:r>
          </a:p>
          <a:p>
            <a:pPr lvl="1"/>
            <a:r>
              <a:rPr lang="en-US" dirty="0"/>
              <a:t>Send </a:t>
            </a:r>
            <a:r>
              <a:rPr lang="en-US" b="1" dirty="0"/>
              <a:t>writes to leader</a:t>
            </a:r>
            <a:r>
              <a:rPr lang="en-US" dirty="0"/>
              <a:t> and </a:t>
            </a:r>
            <a:r>
              <a:rPr lang="en-US" b="1" dirty="0"/>
              <a:t>reads to followers</a:t>
            </a:r>
            <a:r>
              <a:rPr lang="en-US" dirty="0"/>
              <a:t> </a:t>
            </a:r>
            <a:endParaRPr lang="en-US" dirty="0" smtClean="0"/>
          </a:p>
          <a:p>
            <a:pPr lvl="1"/>
            <a:r>
              <a:rPr lang="en-US" dirty="0"/>
              <a:t>Controls the </a:t>
            </a:r>
            <a:r>
              <a:rPr lang="en-US" dirty="0" smtClean="0"/>
              <a:t>cluster</a:t>
            </a:r>
          </a:p>
          <a:p>
            <a:pPr lvl="1"/>
            <a:r>
              <a:rPr lang="en-US" dirty="0" smtClean="0"/>
              <a:t>Decides </a:t>
            </a:r>
            <a:r>
              <a:rPr lang="en-US" dirty="0"/>
              <a:t>who is </a:t>
            </a:r>
            <a:r>
              <a:rPr lang="en-US" dirty="0" smtClean="0"/>
              <a:t>master</a:t>
            </a:r>
          </a:p>
          <a:p>
            <a:pPr lvl="1"/>
            <a:r>
              <a:rPr lang="en-US" dirty="0" smtClean="0"/>
              <a:t>Keeps </a:t>
            </a:r>
            <a:r>
              <a:rPr lang="en-US" dirty="0"/>
              <a:t>nodes in sync</a:t>
            </a:r>
          </a:p>
          <a:p>
            <a:r>
              <a:rPr lang="en-US" b="1" dirty="0"/>
              <a:t>Cluster Interface</a:t>
            </a:r>
            <a:r>
              <a:rPr lang="en-US" dirty="0"/>
              <a:t> → Connects coordinators with database servers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65822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Server </a:t>
            </a:r>
            <a:r>
              <a:rPr lang="en-US" b="1" dirty="0"/>
              <a:t>setup </a:t>
            </a:r>
            <a:r>
              <a:rPr lang="en-US" b="1" dirty="0" smtClean="0"/>
              <a:t>and </a:t>
            </a:r>
            <a:r>
              <a:rPr lang="en-US" b="1" dirty="0"/>
              <a:t>cluster configuration commands</a:t>
            </a:r>
            <a:r>
              <a:rPr lang="en-US" dirty="0"/>
              <a:t> </a:t>
            </a:r>
            <a:r>
              <a:rPr lang="en-US" b="1" dirty="0"/>
              <a:t>for Neo4j </a:t>
            </a:r>
            <a:r>
              <a:rPr lang="en-US" b="1" dirty="0" smtClean="0"/>
              <a:t>HA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# 1. Extract and create 3 Neo4j instances</a:t>
            </a:r>
            <a:br>
              <a:rPr lang="en-US" dirty="0"/>
            </a:br>
            <a:r>
              <a:rPr lang="en-US" dirty="0"/>
              <a:t>tar </a:t>
            </a:r>
            <a:r>
              <a:rPr lang="en-US" dirty="0" err="1"/>
              <a:t>fx</a:t>
            </a:r>
            <a:r>
              <a:rPr lang="en-US" dirty="0"/>
              <a:t> neo4j-enterprise-1.7-unix.tar</a:t>
            </a:r>
            <a:br>
              <a:rPr lang="en-US" dirty="0"/>
            </a:br>
            <a:r>
              <a:rPr lang="en-US" dirty="0"/>
              <a:t>mv neo4j-enterprise-1.7 neo4j-enterprise-1.7-1</a:t>
            </a:r>
            <a:br>
              <a:rPr lang="en-US" dirty="0"/>
            </a:br>
            <a:r>
              <a:rPr lang="en-US" dirty="0" err="1"/>
              <a:t>cp</a:t>
            </a:r>
            <a:r>
              <a:rPr lang="en-US" dirty="0"/>
              <a:t> -R neo4j-enterprise-1.7-1 neo4j-enterprise-1.7-2</a:t>
            </a:r>
            <a:br>
              <a:rPr lang="en-US" dirty="0"/>
            </a:br>
            <a:r>
              <a:rPr lang="en-US" dirty="0" err="1"/>
              <a:t>cp</a:t>
            </a:r>
            <a:r>
              <a:rPr lang="en-US" dirty="0"/>
              <a:t> -R neo4j-enterprise-1.7-1 neo4j-enterprise-1.7-3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# 2. Set </a:t>
            </a:r>
            <a:r>
              <a:rPr lang="en-US" dirty="0" err="1"/>
              <a:t>ZooKeeper</a:t>
            </a:r>
            <a:r>
              <a:rPr lang="en-US" dirty="0"/>
              <a:t> IDs</a:t>
            </a:r>
            <a:br>
              <a:rPr lang="en-US" dirty="0"/>
            </a:br>
            <a:r>
              <a:rPr lang="en-US" dirty="0"/>
              <a:t>echo "1" &gt; neo4j-enterprise-1.7-1/data/coordinator/</a:t>
            </a:r>
            <a:r>
              <a:rPr lang="en-US" dirty="0" err="1"/>
              <a:t>myid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echo "2" &gt; neo4j-enterprise-1.7-2/data/coordinator/</a:t>
            </a:r>
            <a:r>
              <a:rPr lang="en-US" dirty="0" err="1"/>
              <a:t>myid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echo "3" &gt; neo4j-enterprise-1.7-3/data/coordinator/</a:t>
            </a:r>
            <a:r>
              <a:rPr lang="en-US" dirty="0" err="1"/>
              <a:t>myid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25906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Server </a:t>
            </a:r>
            <a:r>
              <a:rPr lang="en-US" b="1" dirty="0"/>
              <a:t>setup </a:t>
            </a:r>
            <a:r>
              <a:rPr lang="en-US" b="1" dirty="0" smtClean="0"/>
              <a:t>and </a:t>
            </a:r>
            <a:r>
              <a:rPr lang="en-US" b="1" dirty="0"/>
              <a:t>cluster configuration commands</a:t>
            </a:r>
            <a:r>
              <a:rPr lang="en-US" dirty="0"/>
              <a:t> </a:t>
            </a:r>
            <a:r>
              <a:rPr lang="en-US" b="1" dirty="0"/>
              <a:t>for Neo4j </a:t>
            </a:r>
            <a:r>
              <a:rPr lang="en-US" b="1" dirty="0" smtClean="0"/>
              <a:t>HA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# 3. </a:t>
            </a:r>
            <a:r>
              <a:rPr lang="en-US" dirty="0" err="1"/>
              <a:t>ZooKeeper</a:t>
            </a:r>
            <a:r>
              <a:rPr lang="en-US" dirty="0"/>
              <a:t> configuration (</a:t>
            </a:r>
            <a:r>
              <a:rPr lang="en-US" dirty="0" err="1"/>
              <a:t>coord.cfg</a:t>
            </a:r>
            <a:r>
              <a:rPr lang="en-US" dirty="0"/>
              <a:t> shared)</a:t>
            </a:r>
            <a:br>
              <a:rPr lang="en-US" dirty="0"/>
            </a:br>
            <a:r>
              <a:rPr lang="en-US" dirty="0"/>
              <a:t>server.1=localhost:2888:3888</a:t>
            </a:r>
            <a:br>
              <a:rPr lang="en-US" dirty="0"/>
            </a:br>
            <a:r>
              <a:rPr lang="en-US" dirty="0"/>
              <a:t>server.2=localhost:2889:3889</a:t>
            </a:r>
            <a:br>
              <a:rPr lang="en-US" dirty="0"/>
            </a:br>
            <a:r>
              <a:rPr lang="en-US" dirty="0"/>
              <a:t>server.3=localhost:2890:3890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# Client ports</a:t>
            </a:r>
            <a:br>
              <a:rPr lang="en-US" dirty="0"/>
            </a:br>
            <a:r>
              <a:rPr lang="en-US" dirty="0"/>
              <a:t># Server 1: 2181</a:t>
            </a:r>
            <a:br>
              <a:rPr lang="en-US" dirty="0"/>
            </a:br>
            <a:r>
              <a:rPr lang="en-US" dirty="0"/>
              <a:t># Server 2: 2182</a:t>
            </a:r>
            <a:br>
              <a:rPr lang="en-US" dirty="0"/>
            </a:br>
            <a:r>
              <a:rPr lang="en-US" dirty="0"/>
              <a:t># Server 3: 2183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# Start </a:t>
            </a:r>
            <a:r>
              <a:rPr lang="en-US" dirty="0" err="1"/>
              <a:t>ZooKeeper</a:t>
            </a:r>
            <a:r>
              <a:rPr lang="en-US" dirty="0"/>
              <a:t> coordinators</a:t>
            </a:r>
            <a:br>
              <a:rPr lang="en-US" dirty="0"/>
            </a:br>
            <a:r>
              <a:rPr lang="en-US" dirty="0"/>
              <a:t>bin/neo4j-coordinator start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73515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Server </a:t>
            </a:r>
            <a:r>
              <a:rPr lang="en-US" b="1" dirty="0"/>
              <a:t>setup </a:t>
            </a:r>
            <a:r>
              <a:rPr lang="en-US" b="1" dirty="0" smtClean="0"/>
              <a:t>and </a:t>
            </a:r>
            <a:r>
              <a:rPr lang="en-US" b="1" dirty="0"/>
              <a:t>cluster configuration commands</a:t>
            </a:r>
            <a:r>
              <a:rPr lang="en-US" dirty="0"/>
              <a:t> </a:t>
            </a:r>
            <a:r>
              <a:rPr lang="en-US" b="1" dirty="0"/>
              <a:t>for Neo4j </a:t>
            </a:r>
            <a:r>
              <a:rPr lang="en-US" b="1" dirty="0" smtClean="0"/>
              <a:t>HA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5835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# 4. Neo4j HA configuration (in neo4j-server.properties)</a:t>
            </a:r>
            <a:br>
              <a:rPr lang="en-US" dirty="0"/>
            </a:br>
            <a:r>
              <a:rPr lang="en-US" dirty="0"/>
              <a:t>org.neo4j.server.database.mode=HA</a:t>
            </a:r>
            <a:br>
              <a:rPr lang="en-US" dirty="0"/>
            </a:br>
            <a:r>
              <a:rPr lang="en-US" dirty="0"/>
              <a:t>org.neo4j.server.webserver.port=7471 # 7472, 7473 for others</a:t>
            </a:r>
            <a:br>
              <a:rPr lang="en-US" dirty="0"/>
            </a:br>
            <a:r>
              <a:rPr lang="en-US" dirty="0"/>
              <a:t>org.neo4j.server.webserver.https.port=7481 # 7482, 7483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# 5. Neo4j HA configuration (in neo4j.properties)</a:t>
            </a:r>
            <a:br>
              <a:rPr lang="en-US" dirty="0"/>
            </a:br>
            <a:r>
              <a:rPr lang="en-US" dirty="0" err="1"/>
              <a:t>ha.server_id</a:t>
            </a:r>
            <a:r>
              <a:rPr lang="en-US" dirty="0"/>
              <a:t>=1 # change to 2, 3 for other nodes</a:t>
            </a:r>
            <a:br>
              <a:rPr lang="en-US" dirty="0"/>
            </a:br>
            <a:r>
              <a:rPr lang="en-US" dirty="0" err="1"/>
              <a:t>ha.coordinators</a:t>
            </a:r>
            <a:r>
              <a:rPr lang="en-US" dirty="0"/>
              <a:t>=localhost:2181,localhost:2182,localhost:2183</a:t>
            </a:r>
            <a:br>
              <a:rPr lang="en-US" dirty="0"/>
            </a:br>
            <a:r>
              <a:rPr lang="en-US" dirty="0" err="1"/>
              <a:t>ha.server</a:t>
            </a:r>
            <a:r>
              <a:rPr lang="en-US" dirty="0"/>
              <a:t>=localhost:6001 # 6002, 6003 for others</a:t>
            </a:r>
            <a:br>
              <a:rPr lang="en-US" dirty="0"/>
            </a:br>
            <a:r>
              <a:rPr lang="en-US" dirty="0" err="1"/>
              <a:t>ha.pull_interval</a:t>
            </a:r>
            <a:r>
              <a:rPr lang="en-US" dirty="0"/>
              <a:t>=1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# 6. Start Neo4j servers</a:t>
            </a:r>
            <a:br>
              <a:rPr lang="en-US" dirty="0"/>
            </a:br>
            <a:r>
              <a:rPr lang="en-US" dirty="0"/>
              <a:t>bin/neo4j start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# 7. Check logs</a:t>
            </a:r>
            <a:br>
              <a:rPr lang="en-US" dirty="0"/>
            </a:br>
            <a:r>
              <a:rPr lang="en-US" dirty="0"/>
              <a:t>tail -f data/log/console.log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32805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Transactional Modes in Gremlin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Gremlin supports transactions to ensure graph operations are safe and consistent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A transaction = a group of operations treated as one unit</a:t>
            </a:r>
            <a:r>
              <a:rPr lang="en-US" dirty="0" smtClean="0"/>
              <a:t>.</a:t>
            </a:r>
          </a:p>
          <a:p>
            <a:r>
              <a:rPr lang="en-US" dirty="0" smtClean="0"/>
              <a:t>If </a:t>
            </a:r>
            <a:r>
              <a:rPr lang="en-US" dirty="0"/>
              <a:t>everything works → changes are saved (COMMIT</a:t>
            </a:r>
            <a:r>
              <a:rPr lang="en-US" dirty="0" smtClean="0"/>
              <a:t>)</a:t>
            </a:r>
          </a:p>
          <a:p>
            <a:r>
              <a:rPr lang="en-US" dirty="0" smtClean="0"/>
              <a:t>If </a:t>
            </a:r>
            <a:r>
              <a:rPr lang="en-US" dirty="0"/>
              <a:t>error occurs → changes are cancelled (</a:t>
            </a:r>
            <a:r>
              <a:rPr lang="en-US" dirty="0" smtClean="0"/>
              <a:t>ROLLBACK)</a:t>
            </a:r>
          </a:p>
        </p:txBody>
      </p:sp>
    </p:spTree>
    <p:extLst>
      <p:ext uri="{BB962C8B-B14F-4D97-AF65-F5344CB8AC3E}">
        <p14:creationId xmlns:p14="http://schemas.microsoft.com/office/powerpoint/2010/main" val="266005683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Transactional Modes in Gremlin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6280" y="139890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Manual Transaction Mode</a:t>
            </a:r>
          </a:p>
          <a:p>
            <a:pPr marL="0" indent="0">
              <a:buNone/>
            </a:pPr>
            <a:r>
              <a:rPr lang="en-US" dirty="0"/>
              <a:t>In this mode, you control when transaction starts and ends.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3109613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Transactional Modes in Gremlin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6280" y="139890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Manual Transaction </a:t>
            </a:r>
            <a:r>
              <a:rPr lang="en-US" dirty="0" smtClean="0"/>
              <a:t>Mode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03518" y="1288868"/>
            <a:ext cx="732390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g.setTransactionMode</a:t>
            </a:r>
            <a:r>
              <a:rPr lang="en-US" dirty="0"/>
              <a:t>(</a:t>
            </a:r>
            <a:r>
              <a:rPr lang="en-US" dirty="0" err="1"/>
              <a:t>TransactionalGraph.Mode.MANUAL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 err="1"/>
              <a:t>g.startTransaction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try {</a:t>
            </a:r>
          </a:p>
          <a:p>
            <a:r>
              <a:rPr lang="en-US" dirty="0"/>
              <a:t>    // Example graph operations</a:t>
            </a:r>
          </a:p>
          <a:p>
            <a:r>
              <a:rPr lang="en-US" dirty="0"/>
              <a:t>    </a:t>
            </a:r>
            <a:r>
              <a:rPr lang="en-US" dirty="0" err="1"/>
              <a:t>g.addVertex</a:t>
            </a:r>
            <a:r>
              <a:rPr lang="en-US" dirty="0"/>
              <a:t>([</a:t>
            </a:r>
            <a:r>
              <a:rPr lang="en-US" dirty="0" err="1"/>
              <a:t>name:'Alice</a:t>
            </a:r>
            <a:r>
              <a:rPr lang="en-US" dirty="0"/>
              <a:t>'])</a:t>
            </a:r>
          </a:p>
          <a:p>
            <a:r>
              <a:rPr lang="en-US" dirty="0"/>
              <a:t>    </a:t>
            </a:r>
            <a:r>
              <a:rPr lang="en-US" dirty="0" err="1"/>
              <a:t>g.addVertex</a:t>
            </a:r>
            <a:r>
              <a:rPr lang="en-US" dirty="0"/>
              <a:t>([</a:t>
            </a:r>
            <a:r>
              <a:rPr lang="en-US" dirty="0" err="1"/>
              <a:t>name:'DBMS</a:t>
            </a:r>
            <a:r>
              <a:rPr lang="en-US" dirty="0"/>
              <a:t>'])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g.addEdge</a:t>
            </a:r>
            <a:r>
              <a:rPr lang="en-US" dirty="0"/>
              <a:t>(</a:t>
            </a:r>
            <a:r>
              <a:rPr lang="en-US" dirty="0" err="1"/>
              <a:t>g.v</a:t>
            </a:r>
            <a:r>
              <a:rPr lang="en-US" dirty="0"/>
              <a:t>(0), </a:t>
            </a:r>
            <a:r>
              <a:rPr lang="en-US" dirty="0" err="1"/>
              <a:t>g.v</a:t>
            </a:r>
            <a:r>
              <a:rPr lang="en-US" dirty="0"/>
              <a:t>(1), '</a:t>
            </a:r>
            <a:r>
              <a:rPr lang="en-US" dirty="0" err="1"/>
              <a:t>enrolled_in</a:t>
            </a:r>
            <a:r>
              <a:rPr lang="en-US" dirty="0"/>
              <a:t>')</a:t>
            </a:r>
          </a:p>
          <a:p>
            <a:endParaRPr lang="en-US" dirty="0"/>
          </a:p>
          <a:p>
            <a:r>
              <a:rPr lang="en-US" dirty="0"/>
              <a:t>    // If everything is successful</a:t>
            </a:r>
          </a:p>
          <a:p>
            <a:r>
              <a:rPr lang="en-US" dirty="0"/>
              <a:t>    </a:t>
            </a:r>
            <a:r>
              <a:rPr lang="en-US" dirty="0" err="1"/>
              <a:t>g.stopTransaction</a:t>
            </a:r>
            <a:r>
              <a:rPr lang="en-US" dirty="0"/>
              <a:t>(</a:t>
            </a:r>
            <a:r>
              <a:rPr lang="en-US" dirty="0" err="1"/>
              <a:t>TransactionalGraph.Conclusion.SUCCESS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} catch(e) {</a:t>
            </a:r>
          </a:p>
          <a:p>
            <a:endParaRPr lang="en-US" dirty="0"/>
          </a:p>
          <a:p>
            <a:r>
              <a:rPr lang="en-US" dirty="0"/>
              <a:t>    // If any error occurs, rollback changes</a:t>
            </a:r>
          </a:p>
          <a:p>
            <a:r>
              <a:rPr lang="en-US" dirty="0"/>
              <a:t>    </a:t>
            </a:r>
            <a:r>
              <a:rPr lang="en-US" dirty="0" err="1"/>
              <a:t>g.stopTransaction</a:t>
            </a:r>
            <a:r>
              <a:rPr lang="en-US" dirty="0"/>
              <a:t>(</a:t>
            </a:r>
            <a:r>
              <a:rPr lang="en-US" dirty="0" err="1"/>
              <a:t>TransactionalGraph.Conclusion.FAILURE</a:t>
            </a:r>
            <a:r>
              <a:rPr lang="en-US" dirty="0"/>
              <a:t>)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8189997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Neo4j and CAP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CAP theorem explains how distributed databases behave when there is a network issue.</a:t>
            </a:r>
          </a:p>
          <a:p>
            <a:r>
              <a:rPr lang="en-US" dirty="0" smtClean="0"/>
              <a:t>CAP </a:t>
            </a:r>
            <a:r>
              <a:rPr lang="en-US" dirty="0"/>
              <a:t>=</a:t>
            </a:r>
          </a:p>
          <a:p>
            <a:r>
              <a:rPr lang="en-US" b="1" dirty="0"/>
              <a:t>C → Consistency</a:t>
            </a:r>
            <a:r>
              <a:rPr lang="en-US" dirty="0"/>
              <a:t> (all nodes show same data) </a:t>
            </a:r>
          </a:p>
          <a:p>
            <a:r>
              <a:rPr lang="en-US" b="1" dirty="0"/>
              <a:t>A → Availability</a:t>
            </a:r>
            <a:r>
              <a:rPr lang="en-US" dirty="0"/>
              <a:t> (system always responds) </a:t>
            </a:r>
          </a:p>
          <a:p>
            <a:r>
              <a:rPr lang="en-US" b="1" dirty="0"/>
              <a:t>P → Partition Tolerance</a:t>
            </a:r>
            <a:r>
              <a:rPr lang="en-US" dirty="0"/>
              <a:t> (system works even if network breaks)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14977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Neo4j and CAP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Neo4j HA = AP System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Neo4j High Availability mainly follows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Availability</a:t>
            </a:r>
            <a:endParaRPr lang="en-US" b="1" dirty="0"/>
          </a:p>
          <a:p>
            <a:r>
              <a:rPr lang="en-US" dirty="0"/>
              <a:t>System is always available </a:t>
            </a:r>
          </a:p>
          <a:p>
            <a:r>
              <a:rPr lang="en-US" dirty="0"/>
              <a:t>You can still read/write even if some nodes fail </a:t>
            </a:r>
          </a:p>
          <a:p>
            <a:pPr marL="0" indent="0">
              <a:buNone/>
            </a:pPr>
            <a:r>
              <a:rPr lang="en-US" b="1" dirty="0" smtClean="0"/>
              <a:t>Partition </a:t>
            </a:r>
            <a:r>
              <a:rPr lang="en-US" b="1" dirty="0"/>
              <a:t>Tolerance</a:t>
            </a:r>
          </a:p>
          <a:p>
            <a:r>
              <a:rPr lang="en-US" dirty="0"/>
              <a:t>Works even if network between nodes breaks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22781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Neo4j and CAP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Consistency</a:t>
            </a:r>
          </a:p>
          <a:p>
            <a:pPr marL="0" indent="0">
              <a:buNone/>
            </a:pPr>
            <a:r>
              <a:rPr lang="en-US" dirty="0" smtClean="0"/>
              <a:t>Neo4j </a:t>
            </a:r>
            <a:r>
              <a:rPr lang="en-US" dirty="0"/>
              <a:t>sacrifices </a:t>
            </a:r>
            <a:r>
              <a:rPr lang="en-US" b="1" dirty="0"/>
              <a:t>strong consistency</a:t>
            </a:r>
            <a:endParaRPr lang="en-US" dirty="0"/>
          </a:p>
          <a:p>
            <a:r>
              <a:rPr lang="en-US" dirty="0"/>
              <a:t>Slave nodes may have </a:t>
            </a:r>
            <a:r>
              <a:rPr lang="en-US" b="1" dirty="0"/>
              <a:t>slightly old data</a:t>
            </a:r>
            <a:r>
              <a:rPr lang="en-US" dirty="0"/>
              <a:t> </a:t>
            </a:r>
          </a:p>
          <a:p>
            <a:r>
              <a:rPr lang="en-US" dirty="0"/>
              <a:t>Data becomes consistent after some </a:t>
            </a:r>
            <a:r>
              <a:rPr lang="en-US" dirty="0" smtClean="0"/>
              <a:t>time</a:t>
            </a:r>
          </a:p>
          <a:p>
            <a:pPr marL="0" indent="0">
              <a:buNone/>
            </a:pPr>
            <a:r>
              <a:rPr lang="en-US" dirty="0"/>
              <a:t>In Neo4j High Availability:</a:t>
            </a:r>
          </a:p>
          <a:p>
            <a:r>
              <a:rPr lang="en-US" dirty="0"/>
              <a:t>One node acts as </a:t>
            </a:r>
            <a:r>
              <a:rPr lang="en-US" b="1" dirty="0"/>
              <a:t>master (writer)</a:t>
            </a:r>
            <a:r>
              <a:rPr lang="en-US" dirty="0"/>
              <a:t> </a:t>
            </a:r>
          </a:p>
          <a:p>
            <a:r>
              <a:rPr lang="en-US" dirty="0"/>
              <a:t>Others are </a:t>
            </a:r>
            <a:r>
              <a:rPr lang="en-US" b="1" dirty="0"/>
              <a:t>slaves (readers)</a:t>
            </a:r>
            <a:r>
              <a:rPr lang="en-US" dirty="0"/>
              <a:t> </a:t>
            </a:r>
          </a:p>
          <a:p>
            <a:r>
              <a:rPr lang="en-US" dirty="0"/>
              <a:t>Updates are </a:t>
            </a:r>
            <a:r>
              <a:rPr lang="en-US" b="1" dirty="0"/>
              <a:t>propagated asynchronously</a:t>
            </a:r>
            <a:r>
              <a:rPr lang="en-US" dirty="0"/>
              <a:t> </a:t>
            </a:r>
          </a:p>
          <a:p>
            <a:r>
              <a:rPr lang="en-US" dirty="0" smtClean="0"/>
              <a:t> </a:t>
            </a:r>
            <a:r>
              <a:rPr lang="en-US" dirty="0"/>
              <a:t>So data is not updated everywhere instantly.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498080" y="2717074"/>
            <a:ext cx="39972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1: Alice = "DBMS" (updated at master)</a:t>
            </a:r>
          </a:p>
          <a:p>
            <a:endParaRPr lang="en-US" dirty="0"/>
          </a:p>
          <a:p>
            <a:r>
              <a:rPr lang="en-US" dirty="0"/>
              <a:t>Step 2:</a:t>
            </a:r>
          </a:p>
          <a:p>
            <a:r>
              <a:rPr lang="en-US" dirty="0"/>
              <a:t>Slave A → updated </a:t>
            </a:r>
          </a:p>
          <a:p>
            <a:r>
              <a:rPr lang="en-US" dirty="0"/>
              <a:t>Slave B → still shows old </a:t>
            </a:r>
            <a:r>
              <a:rPr lang="en-US"/>
              <a:t>value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51749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017" y="0"/>
            <a:ext cx="10515600" cy="748937"/>
          </a:xfrm>
        </p:spPr>
        <p:txBody>
          <a:bodyPr/>
          <a:lstStyle/>
          <a:p>
            <a:r>
              <a:rPr lang="en-US" b="1" dirty="0"/>
              <a:t>Key Points of Neo4j High Availability (HA):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48938"/>
            <a:ext cx="10515600" cy="593924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1. Cluster </a:t>
            </a:r>
            <a:r>
              <a:rPr lang="en-US" b="1" dirty="0"/>
              <a:t>of Multiple Nodes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HA uses a </a:t>
            </a:r>
            <a:r>
              <a:rPr lang="en-US" b="1" dirty="0"/>
              <a:t>cluster of Neo4j servers </a:t>
            </a:r>
            <a:r>
              <a:rPr lang="en-US" dirty="0"/>
              <a:t>(at least 3) to ensure continuous service.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b="1" dirty="0"/>
              <a:t>Master-Slave Architecture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One node is elected as </a:t>
            </a:r>
            <a:r>
              <a:rPr lang="en-US" b="1" dirty="0"/>
              <a:t>master</a:t>
            </a:r>
            <a:r>
              <a:rPr lang="en-US" dirty="0"/>
              <a:t>, others are </a:t>
            </a:r>
            <a:r>
              <a:rPr lang="en-US" b="1" dirty="0"/>
              <a:t>slaves</a:t>
            </a:r>
            <a:r>
              <a:rPr lang="en-US" dirty="0"/>
              <a:t>. Writes go to the master, reads can be</a:t>
            </a:r>
          </a:p>
          <a:p>
            <a:pPr marL="0" indent="0">
              <a:buNone/>
            </a:pPr>
            <a:r>
              <a:rPr lang="en-US" dirty="0"/>
              <a:t>served by any node.</a:t>
            </a:r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b="1" dirty="0"/>
              <a:t>Automatic Failover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If the master node fails, </a:t>
            </a:r>
            <a:r>
              <a:rPr lang="en-US" b="1" dirty="0"/>
              <a:t>another node is automatically elected </a:t>
            </a:r>
            <a:r>
              <a:rPr lang="en-US" dirty="0"/>
              <a:t>as the new master.</a:t>
            </a:r>
          </a:p>
          <a:p>
            <a:pPr marL="0" indent="0">
              <a:buNone/>
            </a:pPr>
            <a:r>
              <a:rPr lang="en-US" dirty="0"/>
              <a:t>4. </a:t>
            </a:r>
            <a:r>
              <a:rPr lang="en-US" b="1" dirty="0"/>
              <a:t>Data Replication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Changes made on the master are </a:t>
            </a:r>
            <a:r>
              <a:rPr lang="en-US" b="1" dirty="0"/>
              <a:t>replicated </a:t>
            </a:r>
            <a:r>
              <a:rPr lang="en-US" dirty="0"/>
              <a:t>to all slaves.</a:t>
            </a:r>
          </a:p>
          <a:p>
            <a:pPr marL="0" indent="0">
              <a:buNone/>
            </a:pPr>
            <a:r>
              <a:rPr lang="en-US" dirty="0"/>
              <a:t>5. </a:t>
            </a:r>
            <a:r>
              <a:rPr lang="en-US" b="1" dirty="0"/>
              <a:t>Zookeeper for Coordination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Neo4j 1.7 uses </a:t>
            </a:r>
            <a:r>
              <a:rPr lang="en-US" b="1" dirty="0"/>
              <a:t>Zookeeper (coordinator) </a:t>
            </a:r>
            <a:r>
              <a:rPr lang="en-US" dirty="0"/>
              <a:t>to manage leader election and cluster</a:t>
            </a:r>
          </a:p>
          <a:p>
            <a:pPr marL="0" indent="0">
              <a:buNone/>
            </a:pPr>
            <a:r>
              <a:rPr lang="en-US" dirty="0"/>
              <a:t>communication.</a:t>
            </a:r>
          </a:p>
          <a:p>
            <a:pPr marL="0" indent="0">
              <a:buNone/>
            </a:pPr>
            <a:r>
              <a:rPr lang="fr-FR" dirty="0"/>
              <a:t>6. </a:t>
            </a:r>
            <a:r>
              <a:rPr lang="fr-FR" b="1" dirty="0"/>
              <a:t>HA </a:t>
            </a:r>
            <a:r>
              <a:rPr lang="fr-FR" b="1" dirty="0" err="1"/>
              <a:t>Ensures</a:t>
            </a:r>
            <a:r>
              <a:rPr lang="fr-FR" b="1" dirty="0"/>
              <a:t> </a:t>
            </a:r>
            <a:r>
              <a:rPr lang="fr-FR" b="1" dirty="0" err="1"/>
              <a:t>Fault</a:t>
            </a:r>
            <a:r>
              <a:rPr lang="fr-FR" b="1" dirty="0"/>
              <a:t> </a:t>
            </a:r>
            <a:r>
              <a:rPr lang="fr-FR" b="1" dirty="0" err="1"/>
              <a:t>Tolerance</a:t>
            </a:r>
            <a:r>
              <a:rPr lang="fr-FR" dirty="0"/>
              <a:t>:</a:t>
            </a:r>
          </a:p>
          <a:p>
            <a:pPr marL="0" indent="0">
              <a:buNone/>
            </a:pPr>
            <a:r>
              <a:rPr lang="en-US" dirty="0"/>
              <a:t>Even if one or two nodes fail, the database stays available.</a:t>
            </a:r>
          </a:p>
          <a:p>
            <a:pPr marL="0" indent="0">
              <a:buNone/>
            </a:pPr>
            <a:r>
              <a:rPr lang="en-US" dirty="0"/>
              <a:t>7. </a:t>
            </a:r>
            <a:r>
              <a:rPr lang="en-US" b="1" dirty="0"/>
              <a:t>Scalable Reads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Since read requests can go to slaves, it helps with </a:t>
            </a:r>
            <a:r>
              <a:rPr lang="en-US" b="1" dirty="0"/>
              <a:t>load balancing and scaling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8. </a:t>
            </a:r>
            <a:r>
              <a:rPr lang="en-US" b="1" dirty="0"/>
              <a:t>Backup Support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You can take </a:t>
            </a:r>
            <a:r>
              <a:rPr lang="en-US" b="1" dirty="0"/>
              <a:t>full and incremental backups </a:t>
            </a:r>
            <a:r>
              <a:rPr lang="en-US" dirty="0"/>
              <a:t>from the HA cluster safely.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89631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766" y="0"/>
            <a:ext cx="10515600" cy="896983"/>
          </a:xfrm>
        </p:spPr>
        <p:txBody>
          <a:bodyPr/>
          <a:lstStyle/>
          <a:p>
            <a:r>
              <a:rPr lang="en-US" b="1" dirty="0"/>
              <a:t>Neo4j’s Strengths: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96983"/>
            <a:ext cx="10515600" cy="582603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en-US" b="1" dirty="0"/>
              <a:t>Flexible Data Model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b="1" dirty="0" err="1" smtClean="0"/>
              <a:t>Typeless</a:t>
            </a:r>
            <a:r>
              <a:rPr lang="en-US" b="1" dirty="0" smtClean="0"/>
              <a:t> </a:t>
            </a:r>
            <a:r>
              <a:rPr lang="en-US" b="1" dirty="0"/>
              <a:t>and </a:t>
            </a:r>
            <a:r>
              <a:rPr lang="en-US" b="1" dirty="0" err="1"/>
              <a:t>schemaless</a:t>
            </a:r>
            <a:r>
              <a:rPr lang="en-US" dirty="0"/>
              <a:t>, ideal for unstructured data.</a:t>
            </a:r>
          </a:p>
          <a:p>
            <a:pPr marL="0" indent="0">
              <a:buNone/>
            </a:pPr>
            <a:r>
              <a:rPr lang="en-US" dirty="0" smtClean="0"/>
              <a:t>No </a:t>
            </a:r>
            <a:r>
              <a:rPr lang="en-US" dirty="0"/>
              <a:t>constraints on how data is related — fully dynamic relationships.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b="1" dirty="0"/>
              <a:t>Massive Scale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 smtClean="0"/>
              <a:t>Supports </a:t>
            </a:r>
            <a:r>
              <a:rPr lang="en-US" dirty="0"/>
              <a:t>up to </a:t>
            </a:r>
            <a:r>
              <a:rPr lang="en-US" b="1" dirty="0"/>
              <a:t>34.4 billion nodes and relationships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b="1" dirty="0"/>
              <a:t>Fast Traversals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 smtClean="0"/>
              <a:t>Graph </a:t>
            </a:r>
            <a:r>
              <a:rPr lang="en-US" dirty="0"/>
              <a:t>traversals are </a:t>
            </a:r>
            <a:r>
              <a:rPr lang="en-US" b="1" dirty="0"/>
              <a:t>constant time</a:t>
            </a:r>
            <a:r>
              <a:rPr lang="en-US" dirty="0"/>
              <a:t>, unlike joins in RDBMS or </a:t>
            </a:r>
            <a:r>
              <a:rPr lang="en-US" dirty="0" err="1"/>
              <a:t>MapReduce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4. </a:t>
            </a:r>
            <a:r>
              <a:rPr lang="en-US" b="1" dirty="0"/>
              <a:t>Useful Tools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Built-in </a:t>
            </a:r>
            <a:r>
              <a:rPr lang="en-US" b="1" dirty="0" err="1"/>
              <a:t>Lucene</a:t>
            </a:r>
            <a:r>
              <a:rPr lang="en-US" b="1" dirty="0"/>
              <a:t> indexing</a:t>
            </a:r>
            <a:r>
              <a:rPr lang="en-US" dirty="0"/>
              <a:t>, </a:t>
            </a:r>
            <a:r>
              <a:rPr lang="en-US" b="1" dirty="0"/>
              <a:t>REST API</a:t>
            </a:r>
            <a:r>
              <a:rPr lang="en-US" dirty="0"/>
              <a:t>, and Gremlin </a:t>
            </a:r>
            <a:r>
              <a:rPr lang="en-US" dirty="0" smtClean="0"/>
              <a:t>support.</a:t>
            </a:r>
          </a:p>
          <a:p>
            <a:pPr marL="0" indent="0">
              <a:buNone/>
            </a:pPr>
            <a:r>
              <a:rPr lang="en-US" dirty="0" smtClean="0"/>
              <a:t>5</a:t>
            </a:r>
            <a:r>
              <a:rPr lang="en-US" dirty="0"/>
              <a:t>. </a:t>
            </a:r>
            <a:r>
              <a:rPr lang="en-US" b="1" dirty="0"/>
              <a:t>Efficient Relationship Navigation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If two nodes are related, jumping from one to the other is always </a:t>
            </a:r>
            <a:r>
              <a:rPr lang="en-US" b="1" dirty="0"/>
              <a:t>one </a:t>
            </a:r>
            <a:r>
              <a:rPr lang="en-US" b="1" dirty="0" smtClean="0"/>
              <a:t>step</a:t>
            </a:r>
            <a:r>
              <a:rPr lang="en-US" dirty="0" smtClean="0"/>
              <a:t>, regardless </a:t>
            </a:r>
            <a:r>
              <a:rPr lang="en-US" dirty="0"/>
              <a:t>of graph size.</a:t>
            </a:r>
          </a:p>
          <a:p>
            <a:pPr marL="0" indent="0">
              <a:buNone/>
            </a:pPr>
            <a:r>
              <a:rPr lang="en-US" dirty="0"/>
              <a:t>6. </a:t>
            </a:r>
            <a:r>
              <a:rPr lang="en-US" b="1" dirty="0"/>
              <a:t>High Availability Support </a:t>
            </a:r>
            <a:r>
              <a:rPr lang="en-US" dirty="0"/>
              <a:t>(Enterprise Edition</a:t>
            </a:r>
            <a:r>
              <a:rPr lang="en-US" dirty="0" smtClean="0"/>
              <a:t>):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Ideal for </a:t>
            </a:r>
            <a:r>
              <a:rPr lang="en-US" b="1" dirty="0"/>
              <a:t>read-heavy applications </a:t>
            </a:r>
            <a:r>
              <a:rPr lang="en-US" dirty="0"/>
              <a:t>with </a:t>
            </a:r>
            <a:r>
              <a:rPr lang="en-US" b="1" dirty="0"/>
              <a:t>failover and replication</a:t>
            </a:r>
            <a:r>
              <a:rPr lang="en-US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50614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Neo4j’s Weaknesses: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en-US" b="1" dirty="0"/>
              <a:t>No Self-Loops in Edges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A node cannot have a direct relationship to itself.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b="1" dirty="0"/>
              <a:t>Confusing Terminology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 smtClean="0"/>
              <a:t>Uses </a:t>
            </a:r>
            <a:r>
              <a:rPr lang="en-US" b="1" dirty="0"/>
              <a:t>"node" and "relationship" </a:t>
            </a:r>
            <a:r>
              <a:rPr lang="en-US" dirty="0"/>
              <a:t>instead of standard graph terms like vertex and</a:t>
            </a:r>
          </a:p>
          <a:p>
            <a:pPr marL="0" indent="0">
              <a:buNone/>
            </a:pPr>
            <a:r>
              <a:rPr lang="en-US" dirty="0"/>
              <a:t>edge.</a:t>
            </a:r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b="1" dirty="0"/>
              <a:t>Replication Only (No </a:t>
            </a:r>
            <a:r>
              <a:rPr lang="en-US" b="1" dirty="0" err="1"/>
              <a:t>Sharding</a:t>
            </a:r>
            <a:r>
              <a:rPr lang="en-US" b="1" dirty="0"/>
              <a:t>)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HA supports </a:t>
            </a:r>
            <a:r>
              <a:rPr lang="en-US" b="1" dirty="0"/>
              <a:t>only full graph replication</a:t>
            </a:r>
            <a:r>
              <a:rPr lang="en-US" dirty="0"/>
              <a:t>, </a:t>
            </a:r>
            <a:r>
              <a:rPr lang="en-US" b="1" dirty="0"/>
              <a:t>no subgraph </a:t>
            </a:r>
            <a:r>
              <a:rPr lang="en-US" b="1" dirty="0" err="1"/>
              <a:t>sharding</a:t>
            </a:r>
            <a:r>
              <a:rPr lang="en-US" dirty="0"/>
              <a:t>, limiting scalability.</a:t>
            </a:r>
          </a:p>
          <a:p>
            <a:pPr marL="0" indent="0">
              <a:buNone/>
            </a:pPr>
            <a:r>
              <a:rPr lang="en-US" dirty="0"/>
              <a:t>4. </a:t>
            </a:r>
            <a:r>
              <a:rPr lang="en-US" b="1" dirty="0"/>
              <a:t>Licensing Restrictions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 smtClean="0"/>
              <a:t>Community </a:t>
            </a:r>
            <a:r>
              <a:rPr lang="en-US" dirty="0"/>
              <a:t>Edition is </a:t>
            </a:r>
            <a:r>
              <a:rPr lang="en-US" b="1" dirty="0"/>
              <a:t>GPL</a:t>
            </a:r>
            <a:r>
              <a:rPr lang="en-US" dirty="0"/>
              <a:t>, Enterprise Edition requires a </a:t>
            </a:r>
            <a:r>
              <a:rPr lang="en-US" b="1" dirty="0"/>
              <a:t>paid license </a:t>
            </a:r>
            <a:r>
              <a:rPr lang="en-US" dirty="0"/>
              <a:t>for </a:t>
            </a:r>
            <a:r>
              <a:rPr lang="en-US"/>
              <a:t>features </a:t>
            </a:r>
            <a:r>
              <a:rPr lang="en-US" smtClean="0"/>
              <a:t>like HA </a:t>
            </a:r>
            <a:r>
              <a:rPr lang="en-US" dirty="0"/>
              <a:t>and backups.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745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1266</TotalTime>
  <Words>3195</Words>
  <Application>Microsoft Office PowerPoint</Application>
  <PresentationFormat>Widescreen</PresentationFormat>
  <Paragraphs>525</Paragraphs>
  <Slides>71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7" baseType="lpstr">
      <vt:lpstr>Arial</vt:lpstr>
      <vt:lpstr>Calibri</vt:lpstr>
      <vt:lpstr>Calibri Light</vt:lpstr>
      <vt:lpstr>Google Sans</vt:lpstr>
      <vt:lpstr>Times New Roman</vt:lpstr>
      <vt:lpstr>Office Theme</vt:lpstr>
      <vt:lpstr>MODULE 4</vt:lpstr>
      <vt:lpstr>Apache TinkerPop</vt:lpstr>
      <vt:lpstr>Gremlin (The Query Language)</vt:lpstr>
      <vt:lpstr>Groovy (The Scripting Language)</vt:lpstr>
      <vt:lpstr>PowerPoint Presentation</vt:lpstr>
      <vt:lpstr>Basic Commands</vt:lpstr>
      <vt:lpstr>Create Graph</vt:lpstr>
      <vt:lpstr>Create Traversal Object</vt:lpstr>
      <vt:lpstr>Create Nodes (Vertices)  </vt:lpstr>
      <vt:lpstr>Create relationship(Edge)  </vt:lpstr>
      <vt:lpstr>PowerPoint Presentation</vt:lpstr>
      <vt:lpstr>Display Vertices</vt:lpstr>
      <vt:lpstr>Specific Node</vt:lpstr>
      <vt:lpstr>Delete</vt:lpstr>
      <vt:lpstr>PowerPoint Presentation</vt:lpstr>
      <vt:lpstr>The Social Network Exercise </vt:lpstr>
      <vt:lpstr>Gremlin (Groovy)</vt:lpstr>
      <vt:lpstr>PowerPoint Presentation</vt:lpstr>
      <vt:lpstr>Display Sam</vt:lpstr>
      <vt:lpstr>Update Sam's Age</vt:lpstr>
      <vt:lpstr>See Sam's Friends</vt:lpstr>
      <vt:lpstr>Remove the 'city' property from Sam</vt:lpstr>
      <vt:lpstr>Delete the "friends" link between Sam and Alex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Pipes</vt:lpstr>
      <vt:lpstr>PowerPoint Presentation</vt:lpstr>
      <vt:lpstr>PowerPoint Presentation</vt:lpstr>
      <vt:lpstr>PowerPoint Presentation</vt:lpstr>
      <vt:lpstr>Schemaless Graph</vt:lpstr>
      <vt:lpstr>Schemaless Graph</vt:lpstr>
      <vt:lpstr>Schemaless Graph</vt:lpstr>
      <vt:lpstr>Domain-Specific Step</vt:lpstr>
      <vt:lpstr>Update Delete</vt:lpstr>
      <vt:lpstr>Update Delete</vt:lpstr>
      <vt:lpstr>PowerPoint Presentation</vt:lpstr>
      <vt:lpstr>PowerPoint Presentation</vt:lpstr>
      <vt:lpstr>Types of Indexing</vt:lpstr>
      <vt:lpstr>Types of Indexing</vt:lpstr>
      <vt:lpstr>Types of Indexing</vt:lpstr>
      <vt:lpstr>Types of Indexing</vt:lpstr>
      <vt:lpstr>Types of Indexing</vt:lpstr>
      <vt:lpstr>Path Finding in Neo4j</vt:lpstr>
      <vt:lpstr>Path Finding in Neo4j</vt:lpstr>
      <vt:lpstr>Path Finding in Neo4j?</vt:lpstr>
      <vt:lpstr>Neo4j High Availability (HA)</vt:lpstr>
      <vt:lpstr>Neo4j High Availability (HA)</vt:lpstr>
      <vt:lpstr>Neo4j High Availability (HA)</vt:lpstr>
      <vt:lpstr>Server setup and cluster configuration commands for Neo4j HA</vt:lpstr>
      <vt:lpstr>Server setup and cluster configuration commands for Neo4j HA</vt:lpstr>
      <vt:lpstr>Server setup and cluster configuration commands for Neo4j HA</vt:lpstr>
      <vt:lpstr>Transactional Modes in Gremlin</vt:lpstr>
      <vt:lpstr>Transactional Modes in Gremlin</vt:lpstr>
      <vt:lpstr>Transactional Modes in Gremlin</vt:lpstr>
      <vt:lpstr>Neo4j and CAP Theorem</vt:lpstr>
      <vt:lpstr>Neo4j and CAP Theorem</vt:lpstr>
      <vt:lpstr>Neo4j and CAP Theorem</vt:lpstr>
      <vt:lpstr>Key Points of Neo4j High Availability (HA):</vt:lpstr>
      <vt:lpstr>Neo4j’s Strengths:</vt:lpstr>
      <vt:lpstr>Neo4j’s Weaknesses: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</dc:title>
  <dc:creator>Admin</dc:creator>
  <cp:lastModifiedBy>Sandhya</cp:lastModifiedBy>
  <cp:revision>81</cp:revision>
  <dcterms:created xsi:type="dcterms:W3CDTF">2026-04-21T07:05:19Z</dcterms:created>
  <dcterms:modified xsi:type="dcterms:W3CDTF">2026-05-01T11:47:26Z</dcterms:modified>
</cp:coreProperties>
</file>