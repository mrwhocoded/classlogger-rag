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0" r:id="rId4"/>
    <p:sldId id="292" r:id="rId5"/>
    <p:sldId id="293" r:id="rId6"/>
    <p:sldId id="312" r:id="rId7"/>
    <p:sldId id="294" r:id="rId8"/>
    <p:sldId id="295" r:id="rId9"/>
    <p:sldId id="296" r:id="rId10"/>
    <p:sldId id="297" r:id="rId11"/>
    <p:sldId id="313" r:id="rId12"/>
    <p:sldId id="298" r:id="rId13"/>
    <p:sldId id="299" r:id="rId14"/>
    <p:sldId id="301" r:id="rId15"/>
    <p:sldId id="303" r:id="rId16"/>
    <p:sldId id="304" r:id="rId17"/>
    <p:sldId id="305" r:id="rId18"/>
    <p:sldId id="306" r:id="rId19"/>
    <p:sldId id="302" r:id="rId20"/>
    <p:sldId id="307" r:id="rId21"/>
    <p:sldId id="309" r:id="rId22"/>
    <p:sldId id="310" r:id="rId23"/>
    <p:sldId id="311" r:id="rId24"/>
    <p:sldId id="257" r:id="rId25"/>
    <p:sldId id="287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BC33-4DB4-0411-540F-363791842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4A8D1-5C80-E62B-F234-ED9888B41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14293-319F-901D-7A7A-DF5E12FC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A735-AC8A-78C3-5887-72C4EE60E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29C73-84D8-E01D-DEA0-E7C6E55D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50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CC6A-F477-B7C5-9F5E-7DA2EAF8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ED84-0979-9EB3-720E-D0F3EC9CC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E980E-A124-7D0E-C2AB-990EAA02F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2D335-EDE7-9FAC-6FB9-5510526C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5E1B-B3F1-2735-59DA-1AAA89D3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1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1357-EF9C-EDC0-4F41-50B741D4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7F714-B02E-489A-14ED-F1CB16A64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1C2CE-1933-2E2E-20D9-33BFE9C6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08774-004B-7822-339F-30137C27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997CD-6CBE-FA5F-E0B1-07B65760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60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9BE0-9218-AD49-2374-C2648BF4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D8DD-9624-8ABB-073F-357730E72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DA1AD-7F64-F25F-1842-8AEF45E77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36877-B5E2-985A-EA6F-925C1FCC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26F74-5FFE-E295-3819-631FCD10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69D02-3A06-3931-84B0-89743DA8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58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51F8-FEC8-98EB-2D83-25848D9A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A5E7F-FDA0-5117-F689-07151BEA9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68CE1-EB54-5427-68AF-FDE58ACB0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C2D3B-F7E0-A6F4-03E4-B480FEE96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31CBA-4E21-E0B5-70BA-7EBC857E9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CA513-8EE7-E7FB-8945-00CF0B4D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E6408-933C-9614-4F66-3D2DD078E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E7C55-CEFD-0822-87DC-1DB6999A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52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D01E-4814-0C57-8645-1F01D663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0EDA8-6F29-6BE1-B048-8D7D667E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3950A-E018-B66E-F017-E25FF65A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9C6F7-E42F-2AF1-F2D3-6718D9D2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77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8C03D-64DF-CFD7-3ACF-C30E73C8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9BB76-8D00-221E-9C74-7919753F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1BB95-F67F-CF0F-FFAC-CD19B2AE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102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9AD3-79B6-96DE-CAA7-FF1F0719B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1FD68-EFA0-348A-3C80-84CE34C8E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E22BE-3CB0-23DF-EA69-F1A1ED653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CFB1A-C3FC-DC56-2072-502FB3E5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7E580-FBF0-8DCE-286B-F373F9186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59F74-1D73-A335-F457-63EC912D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576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0991C-BB33-3F10-687E-35E6D841E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78110E-DA00-907D-880B-13BDD5FCD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11200-9709-9A23-B734-26397667C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07D8D-E30F-7878-E3CD-9EE01AAD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1DA50-BD8F-7840-8EA5-B434473E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93111-52C0-C942-AFF5-14CF3142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69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8F02D-74FD-4E37-13C5-8D2C843B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62FDE-FF05-E82F-F6C5-CEAEECD0A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B3D4-0276-286B-78F6-21374B4B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CF7C2-713B-12C1-37BD-83DD8685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2D202-A5CF-4570-D8AA-A578B4E12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74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A759F-0D69-7205-0AB0-649CC5939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3E2B1-5F75-A7CB-FB2A-47BA026F8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FADF6-BEC3-38FB-9BBD-72B602B3C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C68FD-9E60-39BD-F581-7E815E58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0E28C-92D4-A095-4D75-F293B020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42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0DFB35-B525-5387-1B8F-6C447F58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F53B7-D746-0855-3CEB-EC1C1F43E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E062D-0B19-FE07-840C-EF82DEAB2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4D7D7-5E14-4DF2-8DB9-7C7604AD9D8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0186A-B9F5-056D-FAB9-AF7DDB261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4DA9B-19F5-B2EE-67D9-E03BA4354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9ACE2-5C02-4926-AEBD-64FAD2CDA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1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F80AC-BF74-4429-03C9-4F8A7E236A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UNIT-4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Neo4j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112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3C93-4804-918C-CF76-8D67CDC7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908786-B168-B0E7-3989-08ACC3595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741" y="0"/>
            <a:ext cx="10949940" cy="6858000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Neo4j is the world's leading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open source Graph Database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which is developed using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 technology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It is highly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scalable and schema free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(NoSQL).</a:t>
            </a:r>
          </a:p>
          <a:p>
            <a:pPr algn="l">
              <a:lnSpc>
                <a:spcPct val="210000"/>
              </a:lnSpc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What is a Graph Database?</a:t>
            </a:r>
          </a:p>
          <a:p>
            <a:pPr marL="342900" indent="-342900" algn="l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 graph is a 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pictorial representation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of a set of objects where some pairs of 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objects are connected by links.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It is composed of two elements - nodes (vertices) and relationships (edges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).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 algn="l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Graph database is a database used to 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model the data in the form of graph.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In here, the 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nodes of a graph depict the entities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 while the 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relationships depict the association of these nodes.</a:t>
            </a:r>
            <a:endParaRPr lang="en-IN" b="1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86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962C-83C6-5421-8A17-09789367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7F5D8E-DD1E-AC00-BE7D-64BA80168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327" y="130347"/>
            <a:ext cx="10892790" cy="6159617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210000"/>
              </a:lnSpc>
              <a:buNone/>
            </a:pPr>
            <a:r>
              <a:rPr lang="en-US" b="1" i="0" dirty="0">
                <a:effectLst/>
                <a:latin typeface="Verdana" panose="020B0604030504040204" pitchFamily="34" charset="0"/>
              </a:rPr>
              <a:t>Why Graph Databases?</a:t>
            </a:r>
          </a:p>
          <a:p>
            <a:pPr algn="l">
              <a:lnSpc>
                <a:spcPct val="2100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Nowadays, most of the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data exists in the form of the relationship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between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different objects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and more often, the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relationship between the data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is more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valuable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than the data itself.</a:t>
            </a:r>
          </a:p>
          <a:p>
            <a:pPr algn="l">
              <a:lnSpc>
                <a:spcPct val="210000"/>
              </a:lnSpc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Relational databases store highly structured data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which have several records storing the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same type of data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so they can be used to store structured data and, they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do not store the relationships between the data.</a:t>
            </a:r>
          </a:p>
          <a:p>
            <a:pPr algn="l">
              <a:lnSpc>
                <a:spcPct val="2100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Unlike other databases, graph databases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store relationships and connections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 first-class entities.</a:t>
            </a:r>
          </a:p>
          <a:p>
            <a:pPr algn="l">
              <a:lnSpc>
                <a:spcPct val="21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data model for graph databases is simpler compared to other databases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and, they can be used with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OLTP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systems. They provide features like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transactional integrity and operational availability.</a:t>
            </a:r>
          </a:p>
        </p:txBody>
      </p:sp>
    </p:spTree>
    <p:extLst>
      <p:ext uri="{BB962C8B-B14F-4D97-AF65-F5344CB8AC3E}">
        <p14:creationId xmlns:p14="http://schemas.microsoft.com/office/powerpoint/2010/main" val="343809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D08C-E333-483E-422E-60D8DD2B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F8733F-C570-8BA8-5D18-260EB60D7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881" y="914400"/>
            <a:ext cx="9549631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F5CD-504C-94BD-9775-1EE8228A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9929BB-0CB3-89BE-B774-6A2BEEA17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776" y="84051"/>
            <a:ext cx="10949940" cy="5703570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en-US" sz="1600" b="1" i="0" dirty="0">
                <a:effectLst/>
                <a:latin typeface="Verdana" panose="020B0604030504040204" pitchFamily="34" charset="0"/>
              </a:rPr>
              <a:t>Advantages of </a:t>
            </a:r>
            <a:r>
              <a:rPr lang="en-US" sz="1600" b="1" i="0" dirty="0" smtClean="0">
                <a:effectLst/>
                <a:latin typeface="Verdana" panose="020B0604030504040204" pitchFamily="34" charset="0"/>
              </a:rPr>
              <a:t>Neo4J</a:t>
            </a:r>
            <a:endParaRPr lang="en-US" sz="1600" b="0" i="0" dirty="0"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Flexible data model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Neo4j provides a flexible simple and yet powerful data model, which can be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easily changed according to the applications and industries.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Real-time insights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Neo4j provides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results based on real-time data.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High availability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Neo4j is highly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available for large enterprise real-time applications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with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transactional guarantees.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Connected and semi structures data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Using Neo4j, you can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easily represent connected and semi-structured data</a:t>
            </a:r>
            <a:r>
              <a:rPr lang="en-US" sz="18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sz="1800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6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F5CD-504C-94BD-9775-1EE8228A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9929BB-0CB3-89BE-B774-6A2BEEA17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776" y="84051"/>
            <a:ext cx="10949940" cy="5703570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en-US" sz="1600" b="1" i="0" dirty="0">
                <a:effectLst/>
                <a:latin typeface="Verdana" panose="020B0604030504040204" pitchFamily="34" charset="0"/>
              </a:rPr>
              <a:t>Advantages of </a:t>
            </a:r>
            <a:r>
              <a:rPr lang="en-US" sz="1600" b="1" i="0" dirty="0" smtClean="0">
                <a:effectLst/>
                <a:latin typeface="Verdana" panose="020B0604030504040204" pitchFamily="34" charset="0"/>
              </a:rPr>
              <a:t>Neo4J</a:t>
            </a:r>
            <a:endParaRPr lang="en-US" sz="1600" b="0" i="0" dirty="0"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Easy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retrieval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Using Neo4j, you can not only represent but also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easily retrieve (traverse/navigate) connected data faster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compared to other databases.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Cypher query language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Neo4j provides a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declarative query language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represent the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graph visually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using an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ascii-art syntax.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commands of this language are in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human readable format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and very easy to learn.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 joins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Using Neo4j, it does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NOT require complex joins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retrieve connected/related data as it is very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easy to retrieve its adjacent node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or relationship details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without joins or indexes.</a:t>
            </a:r>
          </a:p>
        </p:txBody>
      </p:sp>
    </p:spTree>
    <p:extLst>
      <p:ext uri="{BB962C8B-B14F-4D97-AF65-F5344CB8AC3E}">
        <p14:creationId xmlns:p14="http://schemas.microsoft.com/office/powerpoint/2010/main" val="1278605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9963-F58E-A0E0-9359-1DA493B8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09BE2A-F247-280D-41D1-33ACAA002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472" y="0"/>
            <a:ext cx="11155680" cy="638175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IN" sz="20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Features 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of </a:t>
            </a:r>
            <a:r>
              <a:rPr lang="en-IN" sz="20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Neo4j</a:t>
            </a:r>
            <a:endParaRPr lang="en-US" sz="2000" b="1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Data model (flexible schema) −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Neo4j follows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data model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named native property graph model.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Here, the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graph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contains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nodes (entities)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and these nodes are connected with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each other (depicted by relationships). Nodes and relationships store data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key-value pairs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known as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properties</a:t>
            </a:r>
            <a:r>
              <a:rPr lang="en-US" sz="18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sz="1800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Neo4j, there is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 need to follow a fixed schema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You can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add or remove properties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per requirement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It also provides schema constraints</a:t>
            </a:r>
            <a:r>
              <a:rPr lang="en-US" sz="1800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ACID properties −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Neo4j supports full ACID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(Atomicity, Consistency, Isolation, and Durability) rules</a:t>
            </a:r>
            <a:r>
              <a:rPr lang="en-US" sz="1800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Scalability and reliability − You can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scale the database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by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increasing the number of reads/writes,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and the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volume without effecting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query processing speed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and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data integrity.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Neo4j also provides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support for replication for data safety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124082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5C83-A763-4CE9-EAE2-636F68B3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569632F-0B35-6B1D-EA14-392000E12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417" y="222250"/>
            <a:ext cx="11155680" cy="6326332"/>
          </a:xfrm>
        </p:spPr>
        <p:txBody>
          <a:bodyPr>
            <a:noAutofit/>
          </a:bodyPr>
          <a:lstStyle/>
          <a:p>
            <a:pPr algn="l">
              <a:lnSpc>
                <a:spcPts val="2250"/>
              </a:lnSpc>
            </a:pPr>
            <a:endParaRPr lang="en-IN" sz="3600" b="1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pPr algn="l">
              <a:lnSpc>
                <a:spcPts val="2250"/>
              </a:lnSpc>
            </a:pPr>
            <a:r>
              <a:rPr lang="en-IN" sz="3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Features of </a:t>
            </a:r>
            <a:r>
              <a:rPr lang="en-IN" sz="36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Neo4j</a:t>
            </a:r>
            <a:endParaRPr lang="en-US" sz="1600" b="0" i="0" dirty="0">
              <a:effectLst/>
              <a:latin typeface="Verdana" panose="020B0604030504040204" pitchFamily="34" charset="0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Cypher Query Language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Neo4j provides a powerful declarative query language known as Cypher. It uses ASCII-art for depicting graphs. Cypher is easy to learn and can be used to create and retrieve relations between data without using the complex queries like Joins</a:t>
            </a:r>
            <a:r>
              <a:rPr lang="en-US" sz="2000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Built-in web application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Neo4j provides a built-in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Neo4j Browser web application.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Using this, you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can create and query your graph data</a:t>
            </a:r>
            <a:r>
              <a:rPr lang="en-US" sz="20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sz="2000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Drivers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 Neo4j can work with </a:t>
            </a:r>
            <a:r>
              <a:rPr lang="en-US" sz="2000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−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20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REST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API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work with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programming languages such as Java, Spring, Scala etc.</a:t>
            </a:r>
          </a:p>
          <a:p>
            <a:pPr algn="l"/>
            <a:endParaRPr lang="en-US" sz="12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533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EEEC7-25C3-CE3A-65CE-90E34673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5990E5-44ED-8ACD-2379-35ECA694E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890" y="453159"/>
            <a:ext cx="11155680" cy="5897880"/>
          </a:xfrm>
        </p:spPr>
        <p:txBody>
          <a:bodyPr>
            <a:noAutofit/>
          </a:bodyPr>
          <a:lstStyle/>
          <a:p>
            <a:pPr algn="l">
              <a:lnSpc>
                <a:spcPts val="2250"/>
              </a:lnSpc>
            </a:pPr>
            <a:endParaRPr lang="en-IN" sz="3600" b="1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lnSpc>
                <a:spcPts val="2250"/>
              </a:lnSpc>
            </a:pPr>
            <a:r>
              <a:rPr lang="en-IN" sz="3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Features of Neo4j</a:t>
            </a: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Java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Script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work with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UI MVC frameworks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such as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Node JS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b="1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It supports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two kinds of Java API: Cypher API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Native Java API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develop Java applications.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In addition to these, you can also work with other databases such as MongoDB, Cassandra, etc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Indexing − Neo4j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supports Indexes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by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using Apache Lucence.</a:t>
            </a:r>
          </a:p>
        </p:txBody>
      </p:sp>
    </p:spTree>
    <p:extLst>
      <p:ext uri="{BB962C8B-B14F-4D97-AF65-F5344CB8AC3E}">
        <p14:creationId xmlns:p14="http://schemas.microsoft.com/office/powerpoint/2010/main" val="153593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09D6-57F7-4EBE-14D5-B8C8FEAE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4DE26A-6D6B-D782-5A74-1C0FCBBB1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890" y="461818"/>
            <a:ext cx="11155680" cy="6064712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key features of Property Graph Model 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model represents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data in Nodes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Relationships and Properties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Properties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are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key-value pairs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Nodes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are represented using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circle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and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Relationships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are represented using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arrow </a:t>
            </a:r>
            <a:r>
              <a:rPr lang="en-US" sz="28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keys</a:t>
            </a:r>
            <a:endParaRPr lang="en-US" sz="2800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543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09D6-57F7-4EBE-14D5-B8C8FEAE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4DE26A-6D6B-D782-5A74-1C0FCBBB1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126" y="286327"/>
            <a:ext cx="11155680" cy="6064712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key features of Property Graph Model 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Relationships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have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directions: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Unidirectional and Bidirectional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Each Relationship contains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"Start Node"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or "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From Node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 and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"To Node"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or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"End Node"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Both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Nodes and Relationships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contain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properties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Relationships connects nodes</a:t>
            </a:r>
          </a:p>
        </p:txBody>
      </p:sp>
    </p:spTree>
    <p:extLst>
      <p:ext uri="{BB962C8B-B14F-4D97-AF65-F5344CB8AC3E}">
        <p14:creationId xmlns:p14="http://schemas.microsoft.com/office/powerpoint/2010/main" val="3778730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4F8FE-0AB8-0F25-419B-453EA97DE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5C100E-699D-E83D-1E28-F39D4FBE1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890" y="628650"/>
            <a:ext cx="11155680" cy="5897880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Neo4j</a:t>
            </a:r>
            <a:r>
              <a:rPr lang="en-US" sz="28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uses </a:t>
            </a:r>
            <a:r>
              <a:rPr lang="en-US" sz="2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Native GPE </a:t>
            </a:r>
            <a:r>
              <a:rPr lang="en-US" sz="28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(Graph Processing Engine) to work with its </a:t>
            </a:r>
            <a:r>
              <a:rPr lang="en-US" sz="2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Native graph storage format</a:t>
            </a:r>
            <a:r>
              <a:rPr lang="en-US" sz="2800" b="1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sz="28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lnSpc>
                <a:spcPct val="200000"/>
              </a:lnSpc>
            </a:pPr>
            <a:r>
              <a:rPr lang="en-US" sz="28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main building blocks of Graph DB Data Model are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Nodes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Relationships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Properties</a:t>
            </a:r>
          </a:p>
        </p:txBody>
      </p:sp>
    </p:spTree>
    <p:extLst>
      <p:ext uri="{BB962C8B-B14F-4D97-AF65-F5344CB8AC3E}">
        <p14:creationId xmlns:p14="http://schemas.microsoft.com/office/powerpoint/2010/main" val="608556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C1D08-7BF1-1A83-01EA-215F7FCF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2F18B8-D6FB-C89B-E844-98B8FDB19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834" y="542630"/>
            <a:ext cx="9518332" cy="577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25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96B0C-AF2B-ABB8-CFEF-4C39F798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508FE2-DAE8-215E-06D4-72C6DA92F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455712"/>
            <a:ext cx="9757410" cy="594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7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CDD71-D5C0-14C5-2344-E1CD96F68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60B69-F14E-1CAB-7733-B3570A9F0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70" y="737676"/>
            <a:ext cx="11356911" cy="30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18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246E-4B1E-C29E-017F-3BE413E3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1A20B-0709-FAD0-98F4-255A31CC9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504825"/>
            <a:ext cx="9039225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27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98D3A-75A1-D8D8-D84C-C42A0858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69BFB-0C1E-F6ED-E5B5-55A20B79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64" y="0"/>
            <a:ext cx="83472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01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1B3DB-60AE-2238-6BEC-F52F1C7B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2A75EF-5726-47F2-933C-18D1451BB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31" y="691661"/>
            <a:ext cx="10595988" cy="464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13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C4D1C-B4FF-7A80-E55E-45BE56C3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D8F52C-C277-0FB3-D239-866A24158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890" y="628650"/>
            <a:ext cx="11155680" cy="5897880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CQL</a:t>
            </a:r>
            <a:r>
              <a:rPr lang="en-US" sz="28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stands for Cypher Query Language. Like Oracle Database has query language SQL, Neo4j has </a:t>
            </a:r>
            <a:r>
              <a:rPr lang="en-US" sz="280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CQL</a:t>
            </a:r>
            <a:r>
              <a:rPr lang="en-US" sz="28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as query language.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1A9EC-8B5F-4AB8-84CB-38AD57CE1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88" y="2267902"/>
            <a:ext cx="9519630" cy="35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05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9BDE-84D0-14FD-2BC1-1C2C0433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379BE6-6372-1D09-10C9-8EF9ADCEC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98" y="617220"/>
            <a:ext cx="10306260" cy="506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77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735EE-1822-0823-1EAC-D712D189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B93A30-D43E-0D63-4952-32CD8C76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" y="528637"/>
            <a:ext cx="9582150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52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49096-9CF0-CE8D-C2FB-D5B3F8642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D141CE-8E64-028A-CDDD-DDB680A7D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0" y="1028700"/>
            <a:ext cx="1048164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75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FD579-6AB9-BD8E-1534-69CB52E4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4EA747-8F4A-8AF3-03DB-07B1E1DB4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37" y="323850"/>
            <a:ext cx="9153525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43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5393D-EF7D-EC80-A68D-AB6FBA35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07492-69FF-FB42-8915-7112BEE6B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" y="119062"/>
            <a:ext cx="10556094" cy="2558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F83324-610D-EC05-3261-63EAAABBF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17" y="2566988"/>
            <a:ext cx="70580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318E-A782-B9E6-5A6A-3E13540DD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A25EC2-6556-B007-F3F9-A1AB292EE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693472"/>
            <a:ext cx="5479875" cy="3112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57BD6-305C-CBDF-7919-5049B5F4B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869" y="693472"/>
            <a:ext cx="3919201" cy="5604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2DF400-206C-A537-29B3-F58A8606C1DB}"/>
              </a:ext>
            </a:extLst>
          </p:cNvPr>
          <p:cNvSpPr txBox="1"/>
          <p:nvPr/>
        </p:nvSpPr>
        <p:spPr>
          <a:xfrm>
            <a:off x="590102" y="3806190"/>
            <a:ext cx="59266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the details provided, ex. Name, phone no, email id, location are represented as nodes.</a:t>
            </a:r>
          </a:p>
          <a:p>
            <a:endParaRPr lang="en-US" dirty="0"/>
          </a:p>
          <a:p>
            <a:r>
              <a:rPr lang="en-US" dirty="0"/>
              <a:t>This creates billions of nodes.</a:t>
            </a:r>
          </a:p>
          <a:p>
            <a:endParaRPr lang="en-US" dirty="0"/>
          </a:p>
          <a:p>
            <a:r>
              <a:rPr lang="en-US" dirty="0"/>
              <a:t>Graph database looks like </a:t>
            </a:r>
            <a:r>
              <a:rPr lang="en-US" dirty="0" smtClean="0"/>
              <a:t>above</a:t>
            </a:r>
          </a:p>
          <a:p>
            <a:endParaRPr lang="en-US" dirty="0"/>
          </a:p>
          <a:p>
            <a:r>
              <a:rPr lang="en-US" dirty="0" smtClean="0"/>
              <a:t>“</a:t>
            </a:r>
            <a:r>
              <a:rPr lang="en-US" dirty="0"/>
              <a:t>Walking the graph” means:</a:t>
            </a:r>
          </a:p>
          <a:p>
            <a:r>
              <a:rPr lang="en-US" smtClean="0"/>
              <a:t> </a:t>
            </a:r>
            <a:r>
              <a:rPr lang="en-US" dirty="0"/>
              <a:t>Moving from one node to another through relationships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796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401C7-4B8C-4849-60F2-BC5F311A9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9C3AD6-40E9-7DB9-5BAA-FA2F0F0B7E06}"/>
              </a:ext>
            </a:extLst>
          </p:cNvPr>
          <p:cNvSpPr txBox="1"/>
          <p:nvPr/>
        </p:nvSpPr>
        <p:spPr>
          <a:xfrm>
            <a:off x="568643" y="261104"/>
            <a:ext cx="6097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859900"/>
                </a:solidFill>
                <a:effectLst/>
              </a:rPr>
              <a:t>To see </a:t>
            </a:r>
            <a:r>
              <a:rPr lang="en-IN" dirty="0">
                <a:solidFill>
                  <a:srgbClr val="859900"/>
                </a:solidFill>
              </a:rPr>
              <a:t>all nodes in a relationship</a:t>
            </a:r>
            <a:endParaRPr lang="en-IN" dirty="0">
              <a:solidFill>
                <a:srgbClr val="859900"/>
              </a:solidFill>
              <a:effectLst/>
            </a:endParaRPr>
          </a:p>
          <a:p>
            <a:endParaRPr lang="en-IN" dirty="0">
              <a:solidFill>
                <a:srgbClr val="859900"/>
              </a:solidFill>
            </a:endParaRPr>
          </a:p>
          <a:p>
            <a:r>
              <a:rPr lang="en-IN" dirty="0">
                <a:solidFill>
                  <a:srgbClr val="859900"/>
                </a:solidFill>
                <a:effectLst/>
              </a:rPr>
              <a:t>Neo4j$ </a:t>
            </a:r>
            <a:r>
              <a:rPr lang="en-US" dirty="0">
                <a:solidFill>
                  <a:srgbClr val="859900"/>
                </a:solidFill>
                <a:effectLst/>
              </a:rPr>
              <a:t>MATCH</a:t>
            </a:r>
            <a:r>
              <a:rPr lang="en-US" dirty="0">
                <a:solidFill>
                  <a:srgbClr val="333333"/>
                </a:solidFill>
                <a:effectLst/>
              </a:rPr>
              <a:t> </a:t>
            </a:r>
            <a:r>
              <a:rPr lang="en-US" dirty="0">
                <a:solidFill>
                  <a:srgbClr val="586E75"/>
                </a:solidFill>
                <a:effectLst/>
              </a:rPr>
              <a:t>(</a:t>
            </a:r>
            <a:r>
              <a:rPr lang="en-US" dirty="0">
                <a:solidFill>
                  <a:srgbClr val="333333"/>
                </a:solidFill>
                <a:effectLst/>
              </a:rPr>
              <a:t>n</a:t>
            </a:r>
            <a:r>
              <a:rPr lang="en-US" dirty="0">
                <a:solidFill>
                  <a:srgbClr val="586E75"/>
                </a:solidFill>
                <a:effectLst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</a:rPr>
              <a:t> </a:t>
            </a:r>
            <a:r>
              <a:rPr lang="en-US" dirty="0">
                <a:solidFill>
                  <a:srgbClr val="859900"/>
                </a:solidFill>
                <a:effectLst/>
              </a:rPr>
              <a:t>RETURN</a:t>
            </a:r>
            <a:r>
              <a:rPr lang="en-US" dirty="0">
                <a:solidFill>
                  <a:srgbClr val="333333"/>
                </a:solidFill>
                <a:effectLst/>
              </a:rPr>
              <a:t> n </a:t>
            </a:r>
            <a:r>
              <a:rPr lang="en-US" dirty="0">
                <a:solidFill>
                  <a:srgbClr val="859900"/>
                </a:solidFill>
                <a:effectLst/>
              </a:rPr>
              <a:t>LIMIT</a:t>
            </a:r>
            <a:r>
              <a:rPr lang="en-US" dirty="0">
                <a:solidFill>
                  <a:srgbClr val="333333"/>
                </a:solidFill>
                <a:effectLst/>
              </a:rPr>
              <a:t> </a:t>
            </a:r>
            <a:r>
              <a:rPr lang="en-US" dirty="0">
                <a:solidFill>
                  <a:srgbClr val="2AA198"/>
                </a:solidFill>
                <a:effectLst/>
              </a:rPr>
              <a:t>100</a:t>
            </a:r>
            <a:endParaRPr lang="en-US" dirty="0">
              <a:solidFill>
                <a:srgbClr val="000000"/>
              </a:solidFill>
              <a:effectLst/>
            </a:endParaRPr>
          </a:p>
          <a:p>
            <a:endParaRPr lang="en-IN" dirty="0">
              <a:solidFill>
                <a:srgbClr val="000000"/>
              </a:solidFill>
              <a:effectLst/>
            </a:endParaRPr>
          </a:p>
          <a:p>
            <a:endParaRPr lang="en-IN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D3A00-5286-8C1B-98B0-C013EA19F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10" y="1454242"/>
            <a:ext cx="3934777" cy="476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33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1929C-B4B6-A7A5-FFCE-01C89371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5138F7-FA56-AA79-0BD6-DA4E1B9CB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3" y="788669"/>
            <a:ext cx="10500547" cy="51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77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9137-B3F6-7768-3701-6E051C42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4320F2-F6A1-D132-92E5-70296040C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10" y="321945"/>
            <a:ext cx="9145958" cy="4503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4D2E65-1DA2-B5CC-A865-B6F6202E0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25731"/>
            <a:ext cx="100203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0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A75A-26A0-8F46-3FB2-6E9BCE0F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21FCB3-18F0-BA22-2218-FC07B517E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8637"/>
            <a:ext cx="7564696" cy="62778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A629F1-5092-4DBD-8AD9-AAAA839DB9E3}"/>
              </a:ext>
            </a:extLst>
          </p:cNvPr>
          <p:cNvSpPr txBox="1"/>
          <p:nvPr/>
        </p:nvSpPr>
        <p:spPr>
          <a:xfrm>
            <a:off x="8446770" y="480060"/>
            <a:ext cx="34291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Nodes represent the data entity in the graph. </a:t>
            </a:r>
          </a:p>
          <a:p>
            <a:endParaRPr lang="en-US" b="1" dirty="0"/>
          </a:p>
          <a:p>
            <a:r>
              <a:rPr lang="en-US" b="1" dirty="0"/>
              <a:t>The graph contains with four nodes.</a:t>
            </a:r>
          </a:p>
          <a:p>
            <a:endParaRPr lang="en-US" b="1" dirty="0"/>
          </a:p>
          <a:p>
            <a:r>
              <a:rPr lang="en-US" b="1" dirty="0"/>
              <a:t>To depict nodes in Cypher, we surround the node with parentheses.</a:t>
            </a:r>
          </a:p>
          <a:p>
            <a:endParaRPr lang="en-US" b="1" dirty="0"/>
          </a:p>
          <a:p>
            <a:r>
              <a:rPr lang="en-US" b="1" dirty="0"/>
              <a:t>Ex. (node)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907559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1845D-8DB5-CA7A-7DE8-08CBB47A2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01B7DD5-FA79-C023-836A-4583DFAB8A50}"/>
              </a:ext>
            </a:extLst>
          </p:cNvPr>
          <p:cNvSpPr txBox="1"/>
          <p:nvPr/>
        </p:nvSpPr>
        <p:spPr>
          <a:xfrm>
            <a:off x="228600" y="502920"/>
            <a:ext cx="110185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3200" dirty="0"/>
              <a:t>Two key concepts in the property graph data model:</a:t>
            </a:r>
          </a:p>
          <a:p>
            <a:endParaRPr lang="en-US" sz="3200" dirty="0"/>
          </a:p>
          <a:p>
            <a:pPr marL="342900" indent="-342900">
              <a:buAutoNum type="arabicPeriod"/>
            </a:pPr>
            <a:r>
              <a:rPr lang="en-US" sz="3200" dirty="0"/>
              <a:t>Node Variables: These are placeholders used to refer to nodes later in </a:t>
            </a:r>
            <a:r>
              <a:rPr lang="en-US" sz="3200" dirty="0" err="1"/>
              <a:t>queries.Example</a:t>
            </a:r>
            <a:r>
              <a:rPr lang="en-US" sz="3200" dirty="0"/>
              <a:t>: (p) could stand for a person, (t) for a thing.</a:t>
            </a:r>
          </a:p>
          <a:p>
            <a:pPr marL="342900" indent="-342900">
              <a:buAutoNum type="arabicPeriod"/>
            </a:pPr>
            <a:endParaRPr lang="en-US" sz="3200" dirty="0"/>
          </a:p>
          <a:p>
            <a:pPr marL="342900" indent="-342900">
              <a:buAutoNum type="arabicPeriod"/>
            </a:pPr>
            <a:r>
              <a:rPr lang="en-US" sz="3200" dirty="0"/>
              <a:t>Node Labels: These are used to group similar nodes by type.  Labels act like tags (e.g., :Person, :Book) and help filter or create specific types of entities in a graph database.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11977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1868-7303-A1DB-DBCE-799DBACA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D8A57D-1C5A-FF20-60FC-74D936393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289560"/>
            <a:ext cx="10623176" cy="1504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5FBDE9-2BD6-D426-C160-FFA98134A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510" y="2125027"/>
            <a:ext cx="6861810" cy="425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11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B9F85-3E2C-0C63-5956-C63596D3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9060D4-22BC-A7E9-CFEE-830BFCFB7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22" y="54768"/>
            <a:ext cx="11178655" cy="219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B87370-182F-FE09-FDA3-86C8186C4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22" y="2055494"/>
            <a:ext cx="9487550" cy="1007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94AFAE-1C4C-8B83-5BE3-F6999B2F3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980" y="2926557"/>
            <a:ext cx="80391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13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470D-5E5C-638F-8437-1F609C071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3F859C-5372-25B6-4777-168A682A5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05" y="548640"/>
            <a:ext cx="10780646" cy="456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154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C65D9-617F-A018-7EB6-ACDE3407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FAC044-C025-04CE-3EF2-84E24392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24" y="764811"/>
            <a:ext cx="11240352" cy="951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3FEBEA-D1C5-B072-2483-9FD76F5B6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25" y="2434590"/>
            <a:ext cx="10885596" cy="7995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F521FF-B88F-1A0A-FF2C-F7FD5BE0E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24" y="3786558"/>
            <a:ext cx="10857620" cy="533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6F9C7E-CE10-D68E-5D2F-75F64D7B7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14" y="5272865"/>
            <a:ext cx="10756229" cy="46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68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92FA14-92FA-CDFC-4974-06024246C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24" y="765810"/>
            <a:ext cx="11282351" cy="490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B603E6-151A-0E66-1BD7-6F306F1D5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2533650"/>
            <a:ext cx="109918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23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8B20-ECAE-0B3C-4A15-C93F5994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6DC5E1-6A7F-4AC3-7B91-98C859A2A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428595"/>
            <a:ext cx="11324783" cy="50006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8AF425-2DAC-8BED-97E7-A3B2B781C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5429251"/>
            <a:ext cx="7886700" cy="139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05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D16B6-69F2-D053-C960-13FED00FF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77AA45-B47F-36E9-6657-670311CEF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" y="328612"/>
            <a:ext cx="11123061" cy="323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43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1012</Words>
  <Application>Microsoft Office PowerPoint</Application>
  <PresentationFormat>Widescreen</PresentationFormat>
  <Paragraphs>72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Lato</vt:lpstr>
      <vt:lpstr>Verdana</vt:lpstr>
      <vt:lpstr>Office Theme</vt:lpstr>
      <vt:lpstr>UNIT-4  Neo4j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UNIT-4  NEXT GEN DATABASES </dc:title>
  <dc:creator>MANJUNATH S</dc:creator>
  <cp:lastModifiedBy>Sandhya</cp:lastModifiedBy>
  <cp:revision>36</cp:revision>
  <dcterms:created xsi:type="dcterms:W3CDTF">2025-05-01T12:24:10Z</dcterms:created>
  <dcterms:modified xsi:type="dcterms:W3CDTF">2026-05-01T11:37:58Z</dcterms:modified>
</cp:coreProperties>
</file>