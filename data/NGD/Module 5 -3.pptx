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7"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8" d="100"/>
          <a:sy n="88" d="100"/>
        </p:scale>
        <p:origin x="49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77CCE5D-EB6B-41FA-A74F-026C18B2D658}"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1A3D8D-6928-4677-AB8D-A8C8FFD1FDD1}" type="slidenum">
              <a:rPr lang="en-US" smtClean="0"/>
              <a:t>‹#›</a:t>
            </a:fld>
            <a:endParaRPr lang="en-US"/>
          </a:p>
        </p:txBody>
      </p:sp>
    </p:spTree>
    <p:extLst>
      <p:ext uri="{BB962C8B-B14F-4D97-AF65-F5344CB8AC3E}">
        <p14:creationId xmlns:p14="http://schemas.microsoft.com/office/powerpoint/2010/main" val="39995038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77CCE5D-EB6B-41FA-A74F-026C18B2D658}"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1A3D8D-6928-4677-AB8D-A8C8FFD1FDD1}" type="slidenum">
              <a:rPr lang="en-US" smtClean="0"/>
              <a:t>‹#›</a:t>
            </a:fld>
            <a:endParaRPr lang="en-US"/>
          </a:p>
        </p:txBody>
      </p:sp>
    </p:spTree>
    <p:extLst>
      <p:ext uri="{BB962C8B-B14F-4D97-AF65-F5344CB8AC3E}">
        <p14:creationId xmlns:p14="http://schemas.microsoft.com/office/powerpoint/2010/main" val="15691682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77CCE5D-EB6B-41FA-A74F-026C18B2D658}"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1A3D8D-6928-4677-AB8D-A8C8FFD1FDD1}" type="slidenum">
              <a:rPr lang="en-US" smtClean="0"/>
              <a:t>‹#›</a:t>
            </a:fld>
            <a:endParaRPr lang="en-US"/>
          </a:p>
        </p:txBody>
      </p:sp>
    </p:spTree>
    <p:extLst>
      <p:ext uri="{BB962C8B-B14F-4D97-AF65-F5344CB8AC3E}">
        <p14:creationId xmlns:p14="http://schemas.microsoft.com/office/powerpoint/2010/main" val="1175379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77CCE5D-EB6B-41FA-A74F-026C18B2D658}" type="datetimeFigureOut">
              <a:rPr lang="en-US" smtClean="0"/>
              <a:t>5/3/2026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1A3D8D-6928-4677-AB8D-A8C8FFD1FDD1}" type="slidenum">
              <a:rPr lang="en-US" smtClean="0"/>
              <a:t>‹#›</a:t>
            </a:fld>
            <a:endParaRPr lang="en-US"/>
          </a:p>
        </p:txBody>
      </p:sp>
    </p:spTree>
    <p:extLst>
      <p:ext uri="{BB962C8B-B14F-4D97-AF65-F5344CB8AC3E}">
        <p14:creationId xmlns:p14="http://schemas.microsoft.com/office/powerpoint/2010/main" val="31634669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77CCE5D-EB6B-41FA-A74F-026C18B2D658}" type="datetimeFigureOut">
              <a:rPr lang="en-US" smtClean="0"/>
              <a:t>5/3/2026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51A3D8D-6928-4677-AB8D-A8C8FFD1FDD1}" type="slidenum">
              <a:rPr lang="en-US" smtClean="0"/>
              <a:t>‹#›</a:t>
            </a:fld>
            <a:endParaRPr lang="en-US"/>
          </a:p>
        </p:txBody>
      </p:sp>
    </p:spTree>
    <p:extLst>
      <p:ext uri="{BB962C8B-B14F-4D97-AF65-F5344CB8AC3E}">
        <p14:creationId xmlns:p14="http://schemas.microsoft.com/office/powerpoint/2010/main" val="13855060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77CCE5D-EB6B-41FA-A74F-026C18B2D658}" type="datetimeFigureOut">
              <a:rPr lang="en-US" smtClean="0"/>
              <a:t>5/3/2026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51A3D8D-6928-4677-AB8D-A8C8FFD1FDD1}" type="slidenum">
              <a:rPr lang="en-US" smtClean="0"/>
              <a:t>‹#›</a:t>
            </a:fld>
            <a:endParaRPr lang="en-US"/>
          </a:p>
        </p:txBody>
      </p:sp>
    </p:spTree>
    <p:extLst>
      <p:ext uri="{BB962C8B-B14F-4D97-AF65-F5344CB8AC3E}">
        <p14:creationId xmlns:p14="http://schemas.microsoft.com/office/powerpoint/2010/main" val="32616999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7CCE5D-EB6B-41FA-A74F-026C18B2D658}" type="datetimeFigureOut">
              <a:rPr lang="en-US" smtClean="0"/>
              <a:t>5/3/2026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51A3D8D-6928-4677-AB8D-A8C8FFD1FDD1}" type="slidenum">
              <a:rPr lang="en-US" smtClean="0"/>
              <a:t>‹#›</a:t>
            </a:fld>
            <a:endParaRPr lang="en-US"/>
          </a:p>
        </p:txBody>
      </p:sp>
    </p:spTree>
    <p:extLst>
      <p:ext uri="{BB962C8B-B14F-4D97-AF65-F5344CB8AC3E}">
        <p14:creationId xmlns:p14="http://schemas.microsoft.com/office/powerpoint/2010/main" val="12543573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77CCE5D-EB6B-41FA-A74F-026C18B2D658}" type="datetimeFigureOut">
              <a:rPr lang="en-US" smtClean="0"/>
              <a:t>5/3/2026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1A3D8D-6928-4677-AB8D-A8C8FFD1FDD1}" type="slidenum">
              <a:rPr lang="en-US" smtClean="0"/>
              <a:t>‹#›</a:t>
            </a:fld>
            <a:endParaRPr lang="en-US"/>
          </a:p>
        </p:txBody>
      </p:sp>
    </p:spTree>
    <p:extLst>
      <p:ext uri="{BB962C8B-B14F-4D97-AF65-F5344CB8AC3E}">
        <p14:creationId xmlns:p14="http://schemas.microsoft.com/office/powerpoint/2010/main" val="15333769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77CCE5D-EB6B-41FA-A74F-026C18B2D658}" type="datetimeFigureOut">
              <a:rPr lang="en-US" smtClean="0"/>
              <a:t>5/3/2026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1A3D8D-6928-4677-AB8D-A8C8FFD1FDD1}" type="slidenum">
              <a:rPr lang="en-US" smtClean="0"/>
              <a:t>‹#›</a:t>
            </a:fld>
            <a:endParaRPr lang="en-US"/>
          </a:p>
        </p:txBody>
      </p:sp>
    </p:spTree>
    <p:extLst>
      <p:ext uri="{BB962C8B-B14F-4D97-AF65-F5344CB8AC3E}">
        <p14:creationId xmlns:p14="http://schemas.microsoft.com/office/powerpoint/2010/main" val="39235104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77CCE5D-EB6B-41FA-A74F-026C18B2D658}"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1A3D8D-6928-4677-AB8D-A8C8FFD1FDD1}" type="slidenum">
              <a:rPr lang="en-US" smtClean="0"/>
              <a:t>‹#›</a:t>
            </a:fld>
            <a:endParaRPr lang="en-US"/>
          </a:p>
        </p:txBody>
      </p:sp>
    </p:spTree>
    <p:extLst>
      <p:ext uri="{BB962C8B-B14F-4D97-AF65-F5344CB8AC3E}">
        <p14:creationId xmlns:p14="http://schemas.microsoft.com/office/powerpoint/2010/main" val="25905790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77CCE5D-EB6B-41FA-A74F-026C18B2D658}" type="datetimeFigureOut">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1A3D8D-6928-4677-AB8D-A8C8FFD1FDD1}" type="slidenum">
              <a:rPr lang="en-US" smtClean="0"/>
              <a:t>‹#›</a:t>
            </a:fld>
            <a:endParaRPr lang="en-US"/>
          </a:p>
        </p:txBody>
      </p:sp>
    </p:spTree>
    <p:extLst>
      <p:ext uri="{BB962C8B-B14F-4D97-AF65-F5344CB8AC3E}">
        <p14:creationId xmlns:p14="http://schemas.microsoft.com/office/powerpoint/2010/main" val="31028195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7CCE5D-EB6B-41FA-A74F-026C18B2D658}" type="datetimeFigureOut">
              <a:rPr lang="en-US" smtClean="0"/>
              <a:t>5/3/2026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1A3D8D-6928-4677-AB8D-A8C8FFD1FDD1}" type="slidenum">
              <a:rPr lang="en-US" smtClean="0"/>
              <a:t>‹#›</a:t>
            </a:fld>
            <a:endParaRPr lang="en-US"/>
          </a:p>
        </p:txBody>
      </p:sp>
    </p:spTree>
    <p:extLst>
      <p:ext uri="{BB962C8B-B14F-4D97-AF65-F5344CB8AC3E}">
        <p14:creationId xmlns:p14="http://schemas.microsoft.com/office/powerpoint/2010/main" val="18532896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Module 5 -3 </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3585172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In-Memory Databases and SSDs</a:t>
            </a:r>
            <a:endParaRPr lang="en-US" dirty="0"/>
          </a:p>
        </p:txBody>
      </p:sp>
      <p:sp>
        <p:nvSpPr>
          <p:cNvPr id="3" name="Content Placeholder 2"/>
          <p:cNvSpPr>
            <a:spLocks noGrp="1"/>
          </p:cNvSpPr>
          <p:nvPr>
            <p:ph idx="1"/>
          </p:nvPr>
        </p:nvSpPr>
        <p:spPr/>
        <p:txBody>
          <a:bodyPr/>
          <a:lstStyle/>
          <a:p>
            <a:pPr marL="514350" indent="-514350">
              <a:buAutoNum type="arabicPeriod"/>
            </a:pPr>
            <a:r>
              <a:rPr lang="en-US" b="1" dirty="0" smtClean="0"/>
              <a:t>In-Memory </a:t>
            </a:r>
            <a:r>
              <a:rPr lang="en-US" b="1" dirty="0"/>
              <a:t>Databases </a:t>
            </a:r>
            <a:endParaRPr lang="en-US" b="1" dirty="0" smtClean="0"/>
          </a:p>
          <a:p>
            <a:pPr marL="0" indent="0">
              <a:buNone/>
            </a:pPr>
            <a:r>
              <a:rPr lang="en-US" dirty="0" smtClean="0"/>
              <a:t>This </a:t>
            </a:r>
            <a:r>
              <a:rPr lang="en-US" dirty="0"/>
              <a:t>is where the active processing happens (e.g., </a:t>
            </a:r>
            <a:r>
              <a:rPr lang="en-US" b="1" dirty="0" err="1"/>
              <a:t>Redis</a:t>
            </a:r>
            <a:r>
              <a:rPr lang="en-US" dirty="0"/>
              <a:t>, </a:t>
            </a:r>
            <a:r>
              <a:rPr lang="en-US" b="1" dirty="0"/>
              <a:t>SAP HANA</a:t>
            </a:r>
            <a:r>
              <a:rPr lang="en-US" dirty="0"/>
              <a:t>, </a:t>
            </a:r>
            <a:r>
              <a:rPr lang="en-US" b="1" dirty="0"/>
              <a:t>Spark</a:t>
            </a:r>
            <a:r>
              <a:rPr lang="en-US" dirty="0"/>
              <a:t>).</a:t>
            </a:r>
          </a:p>
          <a:p>
            <a:r>
              <a:rPr lang="en-US" b="1" dirty="0"/>
              <a:t>Speed:</a:t>
            </a:r>
            <a:r>
              <a:rPr lang="en-US" dirty="0"/>
              <a:t> Data is stored in RAM, which is thousands of times faster than any disk.</a:t>
            </a:r>
          </a:p>
          <a:p>
            <a:r>
              <a:rPr lang="en-US" b="1" dirty="0"/>
              <a:t>Latency:</a:t>
            </a:r>
            <a:r>
              <a:rPr lang="en-US" dirty="0"/>
              <a:t> It provides sub-millisecond response times because there is no "mechanical" seek time.</a:t>
            </a:r>
          </a:p>
          <a:p>
            <a:r>
              <a:rPr lang="en-US" b="1" dirty="0"/>
              <a:t>The Catch:</a:t>
            </a:r>
            <a:r>
              <a:rPr lang="en-US" dirty="0"/>
              <a:t> RAM is </a:t>
            </a:r>
            <a:r>
              <a:rPr lang="en-US" b="1" dirty="0"/>
              <a:t>volatile</a:t>
            </a:r>
            <a:r>
              <a:rPr lang="en-US" dirty="0"/>
              <a:t> (data vanishes if the power cuts) and </a:t>
            </a:r>
            <a:r>
              <a:rPr lang="en-US" b="1" dirty="0"/>
              <a:t>expensive</a:t>
            </a:r>
            <a:r>
              <a:rPr lang="en-US" dirty="0"/>
              <a:t>. You can't store everything here.</a:t>
            </a:r>
          </a:p>
          <a:p>
            <a:pPr marL="0" indent="0">
              <a:buNone/>
            </a:pPr>
            <a:endParaRPr lang="en-US" dirty="0"/>
          </a:p>
        </p:txBody>
      </p:sp>
    </p:spTree>
    <p:extLst>
      <p:ext uri="{BB962C8B-B14F-4D97-AF65-F5344CB8AC3E}">
        <p14:creationId xmlns:p14="http://schemas.microsoft.com/office/powerpoint/2010/main" val="11602028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In-Memory Databases and SSDs</a:t>
            </a:r>
            <a:endParaRPr lang="en-US" dirty="0"/>
          </a:p>
        </p:txBody>
      </p:sp>
      <p:sp>
        <p:nvSpPr>
          <p:cNvPr id="3" name="Content Placeholder 2"/>
          <p:cNvSpPr>
            <a:spLocks noGrp="1"/>
          </p:cNvSpPr>
          <p:nvPr>
            <p:ph idx="1"/>
          </p:nvPr>
        </p:nvSpPr>
        <p:spPr>
          <a:xfrm>
            <a:off x="838200" y="1410790"/>
            <a:ext cx="10515600" cy="5233850"/>
          </a:xfrm>
        </p:spPr>
        <p:txBody>
          <a:bodyPr>
            <a:normAutofit fontScale="92500" lnSpcReduction="10000"/>
          </a:bodyPr>
          <a:lstStyle/>
          <a:p>
            <a:pPr marL="0" indent="0">
              <a:buNone/>
            </a:pPr>
            <a:r>
              <a:rPr lang="en-US" b="1" dirty="0" smtClean="0"/>
              <a:t>2. SSDs </a:t>
            </a:r>
          </a:p>
          <a:p>
            <a:pPr marL="0" indent="0">
              <a:buNone/>
            </a:pPr>
            <a:r>
              <a:rPr lang="en-US" b="1" dirty="0" smtClean="0"/>
              <a:t>SSDs (Solid State Drives) </a:t>
            </a:r>
            <a:r>
              <a:rPr lang="en-US" dirty="0" smtClean="0"/>
              <a:t>bridge the gap between volatile RAM and slow traditional hard drives.</a:t>
            </a:r>
          </a:p>
          <a:p>
            <a:pPr marL="0" indent="0">
              <a:buNone/>
            </a:pPr>
            <a:r>
              <a:rPr lang="en-US" b="1" dirty="0" smtClean="0"/>
              <a:t>Persistence (The Safety Net): </a:t>
            </a:r>
            <a:r>
              <a:rPr lang="en-US" dirty="0" smtClean="0"/>
              <a:t> In </a:t>
            </a:r>
            <a:r>
              <a:rPr lang="en-US" dirty="0" err="1" smtClean="0"/>
              <a:t>Redis</a:t>
            </a:r>
            <a:r>
              <a:rPr lang="en-US" dirty="0" smtClean="0"/>
              <a:t> and HANA, every </a:t>
            </a:r>
            <a:r>
              <a:rPr lang="en-US" dirty="0" smtClean="0"/>
              <a:t>"Write" is logged to an SSD.  If the system crashes, the database reads the logs from the SSD to rebuild the memory state.</a:t>
            </a:r>
          </a:p>
          <a:p>
            <a:pPr marL="0" indent="0">
              <a:buNone/>
            </a:pPr>
            <a:r>
              <a:rPr lang="en-US" b="1" dirty="0" smtClean="0"/>
              <a:t>Spilling (The Overflow): </a:t>
            </a:r>
            <a:r>
              <a:rPr lang="en-US" dirty="0" smtClean="0"/>
              <a:t>In Spark, if a dataset is too large for the RAM, it "spills" the extra data onto the SSD. Because modern </a:t>
            </a:r>
            <a:r>
              <a:rPr lang="en-US" dirty="0" err="1" smtClean="0"/>
              <a:t>NVMe</a:t>
            </a:r>
            <a:r>
              <a:rPr lang="en-US" dirty="0" smtClean="0"/>
              <a:t> SSDs are very fast, the system keeps running without crashing.</a:t>
            </a:r>
          </a:p>
          <a:p>
            <a:pPr marL="0" indent="0">
              <a:buNone/>
            </a:pPr>
            <a:r>
              <a:rPr lang="en-US" b="1" dirty="0" smtClean="0"/>
              <a:t>Warm Storage: </a:t>
            </a:r>
            <a:r>
              <a:rPr lang="en-US" dirty="0" smtClean="0"/>
              <a:t>Not all data is used every second. Databases move "Warm" data (accessed once an hour) to the SSD, keeping only "Hot" data (accessed every second) in RAM. This saves money while maintaining high performance.</a:t>
            </a:r>
            <a:endParaRPr lang="en-US" dirty="0"/>
          </a:p>
        </p:txBody>
      </p:sp>
    </p:spTree>
    <p:extLst>
      <p:ext uri="{BB962C8B-B14F-4D97-AF65-F5344CB8AC3E}">
        <p14:creationId xmlns:p14="http://schemas.microsoft.com/office/powerpoint/2010/main" val="1396603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6" descr="data:image/png;base64,iVBORw0KGgoAAAANSUhEUgAAAekAAAJaCAYAAAALeL/RAAAQAElEQVR4AeydB4BdRdXH/+e9bekJJYQSEjooJRRp0gUEFKRJV4MgIDYUparAJ4gKSLOgojQB6agUpXek995CLyGN1C3v3e/8ztu7WcJGd7Mlu8m87Mn0MzNn5s5/zszcuYUs/ZIEkgSSBJIEkgSSBHqlBApKvySBJIEkgSSBJIEkgV4pgb4J0r1SlKlQSQJJAkkCSQJJAl0rgQTSXSvPxC1JIEkgSSBJIEmgyySQQLrLRPk/GaUISQJJAkkCSQJJAh2SQALpDokrRU4SSBJIEkgSSBLoOQkkkO45WffNnFKpkwSSBJIEkgTmmwQSSM830aeMkwSSBJIEkgSSBP67BBJI/3f5pNC+KYFU6iSBJIEkgQVCAgmkF4hmTJVIEkgSSBJIElgQJZBAekFs1VSnvimBVOokgSSBJIE5JJBAeg6B9IQzy7LIplwuC3tutra39sO/NZGY8NxsbGwUNHPmTE2cOFGvv/66Hn/8cf3nP//Rvffeq/vuuy/sN998s6655hpdffXVuvbaa8P+t7/9TZdccokuvfRSXXzxxbrsssv097//PcIxIdLdf//9wQdeDz30kJ577jm98847mjBhgmbMmBH5l0olUS7KStlwY+ZuTMJzP9ytqampKeRBOPFywp0oSSBJIElgYZRAAun50OoAE9kWCoUAJUwACX8zIygINxYzk1mFAL7p06frxRdfFMB55ZVX6owzztBPf/pTnXDCCfrtb38bQAs4P/XUU3rhhReCnn766QDVWbNmCR6AOjR8+HCNGjVKSy65pJZddlkNGzZMgD3xGhoahPn+++/rmWeeCXr++ef12GOPCeAG1P/0pz/pF7/4hf7v//4v8r7hhhv06KOP6r333ou65XVoXY/Wduqdu6uqqqKelA9/5AIRnqjXSiAVLEkgSaAbJZBAuhuF+99YA0SEmxlGgBPAVF9fH9rwK6+8ogcffDC03Ysuuii03auuukr/+te/dPfdd+vDDz+MdKuttpq+9KUv6etf/7q+9a1v6Rvf+IYOPPBA7b///vra176mr3zlK9p3333D3G+//bTXXntp1113Ddp999215ZZbaoMNNtCmm26qTTbZRNtss4323HPPIMK//OUva++99w5+8PzqV78afLFDY8eOjbzx//znPx9Aj0b87LPP6pZbbtE//vGPqAOa+vnnnx/uRx55RG+//bamTp0qJgIAOXXHhMxMgDN2/JV+SQJJAkkCC6kEEkjPh4Y3MxWLRfED0NBcx40bp7vuuksXXHCBTj75ZLEM/fLLLwfobbHFFtpuu+20884764tf/KK23XZbffazn9VGG22k1VdfXSussIJWXHFFjRw5UksssYQWWWQR9e/fXzU1NUI7ra6uDhPgM7PIGzsk/xEnL4874w+AhIgDmVkAJ3b4Dho0SIsttphGjBih0aNHa6WVVtLKK6+sNdZYQ+uvv7622morAdpMIHbaaaco8+abby4098d9KR7t/7TTToul94cfflivvfaamKCo+WdmMXFp7dcclIwkgc5LIHFIEugjEkggPR8aCvBjHxdtGW2TfWL2ft98880AvAMOOECHHHJIaLtrr722ll566ViGBiBJa2axZI2WiUYOYQfwqQ5ulrKhPD4gjJ04aK/EIQ2U++NHejOLvWXcEHFyf0zi4w/l/FrnRRzCiIedci+66KJabrnlAsDR7L/73e/GhIMJBaDNMjkrBTfeeGMA9rRp06IM/fr1g0WiJIEkgSSBhVICCaQ70OyAFQT45DRncvyJg39rO9oye8QA0l//+tfQmLEPGDBAG2+8sQ499NBYkkZLXnXVVUNLBaAAODODXezxwhvCH09MNGFMiDD8AWUIe+ty4IdmTVz8CScN/vhhxx87ZGah0eIHER8yq/gTB36kJxxwhgdxMHFjx4TMLDT8ZZZZRkxA0LaZlIwdOzZWBgYOHCg0aw6zsczPkj9L4/CA4Ek+2HMzt+dhc/MnXqIkgT4sgVT0hVAChYWwzvNcZQAJykHAzIIX4IMFfzOLZWE0TJZqWcZGSz733HPjANerr76qrbfeWt/85je12267BTBxcAugIz1AMzciXM0/7K2JNLibgwPQcUN5WG7P3XlczNZ+re2kgYiD2Ra1jk+8nMwq8iFN7pfbMc0q4WYmJiss17Mvzp74wQcfrM997nPi0Bra9e9+9ztdf/31+uijj2LSgHzNKunJ38xC7mYVP9qkLX+lX5JAkkCSQB+SQALpDjQWS7pEB6gBAAgwyLVIgIdwTOLymtN5550XB6QAH/aUIfZyiceyM7yIjx2/hZmYqFB/JjfIFW17++23F4fXVlllFb311ltxgpyDc4Tn8keGpEPm+JlZ7LsjVzX/8G+2JiNJIEmgJyWQ8uqUBBJId0B8LCsz8EMAg1lFa8MNTZ48ObTlf//73+LVKA5xsYy9xx57aK211goNkHiAOoACP8ADwOEwVgeK0qejIoO2CJlQMeSTy8XMxBL4FltsIU6rM8nhVDjvc99+++1iZYL9feLnII+WDX8zE3Z4mlXaCnuiJIEkgSSBviKBBNIdaCkGfogkZpVBH0Axs7gs5PTTT4/XjtZdd93YX+Y0MwemAGPSACRmlXTwAUDMKm6AGr+FmXL5IC8mQcgEP8DbzFRXVyf269GueeXr05/+tG677bbY358yZUq8zkU60iNHM4tT7diRf6IkgSSBJIF2SqDXREsg3cGmAAQY9AEQMwtg4HIPDjtxCIpT2QAzcQAY4rOUzRIugA4wQ2jOhBEPDZCwDhZlgYteW1sbmm8OysgEOSMrZIYckSkm/osvvnhMhtjPZs+fC16QM4LJZYudNMgZe6IkgSSBJIG+JIEE0m20Vj6g5yaAwEDPwI/drLKMeuedd8blHAADh514bxl2xIGwwwPNDiAGaOAB+GAnjDg56OCekwhvi+aM97/c8DCraO15XPxye3tN0sxJ7U37v+Ihh5w38kGGyA0TmRFmZnFAjPaA0K65oIVDeJMmTdJ1110XV5aSXs0/ZA41O8PIyxKO9F+SQJJAkkAvlUCHQLqX1qHLi2VmcRc1jAEIBnQGeUzAAlDmshFAAXBgeZv3fQENiHTEhVrbzexjp64Jg8wq4Il9ToJfa4InNGe8/+WGBxoqppnF/riZ/a9kPRpuNrs8ZhZlpLwUAtOsIj/ckFnFjTy40pRb07jkhVvOuLKUveo8Hu0ID2RAfLMKf8ITJQkkCSQJ9FYJJJBuo2UYzNF+MQFn7GhmZqZ3331XHAxbZ511xN4ogN0Gi271MrMO86ceZhZaqFkF3KifOvgD4OakDrLosuiUH9ClbpQJO1sNXI1K+3CDG+1FPOJAtCUFID6EPVGSQJJAkkBvlcBCANIdFz2DOaDMIG5m8cEJBnfeeeZdXe7L5vpLOONPvO4i8jCz0CrNKiZ+Hc2PD2WYWdxUBph1NH0en7znpDysp00zi4tRAGFWOCDKxqoGbcQ1pRdccEF8FQxNmjDKiInbzLAmShJIEkgS6LUSKPTakvWCguVgzc1ffNXpnnvuiastGfy5VCMP7+6iAiw5AUhQR/PkUBYTCigHs3nh09F8uzM+QEsdzCy+1sWtbuTHK1q0DdepcoMbJ8CZpBCWx0cGyBS/REkCSQJJAr1VAgmk22gZBnLAzMziUgwGeJZOedeZ93XRRPmABfEY7NUNv5ylmUUZAB0zC41a8/ADkHiPG2DjMBYsqCNme8mskr/ZJ8328ujKeMiE+lA36sQhMtqE0960EeFjxozRZpttJr4extYEfpSBNBD2REkCSQJJAr1VAgmk22iZfCA3q+zd8oUmLtTg1itAASDAZJDPTeydIXhSFPKGp1lladrMxKtFf/jDH+IwG+BDPnkc7ICtWaWsgBW8mDwwucDOK0zszf785z+P5WH4sa9OHPKEJ3biwpcywDc3seNPHOLiz8oCV3VybSduwuHFCW3im1XeUaYMZpW6UA7CyAezK4g8IXjmWxSAMTKBP/7cXEb5eFWOuBBlJhx7oiSBJIEkgd4qgQTSbbQMA7uZRcj06dP10ksvxScjw6Ob/stBAzAxq+QN0ABy55xzjr7//e8LkEGDpwgswQMyEKAEOANSXOphVln+HTx4sPAHWFkCBqhJ+/TTT0edzCrATj7EwSQcfmYW7yyT3swC3DnRTr4A8YQJE3TrrbfGXdqUueLfELeDmVm8Pw4fykC5CEeWrWVLXt1ByIQ84W1WuQRlpZVWEvWm7PhTZiYd2BMlCSQJJAn0VgkUemvBekO5GOxff/31+HQin1nEDeVlM7N5Xn7OeeQmfAEwCPAANAHu559/XnzSctdddxV3VhMPgHn00Uf15JNPii9r8bnL//znP3G7Fp94BMy5XIVPYD777LNxohsAhkjL+9xcvAKIArYs5bMc/MQTTwQYsyzO/jvXbt58882x3wvAAdLEQxPnIhFOUS+11FLxWtkjjzwS5SOcqzrJa/z48br//vv1zDPP6J///Kf46hflN7O82l1uIjPyhjF2JjnUk3METGA++OCDODxHOLLGTJQkkCSQJNBbJZBAuo2WYXAHJBnEARgAiYNXbUTtUi/yhQAy8gasOfT0qU99Sr///e/10EMPCZDB/+STT9ZnPvMZAZx81pEvRgHOADoXq9xxxx3xuthBBx0kgBiNljqR9qabboovSlGnU089NXigefJuMQDMJyKZELCUfdhhh4mveAF2aKEAHQe0XnjhBX3nO98RAMhkgY9gAM5o/bvsskto6kwkdtxxR7EszicnuXebvCmDWQWozazLJjo0BpMQTOSHHAFsTJba0aY5oZ/LgXhQoiSBJIEkgd4qgQTS/6VlAC60wUGDBoU22lZUM2vLe578zCwAC4ABQGEyefJkbbfddho6dGiUgS9BATJmpjFjxui73/2uANrRo0fHV6IATS71OPLII8XHPeCDBgvAYgewWMJm+Zn6oXkfd9xx2n333XX44YcLzXifffbREUccobFjx2rfffcVl4IwIeCu7G222UYbbLCB4MXXvJg0MJEBpIl/5plnavnllw+Q5iAX+Xz9618Xeay//vpC4zYzqibKEhb/r7XdnfP8xyQHggFyZEIAUOPHuQLkAxHeVXnCK1GSQJJAkkB3SCCBdBtSZXAHyDDZAwYU0dAY1KE8iVkFbHJ3Z0z4kodZhSf5o7UCaixH/+IXv9Dbb7+tP//5zwHWgB9fheIbzEMdwHkveOLEibEHzTvcABM88QekcVMfygjAmpngT57c1kUYX+0i35dffllo6ieddJLQyIlPOECPRgpfAB4/Lg953bcEuHmNMvHa09prrx1aPPEpH+UhLmEAvlmljpSlO4g6mVnIKW87M4uDd5SdsrAaAHCrz/5SwZMEkgQWBgkkkF4YWjnVMUkgSSBJIEmgT0oggXQbzWZW0fTQIIcMGRIaJ1oXGhrLp2iRmGhk2NHOOks5f/KAL8VCi+b1IV79QgtlqZkDXWiov8SYhQAAEABJREFUZhanvYmLdopmyPIy5eGiFTOLpXOWdjk0BV94mlksM+Omfmia+JO/mcUyNXvNG264oY455hixv0x+uSbOkjF5Ul/SQMiIvWz4QBwyIx7lIg/iEw8iHCJ9TnO6c/95MeFFndH4qSMm+UPssbPqwP66mQk/4ifqOQmknJIEkgQ6JoEE0v9FXgzi7L/y6hB7wwAVIIgJAJhZLKmqC345P8Af/iwhc4CLg1d85Yk9X/aMKQ+nsFmGf/PNN/XTn/5URx99tDgYtuWWW8YJ7wceeEC8E82eNBd7bL311vE6Fddlkg/AyT47QLreeuvF3jW8TznlFA0fPlw77bSTLr/8cv3qV78SS+3Dhg0LQCOP/fbbTxwwY0Kw5JJLCrlstdVWcZ855TjwwAPFQTsOsgGITDLMLA6YsYcND+TaWmSAcWt3Z+zwZtmdV86QJRMWTD6GwnYAZTOzeEUM/87kldImCSQJJAl0twQSSLch4Rw00Pw4SIUmyrvSZhZgZVYBHQCPOG2wmCcvwJNJAPmjnf7gBz/QFltsEXeHs1eMVnjUUUdp1KhRAoR4LQtQ/OY3v6lLL71UaNtoiYAye8TQiSeeKACV/ebvfe97US4+PvHFL34x9mhJyyQAgOeAF8DLXvTBBx8sAPmss86KMpCQQ2ocKuOrX+x1A+rkyYGyPN7xxx8vLl4BDJlQkD/1AhDZQx87dmzIkDrCExPC3hXEBAfNnzzNLA7ckTcTmxEjRsR73MRBll2Zb1eUPfHorRJI5UoSmH8SSCDdhuzzwRsQNjOtvvrq4tYxBnb8IOKYWbxzi72zhAaYE0vQACsHrgAbgBtgYUIAQAO42NHwcXNdKcBEuVhipiy8tsV1mGjL+MOHCQdhaMto1fAlTz7vCGijMRMXHgAsAIw2DOGHJrzDDjto1VVXDakxeWHyAB/Ky3I8aeABX7R1Do6RJ7JbbrnlYiKBOxjM8R/+nSVkxyoDS96UC9PM4tAdMqFs5EF5MOcoQnImCSQJJAn0KgkkkG6jOcwsfAFCMxPaJQB2ww03iKVUAvNl264a6MkLUDGzuKvbzOI2LzMTS9ZozoQDQuT51a9+VWjMgA4AjR/AiJaMVgyoEoZmbVZZASA9cdi/xk4aCDuvYsEb4Ad4iQMPwgE6QJ5w+JEfbuKQB8QkAn/iYsp/+FNutwq+mIThD1/cmBD2riAzi1UGgBoNGrnee++94hR6PkmhDc2sy7YqlH5JAr1QAqlIC4YEEki30Y4M7IAJgzwAAjixxwqY3XjjjbG/C/gQTtw2WHTYi3zgBU+AlDwBGsoBqAGKZhaHvoiHlsyyM6BIGuJRPjRZXoEiLcBJXICVMPIgHiAFT8LJC38KDB8AmrDcxJ/4vK5FfNLDizikQyOFB0RelDMPw49wM4sld8phVqkDfLuLKCfyIz9uOmOrgve8mYgQlq8uUM7uKkPimySQJJAk0BUSSCA9FykCLgSZWVyVCWhtv/32od1y5SaaNIM8QAU4YSeNmcWeKwBFGGZOOT/85yTCiAcfMwstD0AEVABFiDTyH/EAITRdgJU0mGYWEwjchJGeNPAwszjtTVlJa1aJ6+yivPiTjvj4kR88yYuJAKCPH7zwJ46ZxQGsPC1x4U0c+LQm/ImHH2kx55XIBzKzkBPlpkwQ/vClvLQTh8VYccj9AGj5jzJSHremvySBJIFeI4FUkDklUJjTI7nnLgEz08477xwHubjXOtfMAAAGfJZ0ASMzC40XTmaGEW7ABKALj/RfuyUA8ELIGTKzmHDgh7yRPXKFsHNLHHeIs9rBHjoTKjJDy2cihZ20mImSBJIEkgR6swQSSHegddC+0Kj5OAUDP/dmo7GaWewjAyCABGAMAQT4yX9m5v9X/vBLlMXEpT1yqEht9v95GmSMnRDaxczigyO8PoZWzYE4M4tT7IAze/v4E99sdnvgTpQkkCSQJDCvEujOdAmkOyBdQAFtjIGe/WDuqD7jjDPEl6oAC8IAZsLZx8UPyrMws9AAc3cy2ycBs9lyQ545IWcIgGZyxJfArrvuOrEtwf3lcKc9eJeb0+xMsvCDzGbzxJ0oSSBJIEmgN0oggXQHWgVAYH+WgR/adtttxSUj7777rq688krdd999AhAADJZhiW9WWfoGWMjKzDASzaMEzCz2oc0sJjzsOfNJzgsvvDD24zn1zitqtAOTKt43ZzJlZuKXtwP2REkCSQJJAr1dAt0H0r295vNQPvY80ZYBYQgNjndvt9tuO22yySbiOszf//73AdbEJZx4ZAWoAxAQ7kTtlwBgm8sNeTL5QbacC/jtb38bt63tvPPOYnWDA2NMpIjPa3MscaNB5/I3mw3WxGl/KVLMJIEkgSSBnpdAAukOyJzBvnV0ACN3c6nIQQcdpG9961ux18qrP2jXfIGK15cAd9IDDDnl4IMbO7zMPq55Ay4QcaDcnpv49XZqXVbsUF5XZIg7rz/+c7qRHeETJkzQ3XffHdeSXnDBBQKQv/GNb4h3wwFmTrOzzcClK9x4xj60WUWeZhaaN/whs4+78UuUJJAkkCTQ2ySQQPrjLTJPLkDFzOLwGBdmcJkI+6JcgsIHMc4991z99a9/1RtvvBEXk6DdAU5og5gsjecADhgBuvDEX/4jjhsB/pjEITwn4s9Pohx5/pQPMjNRP7Re3HmZqQtEGlYbqCMmQAzIEgaRFsBFLg899JAA5T//+c8hQ/abx44dK64jJR0ATXyWtrkdLU9nZmQd4GxWsYdH+i9JIEkgSaCPSCCBdBc0FKAC6AAUgBWAxA1X66+/vvbee28B2mYmXgv69a9/rVtvvTVu4OIVIeLz7q5ZBUQALNKjBXLVJsXL/bCbWUwGyNPMAoDgkZPmw8/MWnLNy4E8eCUtB15kY2Zx0pqyQ9SReIRRZzRj0gPcfBAjX85mG4FLWthWgADiDz/8MHghI2SNH+BsVikLfODdUrBkSRJIEkgS6IMSSCDdBY0GwAA6AAOE9gdbQANwYb96jz320Je+9CUBMhxqQivkoxgcegKM3n777QAd0gBe8IGHmcVBKTRSM4uLR8gvD5f/zP3JH3LnfP+jbBD1oExMMiAKhmwoP/6AKCDL++avvPKKkMPVV18tDoFddtll4lAYKxK867z55ptrxRVXDFmQDt7sOfMqHDzgR545kZeZxSQGO/6YiZIEkgSSBPqSBBJId0FrAaCAkJmFlgsgAERms0GCJW4+27jsssuKj1l8//vfF1+xWmGFFeIzjtdff73OO+88nX/++fHZx0ceeURcZ4m2Lf+hbUKAHKaZua9iCTzPjzyxzy+iQGYWQIpMKIeZxX3nrBbgx/78W2+9Je7T/sc//qHTTz89lrLZa0aGAPGee+6pAw44IL6+BQhTZzOLz3CiMfOBELRnlrqRBQBtZgHIZh83lX5JAkkCSQJ9WAIJpLug8dDsABJYYQecAKTcDogQhsmXoQAWwgGbMWPGCE0RYOIrUrwuxHeiuZCDfWw0S+4LZ28b0EYLhxd8AD40b/iRv5kR1ONEXQBMCK2WZWsIOTDJeO6552KJn3eYr7jiCrGKcPPNN8eeNR/pWHPNNeNVto022kgrrbRSfFmM5W6WveFDPQFniPqaVVYUkCeVJR9MCDtyB/Ax8YPM5o9syDtRkkCSQJLAvEoggfS8Sq5Vuhws8MIOaOV2swo4mFloerk/AAKosW+L9szhp9GjR8drRPvtt5+OOuoo8c4vr3gBPHwqkwNU//73vwXQXXzxxfFu9i233KIHH3xQTzzxhFgyHjdunN55551YKkZrhQA8TG5HY48Y8IMAMrOKhgrIU3bKRVhOxCfdRx99JHhATBS4ehONmPwAYTR/tGG+FHbVVVfFCexrr71WN998s7hDm0Nz1IOT2JzIPvzww+N0NhfBPPbYY3E/OuVhNYBVByYwXEACQKNNI1Ozj8sQWUJmhhFkZqHJ5/VR+iUJJAkkCfRhCSSQnk+Nh/YLIAJ4f/zjH/XBBx8I7ZhlXECJ14hYCgfU2Jfda6+9tNNOO2mXXXbRbrvtFnvbfPMZIAM4X3311Xg9CRD/+9//Lq4sBcih3P6Xv/xFf/jDH0R+f/rTnwSdeeaZOu2003TqqafG0vPvfve7CCcORBzScbqavWK0e3jyehlL9OTH5AEQBmB5FW299daLW7/Yg6fMLOtDW221VewrA8LEZXIC0N91113iIBiXkFB/gBn5sO+MOZ+aqO1sk2+SQJJAkkAPSiCBdA8KO8/KzEKrRnPED1DCRNPERGtEEwSkAGyIZV7c+PMJRrRe/ABFXkkCDMeOHauxToA4gMjyMSfMIYATrZw9cV4T4/UwCMAECMmTpWoOY6HFEgcaOXKkVlttNW244YbaeOONxcSAz2SyRM/J9f3331/77LNPgDKfg2TfnfpQN5ayWSlAC8dO3ciPyQja+csvvxwaNHZWAwinXpQFe6IkgSSBJIGFXQIJpOdDD0CDBpABXTRKgAkTvzzMzKJk+EFmJsAPkGNvFpP3ggFVwBrwhlhC5yKPVVZZRWuttVbQGmusIfa+OWUOuO64446xD84e+Fe+8hUdeOCB4iKWHOAJR3uHuPoUcOadZAie8B4xYoTIi0ICyJTfzAJ0KQ9APHToULEiANgD/Gj9+DPpQAPP6w8PtHVWALDDj7pghy9mok5JICVOEkgS6KMSKPTRci8QxWbfN6+ImcVeqpmFlm32cTdALv8B4miagBggB1CiAXPACgIAAW9MABGgBMgxoTwMwARoc+AH9CHS5XFyO3EBWZai8YMPPHHnRBz8yROelIWyQWjqlJc6QO+99168bkU86kM4GjfL52jVxMEfk7p6tdNfkkCSQJLAQimBBNLzsdkBJzOL16gAJDRmimNW8cvd+OWUgxbxc7/cJH5OZhavgxE/J4ASwm1m4gfAo/nmBKi2Bn/cpDGzmERQZtwQZTCrlFVt/MwqYQAuwWYmlurPPvts8VESNGbyZbJCOZ555hndf//9MUnJ01Af0iZaCCWQqpwkkCSgBNLzoROYWQBRnrWZhdXMWvzNKnYzizD+M6vYzSomfq3JzCK9mbX2DrvZbD8zC8A1+7ifmbWkNzPlPzNr8c/9Wptm1tr5MbtZJQywZV/6/fffFwfFAHlAGpMEZiZOkvOallnlxDlL3WaV9MRJlCSQJJAksLBJIIH0wtbi86G+ALRZ5VITPjjCQTK0ZwggBqgnT54ce+6PPvqonnzyySglYWFJ/yUJ9B0JpJImCXSpBBJId6k4E7PWEmDJGiAGpPFHU+ZClqOPPlrnnHNOvPrFaXAOqvHuN6+CcViN60GJy9I6PEibKEkgSSBJYGGUQALphbHVe6jO7Fmz/w2RJWB96KGHxu1inDjn5DfaMofMuGmNk+NHHHGEiMPeNWHwIG2iJIEkgW6UQGLdayWQQLrXNk3fLxh7zoAs2jCAyyE0DooB2gA2NcSNnXDimllcF8pBMpbBCSNeolvKIRwAABAASURBVCSBJIEkgYVRAgmkF8ZW76E6A7JkBfhC2M0qJ76xA8CAM/EIN7M4oAaoc8IckzjETZQkkCSQJDCHBBYKZwLphaKZ528lzSrg27oUZiZA2MxaewdIA9h4YkLYEyUJJAkkCSyMEkggvTC2eqpzkkCSQJJAksD8kUAHc00g3UGBpehJAkkCSQJJAkkCPSWBBNI9Jem55GNWWe5Ne69zEVDyThJIEkgSWIgl0EtAeuFqgQTIC1d7p9omCSQJJAnMqwQSSM+r5DqRrvVhKN4RhhXvBWMmShJIEkgSSBJIEsglkEA6l8Q8mClJkkCSQJJAkkCSQHdKIIF0d0o38U4SSBJIEkgSSBLohAQSSHdCeH0zaSp1kkCSQJJAkkBfkUAC6b7SUqmcSQJJAkkCSQILnQQSSC90Td43K5xKnSSQJJAksDBKIIH0wtjqqc5JAkkCSQJJAn1CAgmk+0QzpUL2TQmkUicJJAkkCXROAgmkOye/lDpJIEkgSSBJIEmg2ySQQLrbRJsYJwn0TQmkUicJJAn0HgkkkO49bZFKkiSQJJAkkCSQJPAxCSSQ/pg4kiNJIEmgb0oglTpJYMGUQALp+dCurT+wgd3M1Po+b/kP/5zc2aE/0pGgVCphtFDuj0duJ05ux4QIL5fLygl3V1KeR3V1tRobGyMfs8rXwLoyn8QrSSBJIEmgr0sggfR8aEFAqqmpSZCZKXd3RVEAXfgAsGYV3rkf+UCE1dfX65133tFrr72mV155JcwJEyZEmYgDDzOLyQPpSQOpC35mFvnAF6qqqgoZdAHrxCJJoE9JIBU2SeB/SSCB9P+SUDeFA0wQwIdGib11VmYmswq19v9f9mKxGFEAWrRzM1PuByC+++67uvPOO3XRRRfp2muv1b/+9S/dcMMN+sc//qErrrhCV155ZdinT58e+VM+0vOVLvipC36UA56Usba2NmnSXSDTxCJJIElgwZRAAun53K6A1cyZMwMQu7Io8IUfgIgJvf/++zrvvPP00EMP6VOf+pT2339/ffvb39Z3v/tdfe9739Muu+yigQMH6u2339bll18ugBpgRuPnk5qY8OkKAqBrampaWLUuZ4tnsiQJJAn0QgmkIvWkBBJI96S058gL0EODHjx4sNBUAS5ojmgdcqL55gngb2aaOHGi7rvvPj344IPaa6+9ApA33HBDAZLEh8h3+PDh2mGHHfSNb3xDa665pm666SbdfffdmjFjhgBRADvn3RkTPmaVVYIBAwaoX79+nWGX0iYJJAkkCSywEkggPR+a1sziwBQAveiii+qss87SRhtt1CUlMauAH8zgP23atFjCZkn9S1/6kpZaaqnYZwaUAfEcoAFh7KRDC1933XW10047hYb/8MMPx5I54Ep4Zwk+ZqaRI0fqpJNO0m677Rb8O8s3pU8SSBJIEpibBPqqfwLpbmw5QI/Ty2QBCAKMuPEHNNGeAcRRo0aJvVnCAU7iEwczJ8LwIxwz95/TNLPQeonP4bBXX31VaKuf+cxnIipaK3nCIwdL3MQ3swDLvIzy3yabbKIPPvggJhXEgdy7JQ/qhRt+hJEnboiyYuIPYSd+Hpd8WV5HFoRBxIOwQzmP3CQt/q3zwZ0oSSBJIElgQZRAAulublWAaOrUqZo0aVJopQDS5MmTNdmprq5ODQ0NcbIZYDIzEZ4DUWtAM7OIh3b834qcp8UEbJ988snQiHOQA9wIM6vwI1/ygSf+pMnzwA2tscYaOvvss1vqQFwAPjdzHpwWp/y5Gz4fffSRqD9+xIfMDENvvvmmLrnkEnGqHA/ywiQuhBsemHl+hCMz8sGeKEkgSSBJYMGVgJRAuhtbF3CB/TXXXBNghOYM+Jx88sl66623BGACNmYmwCgHS+KQFoA3M1jECWjc7A+Hx1z+y8GMuHfccYcAWLRn+OVEOYjHnvTLL7+sxx9/PCYHsCRvwjHhweGx1VZbTUOHDtWLL75IlBYys5h4EBcwPuOMM+LVKoCetERkKf+uu+4Sy+7Uz8yiLthvvvnmOLT2+uuvh6ZOmcyMZME3LP4f/AnLJxqkxe1B6S9JIEkgSWCBlkAC6W5sXoAEgOE95ClTpsT7yHvuuadWWGEFrbzyygHM+PMa1KOPPhpLzQAR8QFtNEbA7amnngrQApwAXLMKkM2t6OSJVgv4LbfccrEHDWgC0kwKIA6T/epXv4pDZLx2xYSBdPAk3MziwBhL5ZRp2223Fa9vMUnAncclPsTeOifAb7/99jiQRlkfd/DnsBr1ZTkfrR5ghg+yoTzUh/SsNBAf3oQhA+IRhzz/+c9/xqtjaN1MLvAnXaIkgSSBJIEFWQJ9EaT7THsAZIDjkCFDBBjzmhNLv/vss08ANGE//OEP9ec//1k//vGPBYABlscff3wsgwNG+KGNAqpmFkveZv8dpOF7/fXXx+tU7Pmi2QJ+Zhaabl4uJgrbbbedeAWMNBDgCkgSh+V40gKIyyyzTGjDlB9eeSMQRnwmFJ/73Od01VVXiVe9SE+9qDea+DnnnKMf/ehHOv300/XVr35VaPCkgw/58M72CSecEGWhDOeee26sPhDOygPvcfNaGHzyPAlLlCSQJJAksCBLIIF0N7YuQAXoAn733ntvaJgXXHCBeOXKzOJ9ZTRm9nsPOuggXXjhhQHOiy22mN57770oGRr22muvLTRVPABDzLkReZpZ7HmjERMPPwhwNbMoB1rvzjvv3KJlUw7KCmAC2gChmUV5mCzAB8pBG364MSHiUMZbbrlFjzzyiNhzx+SVLnhtttlmQnOnriz1Uy/SoCUTTt7woczIi7LiTzjvbf/85z/XqaeeGhOAp59+mqwTJQkkCSQJLPASKCzwNZyPFQRsAB0AaDXf1+WUdA7EaIv/+c9/4uQ0GiIXjKB1ooVus802AdjEofi77747RgAqIAqYhcdc/gNIATnyzuMCwmiuuAk3s9gbxo98AH/iYwKesKbc5IeJm3iY8MYOiJIeP9zL+dI6S9sXX3yxeG0LfrvuuivBWmSRReI97WuvvTbslANiuRs+Zhb1wy7/4Q9vbkPjgBk3pP3lL3+Jq0wBedJ6tPSXJJAkkCSwQEsggXQ3Ny+aIICz4oor6rTTThPLuFwSAmhyQIuDXexTc/MXS7mrrrpq7Fffc889cXUnS+VLLLFEAGoOTGZzX+42s9jblv8AU9KQF+UAACHcmIA1oAwQe/SWPEgD6DLJIBywJBwiDL6kz/3NLPIE3Hd27fyBBx7Q1VdfLeq1/PLLC636yCOPjFPevHu91lprRV5q/sGLtB9++GHsveONHX/yGzZsmPbbbz8B+MgPrdxs7jIgfaIkgSSBJIEFQQIJpLuxFc0s9oU5FMUBsM0331zsr/LaEdl+8Ytf1HPPPRf7xAAeQIr/0ksvLZajf/azn4mlb/wAK7OK9ot7bgSwEQbI5mCMHyCIZgvwkg8mh7kgwiDKgNZMmFmAYMseOPyIY1YpA+UhH0xAGzvpd9xxR/HeN4fduKTEzGI//rHHHhP72uyRP/vss1FneCIb0nHDGW7iIR80Z8q9xRZbiJPjTBa4/ISVBvzJL1GSQJJAksCCLoEE0t3YwgAY2uqYMWO0+uqrxwUggBgXiwBUaM2A0JlnnhnvIQPYpAE4ubaTE9osH+NHMTEh7HMjMwtghe/48eNDM6UMAC9AR3rAG+2WQ1x33nmn0HyPO+64eMWK09zEBziJa1bhlwMjQA2Yms0GcXhTHuIvu+yyOvjgg/WFL3xBaMDwYdLBnvJtt90m7g7fdNNN44T76NGjQ0MGuNdZZ524R/zSSy/VG2+8IQ7UUXcmKYcccohYZYAHr3ORX14e8k2UJJAkkCSwoEoggXQ3tiyghfa61VZbae+99w6QBiD5oAUfuDAzHXDAAXGg6oQTTohLR0hDke6//34BXGiYABLAhD9mHgf3nGRWAc/Pfvaz8e4zQA1QchiMtAAsYM0yOhOGU045Rb///e/FiXM0VbRsNGPyhHL+vD41aNCgOJWOPzwJg6dZJU/s8N9jjz109NFHxx4zcQB2Vg3+9Kc/6YgjjoirQLnJDLmQN2BMWmTEhOUHP/iBfvKTn8TyNv5o5KQ75phjYgLA8rxZJU/4f4KSR5JAkkCSwAIigQTS3diQABmAiKYIsALQmAAP2ipLywAYwEbc3GR594UXXhCvNJHWrAJIgCPFhQdmWwQP+AO0gC6nxHEzWaAs5ANPwtknZ2maA1+rrLJKgDoASJnIK8/HzPTEE0/EhSZmlbKYVcy8DPAmPnmRFpP6Ek5erA4QB964IcIoj5nFnrb8Bw/imFkLyMOPE/HIjPoRTjylX5JAkkCSwAIugQTS3dzAAApZAEaQmcWhKUAT4AJs8CeOmQk3Wi6Hy1jyBezycOzEy93Y5yTiAIBmJrTVZ555JvaESUMYgMctYqTDRHNGy8ZOGEBIeuJjUkb2iZlQAOjEp06EU1b4YOJnVgFuwvDPKQdr4uCHm7Jghy/ACw/cub+ZtYB0zg+Z5eG5nxacX6pJkkCSQJLAJySQQPoTIul+j9YAAxBySxe3a+FvZqFVcsgK7VHz8DOrXDOKxszpcV5jgg0gh0k+ALJZZVKAhgtRFsIBQtxMFgBU9s+33nrrWOomDG0bHmYVUM4BlrTtIeKbmTjBzU1ivDNtVuHVnvQpTpJAkkCSwMIigQTS86GlAUiAChMt9je/+U28Q4w7JwCTOFBHikg64pMOOyDN/jfvYnMJCOCaa7S5BosfGjMmfqSHOOjFgS32xgF8wtmX5pUywskD06xjAEs6iJPa1113ndDU4ZOoD0ogFTlJIEmgWyWQQLpbxds2c7MKqAF6ACbAjOZqZnG4DG0VDdbMWpZ81c4f6YgKQGM3M3GanNPW9913n1hG52Q3QMtJbsAZzZg0vPaFP1d/XnHFFXrttdfE4TLe0yacspKGcuOGAFuzSn1wt4dIb2bxeU54ouEjg/akTXGSBJIEkgQWJgkUFqbK9pa6zglsgFTuhx3Awt1aq+1I2UkPQJMGwEdbZ+may0D4vvT5558v7vbmxDZXbnICnOV2bj277LLL4hIVABtgpzxmFRDGD545mVWWy3N3e02zCr98/5sJBcDd3vQpXpJAJyWQkicJ9BkJJJCeD01lVgEpwAlABazMKn6AM0Uys9Cic7c68MsBGpAnPdoxILjkkkvq0EMP1V577RVaLHvB+Wc0WXZ+6aWXxElvtGeuJqVslBF+3MuN1k0x4Ik5r0R6iPIxiYBwzyu/lC5JIEkgSWBBlUAC6fnQsmYVQAb8yB4AxcxpTnfu317TzOISE8Av52VmLafKuXCE17u+/OUv68ADD4x3j8eOHavtt99eXOPJkjbgDCizB40WzrK0mUURzCz448j5Y+8ImVlMQuS/BNAuhPSXJPC/JJDCF0oJJJBeiJq9NWizjA0AA7JotGjzaM74o3lzUIxwADufTCxEokpVTRJIEkgS6BUSSCCtGipCAAAQAElEQVTdK5qh+wsBAKOxtib8AGQ0Zb5SxZI25tChQwVAoz0D4sTL03V/SVMOSQJJAguQBFJVOimBBNKdFGBfSQ7YmlWWqc0sio1frl1jh8wslqHRrtX8M6vEb3YmI0kgSSBJIEmghySQQLqHBD2/s2GPGY04L4dZZY8av1xLxsRNXAC7dVzCoNwvmUkCSQJJAgusBHpRxRJIz6fGmBvg4Q91dbHYVzazuHY05w0QQ2YWB8Gwo1kTlziUA8JOGIS9Kwi+ZtYVrBKPJIEkgSSBBVYCCaTnQ9OazQYns4od0JqzKGYW4Dmn/7y6zdrPz6wS18zmNbu5pjOr8DSrmEQ0m23HnShJIEkgSSBJQOoASCdxdYcEAGeoLd5z828rbvJLEkgSSBJIEljwJJBAej63qZmFtmxmURKzihmOBfw/M4u6L+DVTNVLEkgSSBKYZwks8CA9z5LpxoRoyFDrLMystbPFPme8loAFzLKw1HMBa7ZUnSSBJIFulkC3gTSDLieFE5Xjpq/WckA2OdG+ZnMHaOK1Trsg2KkzZGYf06QXhLqlOnyyvyeZJJks7H2A8W5eqdMg/eCDD8ZnFvloA3TuuefGBxouuOACJWpbBhdddJH++te/6i9/+Yv4hOSECRP0yCOP6G9/+5vOO+88XXTRRRF24YUXClrQ5EidqDsf+fjwww/17LPP6uKLL079JT0zqQ+kPrBA9gHG/N///vfiA0coXh0B7E6DNOAC8bnDlVZaSauttppGjx4dtMIKKyjRJ2XA3dmjXUbIi7uyud0LGjVqVNyd3VpmhLd2Lwh26rTqqquKD37QYek7K6+8cuor6XlJfSD1gQWyD6yyyiri/ok333wzVg9ZWWgvUHcapLk6Elp//fW10UYb6bOf/aw22WQTbb755tp0000TtSGDLbfcskUu6623nkaMGBGAteGGG4bckOFmm20WcZBlX5Fje8u58cYbC1pnnXW0+OKLx8SE/tPe9Cleeq5SH0h9oC/1Aca6DTbYIO6pmD59umbMmNFejO78K1hccAH179//Y5maVfYbzZJp9nEZIChkhhaJvaGhIWZZZpV4+JkZRlzRaWYx+zJbMEzqzbWjyAATN7NMswWjfmapHmZJBmZJBmZJBmYmLohinJs5c6amTp2qWbNmxfjenv86rUkzuEIADYXIM0Wdx50oi9nTnHJAToAUZFbpyPhByA6aM82C4uZWM8jM4lAddc47cc/Xse32SeVIckl9IPWBruoDjHEAM1iZ88SvPdRpkGZwhQAVMxOakVkFdMySafZJGdBINA4yw4TMDCMAHeCGiGdmC5QWbWZRT+rO5zGpY3j4f2a2wNXVLNXJLMnALMnAbOGVAeMdnwFmXEdBASd9yGvXX6dBunUuZqaOFkAL8K81AGGnofLGwcQPk0kOMyxEUV9fH0BNXBoUvwWR6CfUn467INavu+uU+CcJ5BJgrGDCi5tnChPCnxVOCDeEX2szH3fwZywiDMKOH3YIvvhhz03C8/SEEwbhjwnldsIZ23BjJwwz54WJO/fHhHI/wnFD8MCE8vDWfq39KV8eBzPnQ3zcxM0Jdy5HwvO4+OdxcpPw3E4euT03W6fBzlhuZjG2m1UmK3nc/2V2KUj/r8xSeEUC77zzTkxmAKocoPv16xdLv3V1dbFnwVF9YuedBnuiJIEkgSSBOSVgZjGeqPkHKDBumJk41MtEGD9AErDATlRAKB9/8Gc8wo8w7PjlAA8o4ceSLeE5f9LjJhw/0ptVVlTxM7M4bwOQ1dbWtpyxydPAEzt5mRnWGAdJi8Os4keZcz/8c8I/txOOGzKz4NOaL+WbMz/8KDM8zEzICjtEWsoNX9zEg+BPGH7Yc564CceEct5mlTrgNy9UmJdE7U1DBRZmQk55/bFDZibeJT/ssMN01lln6ZprromTfi+88IKuuOIK/fa3v9UPf/hDvfTSS6KReQhyHguKiRzaogWlfqkec9vLTP7d0TcAkRw0sJMHYJPbcxM/QMfMWsCSuAALcdT8ww4RF5DPgZpg3GYW21K4GaOIazYb4OBpZqE1YmcMo3zEgyf5YeKGcJtZgGpuhzdxSE8ceGDihrATl3i4MSEzwwhexMFBOLzggR0iDBO/PE7Oj/oSRpw8HDvxAGTsEHFywk24WaUeuEmbxydsXqlbQXpeC7WgpjOz6Nwcx7/zzjvj0hdecH///fd1zz33BGhzcQnH87fYYot4kBZUWaR6JQkkCXSNBAAKOGGaVcYYVuJefvnlGG8ACkCSOJwuvuWWWzR58uQYXwAvNFwACsDN4xLfzOIUMsAMb9JzMtnMQnMnDcAv/wFKbnzsTBI88AP0zEwvvvii/v3vf8fFTfAhLXwh8obInzSkBeRah1155ZXi9aU33nhDr7zySpSBNGYWdTGrAKRZRQbwePvtt/X3v/9d999/f6SlnGbWMoHI3WYVHqw2UF81/8jfzII//JAXJulyu5m1TAry+Hk9KJ86+es2kKawCzvRNq1lYFbpPLwHzfvPNDJx6Kw0KsSrbIB47tc6/YJip85t0YJSv1SPBUtj7u3tCWjwPOXjCQBy7bXXat9999WTTz5JUIAS4SgB++yzjy655JJYqSMt8QFECOAlHonMTGy/ATQA/plnnikuXUIehJMWO8TYBR8ADhM++EOETZs2Td/85jf1ne98R3/4wx/0la98RWeccUaUARAnDpMF0pIG/rkdfzMTNxQOHDhQ48aNi1sKCScd8fMy40fepH/sscf0rW99Sw8//HDU9+67745JC3HysptVxmR4QJSf+mLPeRMfwo908CYst+MP4caEiE88ZIrZGeo2kO5MoRb0tIsssoj22GMPrbnmmlFVOoWZxf4RHWy33XZrea/OzCJO+i9JIEkgSWBuEgAUmNgDEADIRx99pCFDhsR1u5yBIRwgu/fee7X99ttr/PjxAVgAHttsp556qp566qkAc4AFgMPvjjvuiH3am2++WWiyEPzMTDfddJN+8YtfxDYdq39mFpryXXfdFdt2XHNMeSkPe9mkA6TPOeecAOtjjjlGjz/+uFBMuLXy5z//eWwFTnYtn3RoteTxy1/+Uo8++mhMGODDrYurr756aLfvvfderEAC/NSFspMfcrjtttvi5ssTTzwx4nz+85+HbaS7+uqrdcopp+i5554LOTCJoK7Uk/xYbWALEj6A79NPPy1uC0OOgP1vfvMbwZ8yMslArjfeeGNc40w44zjjOkT6yHge/yvMY7r/mczMovJmC6+JkMxm158Gh8wsbhP7zGc+07JMQuPTAb/0pS/F7WM0Lo0/Jw+z2fzM+qadOrVFZn2zPmap3GZ9WwY8lzyDZhaDuFmlPvhDDLRmlTDcZpVws/lvUh41/8wsbPX19RozZozuu+++0DwBLoCOK3lXXHHFGJsBpuOOO06XXXaZAJn99ttPgB7xAExACQBnyfj1118PucCP+/YBt9/97ncxfl111VUC4CjHDTfcoMMOO0xo8oAYeQBkyI8yAObY4bnccstp2LBhQksHMAE2vl0AgNIWgPpRRx0VqwFHH310ADqa/e233x5+VJQ7sVlG5/5/thDhgT/m6NGjQ+OeOHFiTDTMLOrA1iKgTv1+9rOfacqUKaKclOHss8+Oc0JMRrAzJsPrj3/8Y8iGvA866KAA9+OPP15MUswsti4POeSQmGSguZtZKF35xAnZQGr+tbY3e83VKMw1JAV0mwRodDohM1pmu3ReZrlLL720dt1119CiaVyWXojXbQVJjJMEkgRaJMBzyODJM4fJcwqgmFX2HPGDzCpA2JJwPlsoI+WivGaVsmFH2+R7AHzQBnBES9x6661jbxYFgPHl2GOPFRrzUQ6GpGG/F/BCSQB0fvKTn4RGvt1224kVwCOOOEKAPGdpuLp4zz33jGV1DsMiBniQ76WXXioAbMCAAWK5GpkCsGioP/jBD0LDBwT5jgETBe62hhdleeaZZ2ISwUeIvvGNb4jJAP4AOvwBfcZLysge+5e//GUd5eXfaaedYp+acNryC1/4grbddlt9/etfF3Vh6Z9JyOmnn679999fhx9+eOTD4V20eXifcMIJsUKw9957xzkhtGImAaTjWwNMClCkWEZnrKaMaNl8JGmZZZYJTRretAnyoN4Q9nmlBNLzKrlOpKMBIR4gHhoeIDOLfRpml4QxgzOrPHCdyColTRJIEmiHBAA5ovHs5cTSKQNs7sbETbzeRAAWZQOYABrqQtkBnh/96EfxlUI0YDTbddddN17xBDipA1rwwQcfHMvBaLekA9wATIANMIYP/NkPRqngoCtgi/YM0KI1r7322gL4AU6+QbDEEkvE/rVZZYIDX8Y0vulAmRZddNFYXgdQATm+pgivCy64QIAdvF577TXxbQMmE/BfzjVv6ggvyo4iwxI2AM4WIeCOLKgbMqDcADEgPGbMGFEXltJZFWBp+le/+pWYRIwePVqAPflyHog6cmZoqaWWikNnyI44aNusOLCSwHI3qwl8rwIe0BprrBHfIWDfnn5CWcwstHd14pdAuhPCm9ekPEikpSH50AQdj06LnU5LmJmJjsbDgTtRkkCSQPdJgIGf5zHPATtAgRs7zyyEu7cR44dZZULPeGFWeR2K8vNVQoDn8ssvF9trgwcPjmVY6vLuu+/GgSr2iQEdgA5/ZIEmiZYNGLM/DfARhjY8dOjQADUOgqHBkpa4hAGcgBNgTRrKg/woC+DFfRCsGKJBs6RMGACHxgzYQt/97ndjNZFJARMC0sAPkIc3PDEBVg7horUzqYAfZSceccgzlw0TDtqNvXriMFEApNkfB5CpG2WBL2ko+xe/+MU43c5ePbJDk6esaNBo4xx8Y3l+tIM8ihbpyAMZmFmAM+WArzrxSyDdCeF1JikAzAyRpSFmgzvssEMsJ+FHh6GT0DE7k0dKmySQJNA+CfA8Msjy7DFQm1mAmZnFkiiDLUSczg667StR+2OZWUTOy42Z18fMdOCBBwqwBcgoO+EkYIxBa3zooYdi+fmBBx4IcATsODzFXQ0s8QKugDsa75FHHhmHzgC4f/3rX7rzzjtD2+TVKvLMCaBCllBruQGglIEyYefAGEvHaLsQPNnXJg1L7IAgp8pPO+00vfXWWxQ7yghwU/4///nPsTwN+I4cObLlFTDKcd1118WS9vG+d/ztb39baPho1Cx/wxdtGrBFMyY+zM0qyhEy4nAv5WC/m9UFFCnAnu2D888/X0wO2KueOXOmKA/1gUdeZzOLi1zMKu1D2LxQYV4SpTSdkwAzOTjQmCzJ7LXXXnHiEj+IjgFAA9i4EyUJJAl0rwQAjjwHnk8Gbg4wMSADBAAXS7I8s4TncXuDCcBA+QSC8m2zzTZCgwYsV111VVEHtEEzi/3YLbfcMpaVzzjjjFiWRrNFI2YLjiXpESNGxGEq9pVXXnlloZFzIAxtkjrvvvvuQtPkfWUOeBEOsH3ta1/TVlttFeBE68b8rgAAEABJREFUmSgLJkDP3jP7xqTnABvL24sttph4JQztmXe70do5vW1mwZ/DbPAFJDnYRR35rO1aa60VmipxOejGJ28Be9oH8CZP9syJh5tlacZZxtQDDjggPpXL6W3215mosN9O2eHPaiYmKwZo3JxCB4Spy6GHHhrAz2EzM4vVCcZwtgzYi6ZupKUc2ElDWbDPK3UZSJvNni0AMp0t2LxWaG7pEBpl4mE0s5gdt7abVfzMut+kjGYWhxzkPx4iZoFujY5nVlmuwm3W/eUx69k8qBfE8hhtQkfmQTTr2XKYWZxONTOKE33CbLYfZSOgdT/BnajvSiBvS8y8fc0snkUmxuyD8g4xy8P0SQZnBmvsLHuiQQHcaG7wkP/MLPZj3Tpf/swq/ZfM87GXJVzGFfwoP6BMmJkFeAPEhPGNYw6DcRhqiy220PDhw+Mb7wAWJ6oBMeLxjKKBsqwNXzMTK4C4ATL2i5kQAKBoq9hJQ1pAi2cdUGdvGTdgiWaL28xEOQDDk08+Weztkg5iMsC+Mn5MOsxMTBrIj3DKfNJJJwlNmbaCL/7kwQTgq1/9qqgH74wTnofB96c//al22WWX0IIBWmREOPHMLDR26sqkA37Ij3DqyIoCqwHsmTMJQJ7I3Mxim5L4xKWP5elwzwt1GUjPkXmvcvIwITSAGmKJhkMUnNzDTHRbvPPXU3K49dZbI7///Oc/cfMRM+j51Rb0hbw8mCwL8goFe0w8XPQdMwswp+/0qo6dCtNhCZhV2tLMYlJGm9LGkyZN0j//+U/RJz/96U+LpWFODbPkyR4ke7RcwMFBT+434NUk4tJP4AE4wEe96AdAJMoCNHtKDt3R/AsFSDPY0kjM7jiIwHuBLGngj1+i6niPsKfkwMyTmSvLTByWY2aMvafyb51PXhZm/dgxGXw/+OCDloebfmJmoW0p/fq0BABU2pPxgIqYWbxzy3I250NYXmWJlOXPHHSJTzozE8vBaIoANq/dsCTO0riZxSqY0i9JoIslsFCANA8ky1XIjhN/ZhaHCFie+BhtsomSu2dkwPIW74l///vfj/csGfjmh+xZcmO/atNNNxUnRTE5LMPdwix/MkDTfxiwGajpQ4n6rgSYoDEG0K60L0vY7DXTF9knxQ+irWlzxg3s1DhPQzh9gv1V+g4rMPmhIeIlShLoSgksFCBtZnFSk4eNh8vMhCZtZl0py8SrnRJg8COqWWXpkTbBPT+IgTcfiM0stGUGXN6JhOQ/ysd2CeTO9NeHJUBb046MBbQ9B584SMQ7svRLCH/CAXRWVoif+1F1/CAOD7Fny34pp5vhTXhvIfptop5d7kbeXd3+ha5m2Fv58fBRNh44iIcON0Lt49SyLNuX6pG3BwObmcVS4fwoP+VgwKVPYIdwm1UmEGYVk7IxcCv9+rQEaFsqQHsD0Bwuos2ZkOEHmVlM1uQ/M2t5vghzr/goBH2BLRpWXLj0gjMVvHdMeKIkga6UQKdBmsGrNVG41u7eYjezOChCeXjAopzyB1AFZb2avIxe9lI5U5lCW6HFbGwqedkJ92Z0/1ImeTSnLPybcLi/CgVl1o3UQfnJioJKXqFiVY0yT48ds8fJy9JUVpTBXE6GnDJTyQvkPUblUkkFcxm7LIuYmcs2UQtw8Tz1JQKQzSyuxuSdXLY25D8OfrGM7daoG2dXfvjDH4orLNmnvvjii2P1La8r8ViN42wFl26wbcI7v4wt5EE84uR2eOMH5XEIw44fcbHj11UE34WbfHzMPknlcpMgs0ylcqP8sfc2L9EEXUJtybwzjH1070zyvp7WUc2HZ/ViKjsgNDY0ST6wUMxSuaymxibvVJnMe5eZqWCK4GKhoGKx4B2w7B3PnAoONiXNmlkf8dvqPF3iR8E6Sr0mvirNH+X5mNUD0t+CJoGCPyOAIVo0YMjtV5j50ja3WLG6g5vXen7961/HRyD2339/8V4t8kAbhw/peH6wf+5znxP3XrMEbuaTOn9uzcyfx2I8j0wCiCf/YeYEL/eKv9xuZv48JzLrHhkg50Kx6ABdVnVVdbQP42o0Qi/8byEH6cqgnHnD9FZiIKitrXYgNjW5VlcsFFRbW+MllnewygAwc1a9Ghy4AfQm1wALxSrveFLR0bvonbFfv1oFBnVjJbuRdbcWPZiHNGf/l7XlOTs42fqwBADV6urquL+ad3exm1lcc1ny54tLNxjEhw4dKq57xI9DjtxFzbME2KJB81zCC0CX/3i3Fn7Ez8MwPSgmy5ho05gQ8XI3PMwM70Q9JQGfRJEVsp/l42eN9wncvZEKvbFQPVamPoAsZpWHt7GpyUG5ysG40QHYC+7egLLcrK1x0HYv5MbAQJKGxgacAewNDY1uJ0I3UjeyDszsJv6t2bbk49Kay1/y7uMSAFipAhozt2oVfNKLH8BsZuK9ZwZu4gDG48ePj68wcXsVF2gQDljnaYiX27k6c9asWTEBwJ9nkTDsmLixw5/8eHXriSeeENdv8oWmxx9/XM8//3x8XpGrKBM920lZPOfp26ZnnnlWLzz/gt55512xZdHkW4e0TW+khRuko0VaD9O9z+4YLN8OlZkF4DLj4/3Mxx57XLN8BlgsFAK4i1VFZb4UzsUg77z9rupc225sZJ8lU7GqymsKp+4iZ9+CcL1PhvqvZfOyNxe52ahEd+/0t+BJALCEqBladA7SRV9xQrMFPHM/tOYrrrhC3AbI5xLRlvEjHnHQhkkHL9IBwvjNcqDGbmbx3JKfmSmPi8mBM3hyexnEJw//9re/CfOvF12sRF0gg786jzbovPPO16WX/k1/+tO5OvroYzRu3OuqqqpWb/0lkO6tLdOqXDzkxUIhHnh/1nXNNdeK6+6uvPJKNfoyN1GLvrT91ttv6zvf/o7+evFfA9jL5VIMDITJPFZ3kbPus38gc58tfDsLnqK1SCAHTwAabZpni8CGhgbhB4ACstj5ROE999wjPsKAlkxc4lX5pBc7mrZZZf8Z/4I/o4C4mcVZEPhCZpU4ed7kgRbN61vcE/B///d/+vnPf66f/exn+slPfqLjjj8uUVfI4DiXYxt04okniitBuS+cE/q0BRMv2qo3UqE3FqqnysTeY+Z7E72Z5OjK7LzEXnM87BInT6dPmy4+s/bKq6+oWCi6ll3W3XfdrVn1s/Tmm2+q3mfzDBjvvfuebrjxX7rrrrs0a+ZMZa5tfzRlirhR64UXnhcX2runJk+apNtvu00TPvxQ5VKTUD5nzpyhRx99RLfddqvef+8998ti8HnxxRf17jvv6K4779T4Dz4Q32ctFAsk0Suvvqo333pT/HqzXFvK5qV2scq7gdet7PuHXnImM26kvwVPAmbm7Vzydi6IFSmAk76AyUDd5NtKaMx8m5jrQDlYhv36668XS99mlc5BfOKx/F0oFARIox1jhweSIw68zSzyBPh5lgnjGeKKUV7fKhaLUR5Mntnamlol6gIZ1DqPOQj5QrQLVwJzev/++++PLYe8vWgfwnFjn99UmN8FmN/5Z16A3k0+lXAE8f+9pJI/7/6ftMuuu2iN1dfQQw8+5Es1RVUVC3r9jdf1/cMOE6+E9OtX53tj0/Rjn5lfftnl4pNqZ//mN5IsAPvwH/zAQf4POv7443XW2b/R6Wec4bP343XMscdq1qwGfTR1SiwFHXXU0Tr11NO077776fkXXhAfFmCZ7nvf+574XN0tt96qnx53nPjNnDFdfJsWTb93y1QOzRWi3C1EoVscyTKfJdAt2RccUAFDwHHixIlxd7yZxWVHaMho0WQ80ye0vFaFlsWz86c//Um8Bw0AM4DnxIAP8M6YMSOAGiCGDzzIx6yiRZPOzGRW2fdmYssFKpQn58UkAV5MyBOVfWLTBdTkPHJyRafse4c+nOrVV15VsVil0aOX06qrrqZrr/17fPWL1RHahPbL2xH7/KTC/Mx8vufNoNzLyR9rFQvFeLjpXBAPM68OfOMb39ANN9wYYnz2uecDdZZfYYXQoon3xz/+QcMXH64TT/yZWN7hYEpDQ72sUNCIESN0si+x7bbbbuI1k+0+/3ldffVVoWHfcustuuP2O4TWfdFFF+pK35fbdNNNQtPOvJO/51r19jtsr79ddpm+vPvuwesV7/Qvv/yKGurrhYZglKqXy7aC1FmzUTErDgqfaEGUAAMwAMwd3JzY5rUpM/OJ6SwHhVIseTNQ8xEN3o1mQnruuecK+6c+9SkVXest+2qUmQkzJ74HwB30hAO05AP48qwSp9Y1OvzxI+6qq64qgJu8kDNxzOKpEXES+fPog1hn5VDOyqpQhR+yLvjW4P33/0cbb7Sxj6sFbbD+Blp0kUXFIT7aiTzNLPoD8ec3LdwgHdLP/P/eS2XfV4YyHxgy73Ded7xjmc/a67X6GqtrwMABvrz9li684AKtuOIKKjWVfCCp8jjSe++/r4cefkjH/vjHOuvMs7T4Yov7HnajBg4YEB8KGDCgvwYPGqhPrfYpreYD0MCBg8QNTGgY48a9rnXXXdfdi6t//37afocdNMsBuKa2JrQOvk07cMBA1bp77bXXFtr688+/oEO++U2tvNLKMQCpBfF6r3wpWRTTewHlxe2Pc7jSfwueBADKfv36+fNhYjmbraFaB1DAlSVrtCcAk3iYmQMF2jGgi5t4EP6QmYWGPX369PiEYoPvbSM14kBmFnmZWYAvK1HkCUiTH3HJC7CGP27JpERSZ2VQeZhd7vJHG4fJrKAP3h+v6ppqreAKDTLv7+MhYxin7M0sxkjam3YxM088f/8WapCm2foCSf6Ay/uZE38MDhwYYxBYz4H0lFNPiU/srbTSSmKWWO/actk1XuLutOOOOuf35+iXv/qlL1ufoiFDBmv8+A9VV9dPjQ7oxCv5RIA96Zrqal86rwqgH+zxeE2hptrdzovblFjaq59VrwH9+/uy91SfDBhZaK211tSTTz2pO++6U2PWWsuB2/l4ur4hW6pASd1sNtyW/hZQCfDsUDUzi0tKsL/g2zg8S3V1dWJgzuMAzmWfHJtZTDrNKgM4S+LEIS6Az/7y5ptvLt6xJj5+DPLwhnI7EwBWocaMGSMOouFv5s+2TwTI38xEengn8qmyy6Wzcii34hFo7W5ebRs1arQrOg3uVRZndMa4okFbMYmiXbHTJpjzm7oMpBEmlcGEsPcWojxQW+XJAgDNlaneSWYFsTyNWSmr/EHOnEqqripqnXXW0Xl/+YsGDR6slVZeWdN8Rl9dVeWdL9M+e++t++6/X3wj+e677tGlf7vM0ylmijN8z63a02fyejsIV1XXxA085VIW74pusP76uvW2W/X9HxweS32XXHKJa9breMeuj3Be8WLfbMbMWVpm6ZGaMGGi0L5H+R5P5oJubCz1Wplm1DmnTF5Oqez/l73c7pQHKX6VOUhY+S/CsPQRMvO29UGJ4rbu/7ndbHY4cRYGMqvUGRkAiCxr83EMljoZnPEHTDFZjmagZnmxngEAABAASURBVMkaP8LNLCayZiZA9s477/QJ60caPXq00IbRygFr0kNm5Ff2Z65B3sX03LPPaaMNN5ZlBWUlU6kpU1Y2FQtVkpuZP4tl9k57lrQg5pn5Ax3kY1rJ96XlD/DECZP0wgsvacXlV5RZUU0NJVdY+vtYWqWlllpaTLjoF2VXXIrFgo+XJYmE/v/svzkGhtkB/9VGfyBCbmJvDxXaE6m9ccxmF95str296Xsintnscnmb9USWncqjsampAp4+2Pqfa7+ZvjZ2fx1x5JHB99Of/rRuuukmnXfeebGMvZrvdbHkzICxzjpr6xe/+IWmTv3IwbVBa49ZWwVv8e22216777a7St7/Nt9sM4/zSy0xfInoqLyWsNdee4vluOuvu05o4sOHD9cVl18eezfDFllEHBpb0Ze0KVuV79H1c80acF53vfVCi54+o15VrklHAXv7f94d6AdQ/jBmcs/oJ80mdrcKs7fXx8tX8EbOAQU7VPR28qD4YxBq8n7FYNHaPwIX8P+QBfU3s9CO+TwlZzt424ET3GY0tFTtq0pm5k1uIRHkSVoImY0bN0680zx58mRxJSiRzMy3hvoLQMcNERc5w+/NN95QQ32DBg0YJDlIK3PeDszm9lJj2YHSe57blXnKRC6jzsmh5MBckAOtg7Rc1pnL9tFHH5ccvBcZtqhPjpggySdMpvpZTVpuueXEiuGkSZN8bGwSEbnf2yO4Pf/zNlNOud//Ns1II5kxaaNx1e5fod0xF5CIPDAtVQH1Why901JVVa3amiqf0WXigefg1worjNZyo0c58DYKMFx//Q202KKLiFvGFltsUa2y8koyH6jL3heIt88+e2u77bbzZenVNWXKNN9nHqYllxwRg9Siiy6qz3xmHd9nrvbZfklrrvlpjRixeEwMllpqSW255RbaasuttPTSS3nHLavO9+8+85n1Ysmb8hSrqjR12lTxTV2W8eS/KvfzVUK39f4/f0wrhXRZ+V/F3vx/S1izu68YAAptQHmxszzb5KBsVhkgAIyamhrxLDCZI97CQtQZmZhZADFyYXl62223jUOTnOIGeM3MJ7SFeOYIHzhwoNCSOcXNq1vXXnttLFlvuOGGYm+ZMG6uwjSryFn5zwECkHj77bdjkPb/QvYMP7PJe5s7/K85LHcnkzZrk1xY/9Xf5c+ErFis8rGrFFe/PvvMMz72Leltj185ZF3lEzIOvALcvN7KmYGyD56VpXJn8smBQZrTz6N111+3gfR/Fd7/Em4Xh88pvJayeYBn5Q3lMneh90Z72dGu0WeEma/blMtN3rmqfVBoUn1Do/cT84Gk6ABedg27JHcpv8cbAG30OLN85l7vVFVd1Kz6RnHwq8GXolmqRivAnDmzwQG75LxMTb7Mhlv+a2hs9DQNKhYLIo0VzPNpCnsuK/aoCz4ofetbh2rjjTf2+E0uz8yp7KReTy5E//PG9/+9yi3/Z1TQPTAht3pdqFffIQCo6Bp0ne+1mln0E+pS8iUUqOATuRxUzExmvYeQN0R5cxN7ZwleTFLggx0ZICcmLfvuu69PWD+jO+64Q9w0duONN+of//iHAOSrrrpK11xzTaxascS9/fbbhwaNHOFjVtGiscPbzLCGzM3Ml8SnxFLqiCVGqFgo+jPUGGE83xXK3A2Vm03sicqA5TwSDcD4VvRnwMz0jk+SONnPIVk+qEG7Sz6m+ThJP2Aytvjiw/Xoo4/Flh7tGCTGscyf/2YTt48UEebjRHtMTzLPf90G0vNcom5I2FqIn2SfD9C90ywULB5aBlo6bIN3KDOTWaXp8Cs7gKMtVfkSc11drZqaSkKTYjna+1AAc7FQVMGJdI2NTTLnO3PWLMn8r1DRGDhAVu9AzslH95VZUQxeaOV07rJPGCo8SCSfnTap1gGgrq6fDv/BYVpk2FAViwVRHmcv79J9gCpFzNyoPIVe6nC4R25iRZBu9oU/2h7wwKTNKHPRByoIP9xmJjMT4WYVu1nvMnluKWtXEjzZYy54nzczf1aahB2/IUOGiI9p7LPPPr6CtKV45Wq11VYThJ23HbbZZhvttNNOWnzxxVvS8jEOZAshd2RKmckLUz6gT5wwUU8++ZTWWHPNAACXtHc3Bv62qOxhiTIf1zpDjQ0NKhQL8VnSQYP6i9dEN/CVj6WWXMq3HRpplmgeDtoWXdv2ByJey3r33ffiTu+CFWIc9eZT5ZcPCLlZ8e3g/x2OXuhwigUpQR8YeDMvY7lcUoN3OMCy2oGY2SGDCoNC2cPpYLxG0NDQ5JpuOVqowYG4xpemq2tqXLtuUIMvd0aaqqLvm9VGv6vrVyc6ZtkfhkJR4utZuN3TAbjk7kIcCMtkocETHsAv+QBVknkiH+tUdJ4fTpjkZo2HSP3qakT+4ejl/2UhCS9k1vLMuqPy1xJWcfap/4vFYgBwDhitwYOwAg3nNaJ/ubHQ/FF3KotcqHt1dbWQBSZu5ARxDmPEiBFxbzeXjiy55JJxSRDPYb4cbmYCoJnIshzO8wXvnOCX21lC5RXIAQMGxrPlj60Dsfc5+l2ibpGFmT8Dvh9NW7t+4dty07TSiit5e7u/a+e0DWNplQN0tJ1vS4wcOUpDBg/VpEmTvZ0yf4aI1Zq8sVo7e8DeZSCdd0gE0gPl7lQWlBXqFJMeSkw50X4YSDLvaWYWOQOQZX/S/U9NvkTd2FiSPAg/wJR2KHtHrPel7qJ3QvgUikXveGVfkm5Uk4O2/Ed6Oc+ZrkGXfBkUbbyp1CTzQbzs+Q0aPERN7s/eM0tExDXPp+h75eQ1w5fK4cErJSVPR5pZsxrjQXD2vf4vcxkhGzPzB7KcQ7aXv+ADR+bVtSDqRbzurpCZRRZ5Xphzo4jYxn+0bV5eTE7m/+AHP9Dhhx8ulmp5pxeeJMVsTfhB+JE2t5e8D+Ru/HI7eUG5u3U87Hlc+OWUx83DchMgmzZtWsiduPjPaZrNlk8eRrz2EmU1s2hT7JSFARq7mSkHcZ43+nStT3R5/gDiAQMGxGtWaNxDhw7V7bffrhNOOMGXRx+N/kIc+c/Mog5m5i4J3k8//bS23GorNfhKWNGfR/Ite99rIX+IeJ4qJHlQoqxzcqANm3xVkbMC06f7qqHzW2yxygqIGW1jQv5mBW+jUtiZbH169dX10ZSpol/U19fLjLjRlJX/nE/F0jP/dzlI8+CYWXTS9lahu+OZ2ScF7Zki695OXvA4xEU5sfMQm68lQ4AmpkwOLh7D64n8M3cBspiFYkFl15TlYWoVr1AsNvPNZGYVagbmzGXjHmpy8IeHmTmP8FXB47T2LxQLnpsq4R6PWOblkyn8cfdmYgAu+2QEuRW8bhQdkwe05MDU5JMZTDNTPoCrm36UA8rZ52UyM5l9kvJ4c5pmFl6U96mnntJpp50mXjXiwgbeEc0HHvLK6x8Jmv/jXVEzE3JgG4X6wwtT/iPcjfgjPQQvPIhHuadOnRry4qAVfJCjmUU9cBMXws5WSoOvFP3yl7/U3//+94gDP4hwygBfM++H3lb4m1nwN7MYa8izPST/mZlyHqQxM/dV+OGPX04AL4M8xJ4lJmBd59s8nAbmAxxHHXWUfvOb34hJBrJATphMOCg7ryeWHXWXX275j9UtMs3/c5D2iqjy0PgT0+JO9opcOi6HEuOXy9G7jCZOnOQriAO8TxfFhU9MznntjJZv8lVHlrZLTWXvA5nWHrOOpnz0UYA0bSkRS7N/czhnB3SPrctAunuK1wNcvRHntRPMz3SZL810jBxus46QefXaS95OztsT+CDT8YdpvqbzojOJyXwik/nTXPLB1L38ge4vBmXAIaeyh5uZzLqHGNjNKrzJE4DKXK6YbZFZJa7Zx808LmkBS+qxumsHe++9tw455JAAN76+xKsm1IlrL2+77TZvhkwXXnihjjzySHHBx/HHHy9eyTvggAPEZxQp0wUXXBBXzJ500kn60pe+pAMPPDCISzrgRZ7Ij4nAscceq29961vac889dfnll7sW2RC3c3HFZj4JQhO9++6747DWo48+quuuu04XXXQRLGKLBQvlhzd2ysDSNHXEDWHvaTIzIdMxY8YIIKZ+Bx10UFyxiyyZyADmgDof6Bg+fAnvT/0FIDQ6KHizBiCUvb+VvV+Vw8zcrwIUs934JZoXeTDh8Scj2odXqxZZZBE1+koGz3hbZFbQtKkzfAtjWAD5++9/4OMZY2Ams4pJf3PPeFYq9u7/v9D9WSyoOczfemWefW8hL0qf/UODMzMVCkWngpg5v/jiC2KJ+Oyzz47PFJ555pmhjfLJQu457y469dRTdcYZZwTx8RI0YN7FRbtsizh53BZxGhl/gFX+K/gKAeD8+9//XlOmTBHgAUDfe++9UWcuu+HkMq+f8DEJNEAmDJtuuqlOPvlkffnLX44PtCAr7rqGD+/n84lFlnGhu+66KwAG+ZmZ+EIbS8WnnHKKWGrnPX54olmjzVOmYrEoAOyVV17ReuutJ/Z+OaTF4azXXnst3ll98sknRXzyyE1WB15++eUAfOoxceJE15S6hyZMmKC2iHwB4uHDh6vJV1uYSLAicOmllwq5UO9XX301Xvvhhr8RI5aMvlV2QAagzQrKHJiD/EHGL5HDXxfKouwCLVZVqX5WvR55+BENbt6680eizT9vDvc3B/V6NwtxM2OhUIx+XfBnyD3ny19hvuTaizL1PsGEq89RLxJhn5Nd6zY3X982MxdnpkKxKDRBtEKuOX3gPw8ILY+9R94Dx+xuAjDJCwAlL7TKM5qBu70mYM/EAqB86KGHYu/06KOPjteKDj744AC3ZZddNvz5/CIDEAD4zjvvCA33C1/4gkaMGCHuNkYrRAvhfXpAGkD84he/qB122CHCN998c0FvvfVWi6YMqPH5vy233DJWJDgxzdIwrzbBHxm7wAPcMNkjHzRoULgHDx7sGme/WD7+6le/KrTTsWPHigtHvv71r4fWjmb/ta99TZzCZgKx++67q7sI/m3RLrvsorFeLurEPib1Knr/qfNlcDR92pByspqAjLm/ANAAnJF3BZyz6G8fszuwZKzqJHLZlLuAMk2cNFG8ycKkMXP50ufaIlY5aD+TRTD9khUhJlbh4f+ZmczMbT33t3CDdOvRuq/ZOwyNlU7V/v87IBA6fgeid7jo3cjbzOKh4+EFhKqrq8TlMAcfdLCOO+44cWMbe6Vo0YAf2m13ERo6QAx/8iJP8kcza4t+9rOfqS2ivHl8lqRp8z322CPiopGjaW+11VZCG8XO7XKcXua94LXWWku8Awy4s1TNTVwANAMV+7NojAAq8qqurg5AxY/BjXDi4k84boALTRMterHFFosT0tgJB6woGwex4M8gCsFrr7320o9//GMd5fu9ObEMf8QRR4Tft7/97QBpwJK6dRfNDfzZOthxxx01evTomNiwgkAd8voiEyYmq666aqiHAwcOEnugyIJ6N5Xy+wRaAbWrcsglQBt7InUM1zoJAAAQAElEQVRGFmWXH5eU8OEfvnjG1kPZVzJoq7aIdmGlp6lUEvHHvTbOtenxoUnTTyEzi/ECe0/RAgfS5jPQFgo0mC3KTOY+JleZVPY93VLmz0+zX9bHTK8Ihe8AmcftCLncsnZSH5Nd1qq85azgfaGgUlkyw27xhZyRyyyt5ZdfLr5sxA1uq6y8olZdZSWtssoq3Uorr7xy8F9ppZUib97N3WyzzdQWsRzdFn32s58V/mi4aHFo1A8++GDcCod2nB8iY9A65phj4hIa+F911VVC+2M5nD1pBjKuvAR0WQJnEEPTZQmezy1C559/vs53gi/gC09Al4ttzjrrLLEkfPXVV4uldPIdOnSoWN5mgsBKAZMBgI08GEDJl68RbbTRRgIId9555/haFV+s2m233QRhR4tGy/7Od76jQw89tNuIiUpbdMghB2n/r4/Vkksu4SsIs+I+ASZ5TDCY5J155lk6909/1gFfP1DFYq0GD1zEwTzzJW9/DL2vKcu835VbEW4nD0Pj7hCppHJvoahX5vX6OGXyerdBHarnXHjPlYeDbaFY0H333adRo5YVHwYyMxd91iYV1aSCF7RUX6/lRo7WIw89rMkTJ6mpscHbrUGeNNKVS1TEx1I3euJvgQPpnhBayqOnJdCd+flTGTOePA/cPqD4gJD7+JPpHhVXaDoe1pMm4NURomwsv2ICHCyZf+UrXwmQZm8a4EfTGzlypFctExru1ltv7YOQxSlwwJYlapa/DzvssPhAC5d35GVYf/319a9//Uvsm3P3NcQeNRIiDnmzRMxpZwCOvX3AnnAmAAMHDtT+++8f+9ZLL710HBAr+J4fkws+dsHVnPAhfm7CE3tvITPTrJkz9eGHE6L8bAMgIw7S/fDwHwoNulAsaoLvl1M3i20VabbdvHr0tS6gDrHwyN5/veG9T3eD3WvV1h99sS3yQnh0L0c8g11rImv6DWZdbZ1444WJ59zypG95YeI54BmAWO7Oy00YZDQdhKMHaKEH6a7tFnNr/uTfV+ScjxX5g8mDy0wdt6sHPra1PQsnvLsoyuDLdO01zSwGGsqDRvq73/1OnNrmFDdaJ9ouAxBLx3feeWfcqAVgc9CMJWoGNrTeK6+8Mt4D/vnPfy4OQqHxshzIqeYTTzxRf/7zn+OAHYfs2OMmPwZB4rHiwGEx9sABafaTmTCYWWwjsCR/wgkniINWLK+bWQA35WT/2cxceym1yNvM1N7691Q8DrBxsG2VVVaNd9CREdsLw5cYHvIvOjC/9uqrYiJS8qUa5IqMWPJGTuVy5nXqaZLn2Z1Udv4doe6rvzeCpk+fERo0HwYyB9RSU5OXr+08aSOPEuHVNTUaNmyRuNQk2ivUZ0IrBK+Krfv/X8hBuq9ARyqncvTsajMXLXxdw8CZP3YMqBV75qEVqrjb939XxTIzH2/aTwAAZS+4dsoy8jrrrOP77OvHMjoASrnMLDRoNGCWaIm34oor+tJsMTTDsk8KWHpHa8afPWviLLXUUmLJGlBG2x4xYoQg8jSzSE++8h9x0KDHjBkT5WcCAF/2+1he56pNTnSjyeOPhk1ZOeFtZs6h8mdWsZtZ8DGb/yavtr3iAPyjI34klvX33HNPX1IdJSY/vHPrJZRM4oQ3r/5wKKkU7+GW1dRU8u2VcssEhLbqHJnz6i2UeVk+SbRvW9S5en8yn9b8mhyQZ82cJQB60UUWFbclmhXaLB/p5FugPgRE+xSsqGWWGSnecQe8IfmPeMSRt607e+RvIQdplzGjcqJuw0D1dtnmBaSc3h0QhD/6YZv9Xw8+kbMzbbGZmczaTwwkDIgwyEEZEM3tuUaXgynxzUy4sUPY5T/impnb5HuvDeJAF/vAADaDIK8dQfDGTTrSkwDAIl/sdXV1GDFAEgcH8c3MNRffiHUPMxN85D/S5fHgZ2YdkoFZ98ZnQrH157bWTjvuFCfYKTcyMWuuj3kl/I93qAcOGOi9LAv5uleYZhayoG4LA/FctUXdWXeegcamRrHFMmDgAJV8coT855qnB+ZhbhWHIJmMVQ6vlb3/4eu1aBkrKu7u/n+hBmlkncg7nfeyhVUOXvX4y+vvo2lFIO5rVhlp+d9U+efePf6XDxztNQE3QIPl5RioGhtDwwMUcaPR5pXIQRhQhLIsU24SH+DBxA+ew4YNi+Vb0lMe9rYhwskXfoSRhrxIQxj+uR/++JEeP9LldsJID7iZucydCOttxBbIssuO9KJmrnk1xQSGske9mjvRtGkzxKs/df36qamx5HGlUmjTPg30DpeVvavNFzJl5W4iVzPbaqtmkXiFXQxe99yddWP9zQriWuS6un4aNGiwTwazaKu55VnmJLEKKhaqJCtosUUX05TJU0RbQ1410cZlGKjnfgsNSNNxQqwW/0cfif+QfA+TmflDUla5VIpGp0jQJ3pwpYBe4Fa9OvnNkzxof8BA3tYMpM5E3gzurAyYbsFL4emNYeb/Se6smLSNx1Rf+ZmZAEj5j3pTZzPvd15/BhrkgR9h2D1a/GE3q9TZzCr9080I9P/ytJikhQeEnbS5aVbhQZgnE/5mFqaaf7kfccwsZA0Pgutc8879cZsZRq+hgpfHrFIm6pHL2syiHhSUE/FMlLC72F2W3oP8UW5yja7s+9HUtSPETWXkw7ItdniSHv68ulasKkabl0pNYhWDMM/Rl9ZL3r3LYqJEvmYFd0ss4RYLRR+HyjL3o6yYaJz5JAktsra2zste1kxfOsZO+b2Wkb7QnB6+JR/PyKNQKIj2KxaLceq9yZedy15YysS3AVwEMamZMHGCJJOcmlwmXDxS8m0WiLTUsexu0gK2mFEn59XaLLss2yQH3RnTZ2qwA7QnifKa17N12tZ2z8plhKxM1HvI0GHiQ0Ell2fZA8sOzmamqmJFfurAr3U+ZtS5/YkL7Y/a8ZitC9ZT9talbJ1na//AOf+PDkyH6WkqeWcueEemTIVCpcHwoyMlcjj0BulqOcgZlnywUDwg3vL+wJX94aYNPEfvDW7zOMSrONzd/OfFafFq3aeSHTn2DurxtvC+kfcLl4B3G1zu6X+URbI4/e0Bktvxq3Qvj+1RK3bveR2w19RUC/CkM1ZXV6nsTKqqqvX4E4/rZz87QYf/4Pu68MILQlucMXO6g1JTZEDcUrkkzMz7PUAaj4GkWfX18uJFGmcXZtnjsJwPSAKYH300RWbmy/r9xI11jF1lIntBGhsbZIWCys6/qqpKM6ZP12WX/S1u6vvNb84W9Pjjj4sDdAd+40Cde+6fxYTikksu0f77f13vf/C+59kY/LkZLPNn0mTiIpHaulqvQ1n8YvXH8/S/EOnHTWT6STIzr98sz69OXlTYeDmJ587skyTPl/y9CJFHsVBUbU2NkHm5VPZQL5nz9D/xy7wQ7SXizyt1K0jPa6E6l84bwRl4G/j/bfxFQPznrUQ49p6lgrdyfYN3bjdp5CYHDzPz8ng5vOGjhySza+XhTc2AY1aZJfMw0g4u8fz59Riz/2gXXBXTY/kf7kRJAiGBeD7dRr+A3Mpfpb+ETZOnTIm+RT8ruyZGWET1tJm7AboOEeihQmjJ9fWNqnZQ5H3z7x/2Pb02blzcJf6Pf/xdd9xxu9iWKLpmXSg4UM2a5UNKprKDL+XwB0uYhJVcS6RcTb53y7YFQF5dXR0g6Y+Ka+YFAaqNvmWC2a9fnUhXX9/M0+vR0FDv8Yrid8edd8arebx+9+Ybb+rZZ54VN/ix7D950uTgRX6sBkyePFkA84ABg1Rf3xBaN28emJnzq9LMGTMF8Dd4GG8VyGGy7LKbk9zL66dPkBUKPmmYEXvS5AlR7znT5274lF3GWZA872r169c/QJq08h8m8SIzd/fEX6EnMunJPOIhiEejYmuddxb+3ph45sGYPUx00Lra2rg0g6LIO6WZuZHIrHtkUO2aR7FQ8Jl5k6p8EGJmzgMXXYL2dwsGFG3i/0W4mx7E/80dp2JN/ycJVDpE6x7TLJPwMrHcjY85UMbgz+ju5H8xxmeZj0juoJ+1h/LJvJmpycG16MvJ9953n5ZbYbT+8pdz9a1vH6o/nfsHfXaTjTVl8kRfup2ladOnqqkJhSBzYHbN2jIVihbPAQDdGGFSv/51XqaSxo//QMWqgqqqixF/+oxpkj8AVe43ZcpkQaSpcy23yYG96LzMUcS5ez6NDrTVWmP1NcSNeb/45S911tlna/fddtNyyy0X9j2+/GU1uoJSLBScf1lVvhLA4ax+vm8/w0H5nXfejVPYuBt8YlCpc0FcosMkuy05Ub62yLzkrAbwvJd9MuGijjzb4hF+gDNt54SbFYPq6hqXVeU8gbNzGXlNnZFHwdkj5OLtnnyo5Pwg708t7TVn/hFGdV3CmTsq1BLdfXrGXl1d7R2x0WeP9Q7MBRULhWh8M3N3IrOulwEPq0z+Z+LhYwBgBp23uD93bqVjeK8Ih1p+7ut9w/3538Pm7FfJ7bJZ2OTivaPSL7zbNPcL94rnuOwaK/YpaNIODmYW4FABilxWZWUe1hEqu4zhgVZbVSw6KJaEJlry7bOJvr87depH4ra3/v37qf+A/jrj9NNF3MGDB4VmzHvxTz75hKdrEmPQpZdeortc8+3n2vE111ytgw4+SEcc+SPtP3asbrv11ohTU1Otk35+kv568cX68U9+rO9//zD96Ec/0suvvBRKBvzl5Wr0Ze/a2hoVrKAmL09/B10zc4Br0vQZM/T+e+/p+OOP17/+/W+fBFRpxswZHtcECFOWBx74jw455ODI48gjjtRdd92tfnX9nHWmotd1hvNgybkteZUdXNsiL1bwpy2QEc9p+b/IvOx8iEO7VuyKvEu+Xw6PCIMpDqfc3R7To8/zX7eB9DyXqNMJM39kFNQWKxrg4/749CyVfHm72meQdE4uk+CrQhdfconvJ12Y6MLukcFfL/6rLvaB5vrrrxd7bGgC9BJa/uP9oeLiwavY+H9usQhLtHBKoFWfaGVFFmaGoZkzZ7ppMrMAG8Z3KPqdp8HeETK4Oa+YcMocgBrjytQpruFyBexvf/vb+KY1k9CiL3U//8IL+ud1/1C9L0d/OGG8rr32Gl1x+WVafrklNXHSBLEsvsaaa2iQg3jB+Z5yyq90zu/P0SKLLqJjjjlab7/9toqFol595RVdfMlf9e1vf0vnn3++Bg8aFK/ifTh+vBqcN0BuZpEP23jTp0/TlVddqRtuuEF33nmX+PgK/rfcfHNcCVsomC9BDwz5kPbdd98Vl9v8+Mc/0QXnX6DttttOY8eOFTfl1dbWxUTDHPzLAGwbcnOxtPmXP8OZg2/ZCfd/kzeTIBiZKu0lRxEzU5PvR1fSeuYegfJ7FdzWM39dCtJ5RcouTIpv5tXtYcqsKHmDQgiy6Ms7kJjdOhXMRGO43L0Jik5V3UfepmUVBJWsSiWrDmrKTFXVVZo5Y4aefOQBjVximAbWmPrXFBJ1VgbV5rIsakB1y4rDrwAAEABJREFUQf2q3F5XrX4u64F1dSr5MtujjzzqGkKteCUmi3u7i94+Vd4HCmJRqyz/FU1N3lfK7ivvL/I+lamoQlWNB0r080ZfijMz51Ut+ruZedTeTRS+6FoJk0MG8pJrPNirfG+TwzGYxCEMIoy6YeImHJN02JEDYRB8zUyYEH6Q/IdpNltWhMMHf+yYuMkLnma9W45mXj7vD9ZC1dH23jO8LzSp6P3Oo4hXsBobzEeAWqlkUtmUlSQrF4XbvP91hLJSQU0NJfWr7a8qH0saZ5W02CKL6zvf/q5qvX//0kH2178+XZIJYFp21Cjdffc9mjZ1mp5/7gUNH76E2Cf/aOos13AbXZudrhVXXN7B+E3ttvuuWnbZZbTkUotrhx22i7ApH01SqTxLZdVrvXXHaPRyy8oKZW382Q31wYfjfen7I1/e7ud1LqrUZCoWajVgYJ1efPF5HXXUETr2x0e5+UMH5heVqUl1/Wvk3c95NmrWrOmq61fj5azXfffeoUED+2mLzdfXwAH9tP5n1tPQwYP10AMPhcyoa8PMJlUXa2VtyEwu17Yo8/6dlUuerqiiY0LZB/2qQtF5WDMV3GxFyC2T2B93Q/RF+a9QMGUqez1LKhS8SPB1HzPn005yNvP851nOc9o+n5BG6E5CQC38y5kyn7xADEqYjz32mLbYYgvtseee2nff/fS1r30tUSdlMHbs2JAhnzkcu/9YcWc1tN9++2iNNdYQX3+qKla5Nj1VgI3yqXU0lsLpz58AoYI/0LQfQcViwWf0TTIzf1ALqvNBEWDLl+vM2v/Ams2fuPKfmbn20xD1oA5l75MQFz54cEw6MM18YHLZ1NTUhJyQA2RmPjD74NoqLOToiZCZWaVu+MGXvo696KMz7tpaH2g9TsFHO9xm5oMfA2C5WeYF57QA/Ll8qCs1oZ7+9Hvf8v999C/7BNBtXu+sQ5R5uoIVNMP3bmfV1wsZTnUA3myzzXXpxZfo3D+e64D7tk4++Rd65933tMbqa+rJJ54UN6M94cvcO+30JX344Yd68KGHdP9996tfv/5RphpfpuYu9u9973v62Yk/F19Ka2psougqez1mzaoXt8zxXADyiyyyqOqq68SWEUvbaM5mFv1k+rQZcbPd6aefoVN+dWrQaqt9SqWmsislMx2gy86XuGU1+TJy2cfFxx57XONdKz/pxFN06imn6rK/uba//ApacYUVHczrPV6TKCNlIn57KfOyM85iNjU1yTzncvT3TGXP95NUVub+xP8Eub+8js4CMchZY+0RWkCeiB6RVYczyfIUbqHRFc3r/2dN4ks/jzzyiNZdd11V+R51wWdrZub9IJHZvMvABSgIeRacD3Kvri747Lhe9957n1ZcaUW99/57mjxlsj9o3jBq/cMNVfxYygNkoJLPwr1Uztoi8JlnntHNvnwHAEHh2cv/Y1A3MwG8eVHxA0CRU14P3GYWdTWzAAMAmHDiQ8SHiAvhJ/+VYxAsRxp3howJN6vwmzVrVgtfMyNKi5u08AzPPvqfFUzmZc+cBg4YIPphk29vMahDUUcf8MtO1LUj5CwFaHK/AjIFqIcOGRL5AZzbbvt5ffnLe+imm27S6+Ne19prj9GUyVN09VXX6JWXX42vinE95t2+33vlVVeJSeusmbM0Y/pMnX3W2T4WraexXxsrvqBWXVMjJgRsy5WawZRJHSBmZprVOCver/YG5k9l2t2fkZqaWtXV9tPGG20sJg/rb7ChBg8eIp4fj+JAPUs+11CtL2OXXQZmheiPI5ZcUod88xDtuttuPskeq8suu1zf/d53lXlk4s6YPkPUPXMhdoTIg/i0gY+8Xo6S88yayUG5Fb+yF7Ds+RE/p7KHI3dP4fIwrPLqh9lT/xV6KqOFMx9vVG9kGtgcoKGCL7/XVtfo3nvu1hLDh4fmwgyRls87RjJdYshtHsifZH8WfYj0Jwk55v3uxRdfFkAyoP+AmJlzwQHA4zG9ZfJYuYmvVF1T49pzo6ZNm0bz+GSq6Mt1xQDnk046KbQWtCVAnLx6OzEIMVg9/PDDuuCCCzRu3LiQBeBrZkIeLOMjBepCfOxm3o/dgvzwgwd2s4q/B4WcSAN4QPhBZqbXXnst8jOzWIGody0wz8fMXLb+ZHhbEx9ZYvZVMjMvupPXp18cnioEMNDJkA8gx8CP2VEquTZKGib1yKnOge6pp57WdNdeeY1pkWGLaMKHE7X0Usto6JBhWnyxJYQW+8jDj6qxoUnDFxuuFVdcWff4EjjxllpyafXvP9D3nF9zrXqALzdvKXhM/Wi6P0OmhvpGNTWWZCpo/Acfqn5WgxZbdPFYOi+qytMOULVvAVX7dklDfUM8G/UzG/05q1GxUCPsDfUlNcxqUsGq1b9uoPo5FTytMn+WPA51Wnfdz2jSxMkxWRixxJIaOHCQpn40VUVf8aJvTp8+PWRY5flQ/3YTj7G3BxMEbw45Bssx2ClrmzwSbVT2SORBX2dCxERLzb8KS3MXNje6+Q/2Bf5bmIlG6TbiyWwWLs1a9Fk29Oijj/gstKQdtvt8hNLcdIpwpP86JQFkycMlMfDLB4yCGnywYWth22238eWzWQEUAwcOFO3u/wnC7s8o1iB4mPOorqkWg+2LL76kE392Umgjv/jFL/Tyyy9rww03DJDjpib1gd+kSZNcS/lafCISIGWJ89lnn20pOQMig3+Ta354mpkAU2SBHyb+UEVeWdSfsEKhIOSAP/EwzSwGVzOL93bxJw8mNsSHN/HwM7NoK/zUR3/0PfM+Q/GpF1sIZhYywl12zbHsSMHeKG5eKeoIObQIAGlyzZavOzV5O9162236qmu/hxz8Te26y2669pprdeyxP3YFYISKhaJ2/tKu+uCD8e5eIjTaDdbfQI8++liAL5ou7y6v4EvLXJt5zDHH6qgjj9E1V1+jYUMXkazgzwITq/565JFHdeABB2r/r39dV155lU751SnOc7gD6wyPo5jgUR5Twfd5TfX+zBUKVS6NgmvKdWKSUFNdq7JPNHgeS25WOcC7SLTlFltqrTXHaK+99hGHx4455hjts+++uvbav4s05uXo76sSs3wVpkPy8gearS0O2sEjwNrH5Nk8slh+L3khINokJ9qJftnksmZyoOYf47TJ3AW50QN/hR7IY+HNInOg8NrTnAWXdDFAuqB33n5Lm26yiZZYYnEPlapds+YBD0f6r1MSMBd2yQevCpOKVD+cMEGctOULTty8NMSX35oijkeuRGz+vxIfBw9mtc/cX3n5FfGpxyOPOELX33C9uJiBtMN9FWSRRRZRwRu26PutfYE++OAD3XXXXfrMZz4j9uz5jOTqq6+u22+/PU7gMihx+v38888Xg9SMGTN0m4MA30oGzFk9OPbYY4WduA8++GDL2whXXnml2NPkc5ekQy7IEbkA3kx0GADvuOOOOPV7+umnO5gcq+eff17EMbOQpdmcbaI+9TPz8vsfPammef8dWUYl3BMZOHY4sOFwXzccN9QeYvm55OCGdsdEhwnN1776VR32ve+7xryaLzF/Vr//3TlaZumRMrOYnO7hy99nnnGWt81hmjhxkj71qU/rd789R6eccoqGDB7qYNrghTAdc/Sx+oxrtOuus64uOP/COG297MhlVXKQYlLx+W2306677q6lRyytYz3uTjvt5HVg7Kp2AG5wavT8GrTpppvrRz860utjmjljVpiUebnRy+sMLwc8APCtP7eNfn3qrzV0yFCVSpkOP/yHOsAnAfSFlVZaWUwCPv/5z/ukut7zyaI/tkdGH4vjNYNfuVzyPlZwPmWZCvJC+Z8LPhoCZ7PdrXn6zLVp2o20jAXmKQn2hDIfx82s4uyB/ylxD2TThVl0klXmDQOVm81OsvuvycmDpmTAynwGXXTHhx+8p7rqKn36U6uKhw0GDHiYlKu9RAdqHTdPb+aZuMPMxEPsVn8ISpVO7g7SQaQ1q8Qlf9z4m1X8cJtZixbQ5KBGOP5Q6zTO1h+ArHeQz4qrqqtV8vJ6EwtN4cYbbtQG66/vy9bTxcy6prbGJ0bVXt4yRZ+D/IF1HzTvo485WocccoguvfRSTfUl72qfTCEDHlpkcO655+rnP/950Iknnqif/exnQYAZhF/rcC54OOecc8RS8/nnn6/zO0kXXnhh8ILfRRddJAi/v/71ry3+V1xxRQAtQEx/OPzww2PScfTRR8dqAPV54403fA/wMn300Uf6/ve/L8JefPFFXXfddXEpBSA7btw48dlJ9jH3dS3nySefDL4//OEPBb355puxyvDAAw/ovPPOi/5GH3FRuhb2iM4++2wfKIuuHV0bdj6Bueaaa+r444/3gXiW4A/4A9pt0XPPPReATtgLL7wgCDuU2zEpB6/88PpQV9E777yjnFrzfOftd2JyM2HCh963pumjKVM0afIkX7qd5O7pvjdb65payftiWSXfr6U/+jAQssmYwHtXyzpATQ7QZgWZFVXvS8+YJQe4DdffSIccdKj22Xs/DV98hOS8G32ZuWBVKjVlWmfMuho2ZFGHpyrV1fTTumuvqxWWW0lotUWP09RQ1qLDFtMeX95TW225taqrajVmzbVVXaz1ONKsGQ2hee+w/RccTH+k1T+9hmbNrJf88SlRJudcLBQFmNd42tGjlldjfZOqijXuJ49nqipUa5211/Pl9MXU2FCKcq62yqc8sOhEnar02Y030be/9V3tvvseGjlylBwnPUziWSv5ZAFHR+RV70vw/fsN0OTJH0X55bJmTJ4bj5I3DnmJIdBMLLMz4ezfr784JFdwcCZtydvSC0VxeoQKPZLLQpqJ9wkB0E0OGOY9rnHWDN1+y01aduQyKrr2xaCJaIiD2RGqci2PQXXy5Mkx6PFN23//+9/ed3wJp1SSmanWZ/IMlPCHsJMHgy4nONEuKRsDNeUhDnbiQHTYGt+XJR0m4fgT18yEP3Ew8e8V5OUyMxVdPk2lJt1w4w1Ck150scUkf0rr6ur8gW0SdS96G9BGkAe2+sv0+uuvC2BAPsi65Lxay8DM4p1Ulr2hV155JfZeAQo0zPvuu0+Y99xzj3LioBlyB/QvueQSdZYu8H1lAPnPf/6zzjzzTKEd/frXv3aN5Yyg0047TSeccIIOO+wwffvb39af/vQn16i+F2DOwTc0lf/85z8CLAFz/BZzOa233npRF8rNd6QHDx6sjTbaKECS+iEo5DfNJy6sKEB77723eFd3rbXWinoTTv9koKOf03ew47fjjjtqs8020y677CJO9QKAlPFLX/pSaPh77rmn5qQ99tgj/DB33XXXsJMn8fbaay9fKt1LTB4OPPBAfetb34rJFROsztI3v/lNHXrooTrooIOCJ3LEL+jQb3pe33bgOlws0f74xz/WT3/yUx151JE66qijRFs84PJlgG/ygZ2+ZOara97hKoDgPdLtDPydoZkz6gM0Ae7GhiaVGssOjpl8yPG+XnYqOVX8ShDUfkYAABAASURBVA7aTR5ecnAtud2VTI8rDy858De6NpxTKcC03petN/BJwEorrKIpk6b4PnN9xBWvPflkwB8pr4T3CK8H9iYHUwC15PUFtDOfNFO3spuNDY2etsnLlXmeZbEMrazgblPJy9Po+98NHqfBwRWzsdHr4mMZ6eeJPM+q6io1NFT2yzMvb16e5uIqc0sLNYM05afss+LsRJP69e/n47jJ2YVp5igOebV74q/QE5n03jy8hehZ3UQAmJl5R8hUrCqKQfDVV1/V0ksvrZJ3Pvb/MM0qcToiJwbBYcOGCc0MgGAQZI9xlu/bPP300zE4v+5AQx6EkQ/2sndEM/Olr4nintyiAxVgnueNu8knFcQjHf6kw4Tgk3d6MxNheTzC5z9lKnn5G/3BHO97cWiEa48Z01zOYuwvm5kAXOqi5ranrVp6g1sAEjTjT6/+6Zjw8CDXu2xJB+ggI7RSgPFXv/qV2Kf+5S9/GcuE+AGQaM5nnHGGznBiEgWxzAth7yyhnf7mN78JzZgLcegLf/jDHwKwudgC+x//+Edh5gBtZgHKgPuKK64YQAIw024AMCC4//77h6ZKf/30pz8t+gJl5tIJ4rJ0DdHXmPRA9Bt4sAVA32Q/ln6BSf9iooOZ9zk0FMJJS5rvfve7YvUh1+TR5lvTT37yk1ge/8EPfiDKBzBTVgg7YL3zzjvHK40s53NeoCsIXp/61Ke07LLLisnIoosuKp67ESNGaPHFh4uyMyGkzkxapk2fpsyfsenTZ6jJn3H86utnqeByjz7mHSlMj5M5inYFOWsXvQOHKmRmMquMKfCn/TCz5rxxQ7m78gw4i+Y/M9IreNA+3/zmIdp6m629H2SqqqoWz032sbJnyubCG38eMUzyhOS/3I05J1W03bLzhLx0zbwr8fBrH8GnWKyKlRomRc5J+AUfR9wMinpUyu/Fir9KGTOf+MxUsVjwtiu4v8vEK2IFt3t53KPH/jzHHsur12WErLuTCt6gZaaqnkn9zJmhUW255ZZabNFhKnNnrsreCYpiwDfLH6pKh4mO5OnmZvLwEAYIARbM8I8//vh4sADryy67TNdee21ohE899ZTQ7O644w4B6FWuZaIZAbaE5UuXV199dWg2hANE8LnENb4rfb/xn//8p6ZOnRoTDdzcJoQbHjQsZekNVI4HL1N1TXUADfvQK6ywgiZMmOja8wxfhpymhkbfhzN/ZDMveU5u9VGh2VM+GFXF/t1JJ54UQPa5z23lPGsEuJhV2oo2YMAGuBjAMckP8Ft55ZWF2ZpWWmkl4d9VtNpqqwU/gJRX+TbYYAMBKrQtdii3b7zxxkIjZrWFJWL21gFatOhlllkm9jSvuuqqWLJGI6Z9hw4d6vuQu8YpdvoO7/FvsskmIRv67BJLLBGTvYkTJ4rtAbTie++9V+uss45rSY3iikoGdERbdlDiecj7FrLDjj/9hvfX0azRjtGI5yT899lnH40dOzZWBejzXE8JAdwsuR955JG+H/qjLiV4/vSnP9XJJ58sJl6sWDA5YiL261+fpjN9Asb1m2jNhLGXyjvChJ3u4TvvvIvM/xUKRZmZA1w5ullFJpnK3l87SwVz3jIpNEU3ynK+noO7K37eX1s030o8/Numgmb7S1ye4k2nYqFKjmcqucZrVnD+rctedneFPNfKn49dWDw3DOeZiXb2/8KOiZvhEf4ZZZXn7WROaiG18C57xHJH5OXafG1NrSZNmqwpU6ZIMrHFWPYtggofypy18GcoAMTlPyZY9Gee7yZfRTP3M6+3mfPwclB29+qRP6TSIxktjJlk3uomi8Gd96JX/9Rq2mqrLaOjoIFm3onMKo3eUfk0ubYIQK666qpi8EIzQlMp+MSAwZMBGBPNj+swd9hhB11zzTUxUKMR4UcYGhdLhI8//ngMtF//+tdlZgKUL3OgZ8DlvUvA/YknnhADNWUnH/Yy4ZEPxB2tQ/fEz1TlS/RMMijz4ostrmefe9YnJy/HHiraZpMvo1HuzEcdbyJBHy9LpqKvMADILHUBgMcdd7zvTV8SAIFc2Zuk/gAN8WgP5ABlNHwzQ+w5NXuFfHO/zpjUESLvsg8c8IcfJoQdIhw3cWlXDnh905dxmTACQNQBTZQJBYMS9WM5mn7FxAL//fbbL/ar2W9efvnlNWjQoNhOYWICAfD0DQbD73znO7FygSyQ48iRI4UM6TOrrLKK7zeOFHbCKQNlx045IMrZFuX1oG/TfsSlL0LYIeyEY+8K4plC+0cuTDqwszrAhIc3BHIijOs1kcWgQQM1dMhQ17iHahnf2mISQ/3MALeyzAyMcsq6hACdkgMPeSDLsgNZ5lQxaXkn7+R0kfBzu3d9QRU/OVBlTphllXxcykkyTZ82w8eszDVSX+r2cSceGOcx23QHfb4V0e8yZw7oZZ4Rpjw8cyq7P2bFLYygspc5cyp7OEScChEn8/JlHq/9RJ7VNTUB0BM+nOBVMaFRO4dmPmplyvmXXWFq9GplavRldw5a0p6M4fRjF4U8geCrHvwlkO5GYfPQFIpFH7CqhOayyaabRiObmXeGJhWKBX8gSmIwoVN2tCgMILvvvnssW3N5PnuT+KEZsZe4+uqri2U5yoGmh7aRL7UXHMzJj0GNJUOWG7fddtvQlhloOYDDTV1ofQyk8GVgnOb7kAzc7GeiwbHMR/nh1RvIrNKlX3v1NV+OXFwbf3bj0Ow22nBDbbPNtvE1nuHDF3WtmqWsYkuRYzBodmVuArz9fS8K2RFG+yy++OKxF8o+JzIApD1qABby5EHGJC5EWG7mdnhBuDtL5Ef7IX8z8/Ejk5mJPPM8zKwlG7R8luY58Mby92GHHRb9EEBkEseSNpFJyx4rfYuJIPzZl0WTPO6443SB74UzOfzwww9jMkM52I9leR8egBh8IMqCNo/GixvZfeELX4h8AVOWt1lCRm4Q/Ql+bRHpIcoHX0zSQHl8/Giz3N1ZM+eX52dm8bxW+FaF3YUez3HZAYayTJs2XVXVRbxjUswHJphgwAsyM2UOXNSlKyhz4JNDS87L5P88j7KDHWGzqez5Zi1U9jJkzURyT5KzCHaZ80WWPPdmJu67LxSK0XaEtZCnynLyNC3+2L0MUQ43I4774YbC7RlX4nvZPA4gygSBcMijB+eK6dYO/WUq+DhH/6ZfuVS87s6AjN2ISraYLhfPv+wTFMpDvRkD6urqxDhdKBYrMUnrhTGzcPfEf5URrZtyorI9Td7U3hA8BKZSVuWEKbqCMvOGcNmWvb6lckFlX2Ipu9DbTWryBeqcSm6Hys4naya5aS1U7fnJG/2t19/U9Okz/YEd6g+zh/tSTsGqlPkSlP8vKzW6jxfEy9Xev6J3GjofWg1aDEvQt956q7Ajc4AWXgwOZiYGRgAaNw8dYTwEQ31JkyVPOjPaAQRfBk4OE6Ghc4Bq7bXX9uXfT4mlRZbF2T9kfx2QoEObuWCdKXm3drtXt/2Rl5kJk0zM3G7Sm2+/rX/d9G+NGj3KB5RGBxLToMEDffn7Oa2y6ip6/8NJms5NSz5blvlEyUVfFuU3bzu5zTxN0bWHkreLiRUP+QPsjedG2VdDthJ7wCwtI0NkShmoN24zeHlf8DRmnj7LWspIvK4k8oTgKf+Rvxvxhx9htC1lxJNBB82WfkM47QcI53bcxKN/5X64sY8ePdq1w2Eys5DDqFGjYtKz3HLLxUSR5XeA18yivvAwq8gCvvDALyf44p+XmX5HGO62iPQ5kRYiHnXMifDcn7DOUs6vtQlP8iuXm/zxbvLsSk5SwftSQ0OTg1k/73fub9LyKyylCR++o351NWqqbxSnnBtmNsm4vzvWej1tucE7S1MzlSXXijtClC3zQSwnygfYmCzaIfy9D8r7OTSnO/w8nDQRBi934y8fIzMvUtnLVGryfux2U1GZj10tVPJ8cmrt38quzKHG3WFih9xtnleFJPPyFZyKXu6C52ueV0UOHub22W6P5OWphM3dXijXqq6qn6ZOmapJE8erXGpQ0ZyR5ykXu0peJi+3cDtZuUbFQo2yJlOTL3FPmPShFll8EQ8uq6qqILpyydu8xidgLgCF3F1O7THViV+hE2n7fFJvXs0beaf02nv7eENpDh7ekd0HvlUOpDNmTNcVV1wWe34yiZmiJ/UYs9Ph7ijV19e7hl4dGiFLbewVMmiyR93kS1Isyw3yJUkeWHgzUGNnEMRNx8r9mGViR2tioCQtWhJ7ucRjKZRDOCztsffNIR7S/OMf//DOWyU0SjNTzhutu1TiKVC3/6gTZcfM82Q/lZPErCJQAMLef/89PfHE4xq93GhNmjTR8bYUZc+IEP9h+d9tAi+IJWEmN8i6krLv/E+bQpQ4N7G3h5C1mUVbs03CwTSIA1Tq4I+8W1MHk/e66NSFCQ/9kD5CAXlmZs6aqYb6Wb7tVR39jjDifmz8cEeLnyekSyaa/TzOiyyQc7FYJT55iVZc31BZrm+RszNtbS85MDc1NYpXNCdPnhSnupdYYrjKALhPwOQDuJlVxnxPqx76LdQg3WEZ0zBB/p//fTJ9a8+KHXCYMuUjAXgln4mWXbuiY7S0NNGaCf/2EhrLNF965kQxB1nYW+ZVFl5jIYzlarQ9ABSekydPFiBqZgLg8aP8mAy82AkvObjSoRlceD0HLRowfvjhh2PPmiX1W265JV4/QjMnHRdYcMgCXk0+QcDEH7MnyMz8QSrLzByAJ8c7rSzfIms0RyYxzz33vJjEUL+amloVChbxY7ZU+e9j/1P+tgjZVVdX+8rIdN+jmxU8zKytqB3z66HYnW0PiskEDdnCi5UYyMy8S2fzRPDMyazvyDIv85wmcuGZQkZMeHkeOQlP3+P54DnDJF6Qg0CYLUA9b3JMPD4uNxSikq9WsAI0yce/Wb56NltGZe+rEGkwffyQ92EfnxsbGzR12lSxbcizTvuySuIJZEb/9AHb2wr/nqCFG6Rd1gi+3dRmizgTGizII4RZ8av32fN9996rvffaU/361Yn1nGKxInKPEaDgXaTZVId+jY2NvqxWp8rNP1kAxv/93//FaV8uiuC1H14bKbo2z94ye86kYeBgb5Ibp3DvtddeYikbf0CMvUiWvDkYxfumpGP/8Rvf+IaLKRMDMncxH3DAAfFuKhdHPPHEE7EvywNQU1Mj+BYKlXp2qFIdjGzGA6PQTtBgeKB4jWijjTeO19zMzMG4EA8WS/N8OIBDYwB3//4Doj5y6Wfy/1vaLRz+X9t/rBIw4DKJIU9iMfhi9naifSDaOifclL8jRNuSrt5Xc2hrCHdHeBCXMpAOs7fLrj3lM7Poi2YWfY6VKZ6HwYMH6f0P3vG+KCeLHpfJfGKZtUFlX5ZNVPZtws4SE6FCoaiVVl5Zr497PcYlHvOyT4r8b7bsfem8DHmgFTJXZgoaP/59X/1cRUOGDJKZuV+VyoTLYtzIvBXVQ79CD+XTa7PJvGTtJt8nyVpI3lh9THI7AAAQAElEQVTN5A1Go81Jzz7zlIPXAK2xxqfFhzW8rT23stPsvzzv2T7tsxUdfAEJTs0CpLySgrbOwMDBnS222CIuYWA2yAUTXFABZwZHBkZO2ZqZl22NmDHSoVmyJF3BAZbBJb9448477xQHpZiR7rzzzsF388039/pnIoyDZf3794+JAmnJg7y6m8iLPKgPdlYLONHNpIP6EEadHnroIY1adlmVfZbMzBp/4pMO+Xvz4RWEGwpHG/8BSAA1dSQ9fGiHNqL2Si/K3Bmi/tQZ+dbU1MjMgnJ5zAvvXimoeSiUmQVI0x+QAyZsOA8x0fc3maSbb7yWfFnVpebPj5qJgT+3JzPzB7ArSDLxGzhgoIYNW0TTp033SZLvp8PfUbqSh4/auIMylbOSqqoLDugzNXLk0qqpqRbtWFVVI/bgJYdMb8Nm1rDvdvIcuyaPjBo7qzlN9+o1f9kco/HH3F1QSn9GW3HJ9Pzzz2nrz22loi+tyuWD5tEiHy8L+WeeIie3tvuPQRJ+AA92Bk8ziw4FUBccaFmWNLMAT5awyRtC4yROyZe2SU9aMsbNXi5peU2HpXPAmddvePUGDZv0pCVP4u+2227itS14AOz4kx6+8OxOIg/IjEEu0x133CFOZFMO6o62yzWVaPqrrraqan2Ze0D/AR6nvz+EjTKrpJO3BeWkbrST4ZgLITvqTVzqiSxwzyV6r/Wm/HnhzCxkYfa/TQYs0mHmdaf+yMLsf6c3mx2HMkDwWxCIuphZVIV+iUyQzciRy2jylIne5+rV6HueJlPZQcLnjG7KKfs4Za5JJ1K5kzIoFoq+tdcQYyLX2U6cVNnyo01oJNqr7OMyxNK4fBwo+QSqwfeu+/Wv07BFhmn6jGmqrqqWWYGhQZVfJvO4FXv3/99pkKaiUPcXdd5zMLOWxObiNbOKO6sY7f+fdDnNTlX2pRlcZqZisaCCg/Lrr4/TkksuoREjlvCOMkt0AP/Pw5nJZaqcNK8UgP/dxzuB/++dBnn+L4KXmansTzpEfPwgs4p/0bVt/DEZVM0ouyKNmcmsEg+ALRQod0FoiYA/2jjLw+ztjhkzxmeUNbAOTQELfM0s6kNa3DmZmfjl7u40yZv68R46F7OsusqqmjljZpQTsOZCFoCVcwFvvf2W3nzrzdh6oJ4ln6S40IX8KW8LNZe/xd3KQl1wmpknzWIAwN3XyKzSRh0tN/U3q9QduSN/qKN8iG9m0Qex9yh1U2a5bHgezSyeM7IaNWpZzZw5QzOcCu6fr+bMPkkt70s5MQbk9mT6cNhKNh2VRxb9q8pBdqkllxIKCG3DAw8o016M3UYjeUalGMczffDB+76tN9jHwhpvw5KKVVUy/0c0yGCApYeo0yDdQ+XspmyyDra6F8OTVNrI3FH5s4I3G7O+cskbtUmOd3HIajUHjMxBlF5GhzAzmZkncib+B59mw/265s/MIg+ziglX8sZsi6q8AwJYaEU5WONHmtZE58ZtZi1scOfU4tmDFsoEob1zaxpa/+LDh8frE3V1dXH3NndFc8p7/PgP9P5778eFJhMmTPCJU31MPJA/7ZAXO9y5I5lJAh2QgJnFszdnkiFDBmvw4AHe/96R+YhLfy27Jp21bJ0xfohhIpE/gFkXUUXGLleXNZ+6rK9vkA/TKhSLKjWVRD7EkVz+8ngeWF1TpXHjXtXgIQNU4tVYb69ioSgazswd4ucFbD1o4NWNlOfajVn0Xta5qOfJ9EQ0MlQsFLzBM/HwAVrjxo2LLwoxg542baq4BMC7gAoO5vX1uVbtDKKhc7Nr5FT2SUFrojytKc8FP+KhTQLOaJ1F77z19fVRF8JyIi7pzGYPQvi1JsJ7mihvlU8yONXOATb2osuuHRcLBXE4jv1pDs3xPvPaa6/je0wjNXr0aPFqGmWl3l5Zt3obxB//NZP7pr8kgXmRgJlFsvz5qO1Xq1VXXVnPPPu0L3mzzSKfzJedsjYI/zbJ4yb/fExqrwkYz5w5S6ymoTBNmDhBcVJbDsz+qJcdwMsxZmbuY/GqHKuggwcPjNWPqqqi0KQZqs2a2xVHtHDP/FfomWwWxFyylko1NDaqUCyo4OAA2PH1o20/v403biEAur4ZmHkHr1h0QPeUpP4YOdrnD3VXmZ5Nyx8dEb4tHm4xM5lVCLBzr3AXi0WsQWaVcDML95w88MRvflC9Tygo99133y3e4+YKv8amJgfoJYW2zArBiBEjHIczUfp777tXq626msaP/zDunEYmUX7/L+PBy9zif82G29JfksC8ScCMHtec1jU0PtTCJH7ChMotbR97XhwoWtzYEynrChn4mBot4E1RLmUaOHCQnnziSQffmTFW8/ybmWvM5cgP9zPPPKOCj9GLD19c5uhYdJAu+Lies6Kd5GOFmTMN5t3/nxej+zPptTkwGiP9dpM3jC9ReRvRTk7BQNGIvp9RXV0VGnTZl71XWH55b/xS8wUGTZ4kk7kmTVxFfi6VrBW5tSv/yMfMhJmDrlnFjV9OdExuJ+OzhAwi8h/gRxrimHmd3Y/OCbnVi0/BsVXIrBKn4uq5/zlRTlnHjx8fN1+hGRe8LIiXiRLhlIal73ffe0+8fsVpb+qBH/WLmsR/xPQmrRjp/ySBeZKA2cefBfqaPzAaNmyIr+Is65PHD0UU+mgLeU7EC8K+INH8rIs/12UHey+CuMiEZ//dd9+Lq4+RPauIZhYrFMTB/dZbb4orlQcOHBDnbRjTCSO+D+JYe5wWPJD2hkErgnx+VBEoEnbi5DwePAyEEcejh+zbY/IKBcM4cXmRqixvYAdttDlnr2LB9NTjj2h1X9qqLWQeag4MJV9qqQl7VbG6+cYxHuS2iNJ1jgBXOGBykcltt92mZ599VpSx7Ms63Eh211136dFHH41JBO/8ckEJH0XgdSoOV6CB8lUj3C+//HLEK8Rs0iVGRcmgB8kMWUlmLm+vA+0H8VDxehX3i7OCQdkH+/7fAw/8J84EcNkKcSBmyGuNGSNWPWQF1dTWiuc3k/M0qSwxlga51R3+v7et/9/SP4iDO1GSwNwkQL+cMywzU3VtjdZYcy2fxE+NPpa5dp1lPnl3kpP5cwXRETP6eCJ1Vg6lcqNKWUkcEmtoaNTQRRZRvwH99eZbb/iz3yT5GF0qN/nzbT7GlTWzNEWqktYcs7rMqlRdVavamn7enD7uyeNbye2OHJk8jVt76K/QQ/n0WDbmObkMQ4iY7ow//L1Nws5/LmqeB49nHSBvLEf6yslsi/QM3A2NTb7PYXr3rbf17BOPa/2111KVdw6zovzZk7kJhV0FmYOEmcms66mhoUG1DkAsAfPRA65s5PUpAIxPFHJ5CaDMJ/j+8pe/iH3b6667LswLL7xQXFTC5wyPPfZYcZPY+eefH6ci+Sxlle//Iru2yKzr62JW4QnIQmYVd+aCZNLAa2V33HGHuGwFO6+INfgS+E3//ncsf/NBDMo8c+bM+BIOYE5aALq6plZNHB5xngyimSz6gdw02shN5T/zhzLI/8v9kpkk0E4JlHwLRj7JXX2NNdXofU5WEBPmMgDh40TmFAOF92tl9MPK6JT5CJNo3mUBOPMYl12uViiqqrpaK6ywvF4d96qayg0q++QoU6amUkny9vlw8jtafsXlNHqFUQKka2v7qdbJn353O0jHhd9lT2HtbPmuiVboGjYLB5fMG7tC3mxuzx8sV6BpY912262xVMIyK8uwlbjeDTxuT9mLxWKcXEaDfv/993XRRReJL2QNHTpU9957r3bZZRfxFaSjjjpKgDQHrPhs4RprrCFuLOPikz/84Q/abrvtxJeS+EpRtXfugQMHxqGXubV0T9TPzPxhsSgC9Xz99dd9n2mgAOeyax4QV6UCzNSH5e9+/frFFaZ8BcyskhaAzzw+8YJZ5v97G8kfv6Cwu1/6SxLoAgnQ3xpmzVL/QUUtPnyopnw0Xlbw6T2A7H0vKxdV5oM/Tlks7+CZKB9f59ksV0tOWVNVmEXVavjiy/iCaJVmzmhUqVEyV519d9K15jpNmjRJyy+/nOp8zDAzH9MLMquMGfrYDz/oY57d5ih0G+e+wDieg/aDaNkfICjLyhLUPKjj5tOIfDeWm7gafGkFYJsfIgC8zEx8C3jjjTeO7x9zVWaTz+bRpPlwBp8UvMM1UG4jYz8azZvbugDizAEKUH/88cd1yimniOs0CWeggff8qhN5UzYI2ZbLZXG3+FZbbSXqhpsvd3Fxyc477xwPF2Vmef/+++8Xn9Vkab9YrBKn7dHMveUFP29M8fOqh9W7Bc5ESQJdIgH6k1kx+taYtdfUc88/5SNHST6cyLuxyiXz5dasQu6RuTuRryh0Ug6lkmu/Lk+WtOXjdanJl7x9O2yVlVfU6+NeVV1tlSseM9WvX7WmTZsUK4a8xkm6QrEgttCY6M/uBDbb2oO2doN0D5ap92fFUyfzfxICHNC/f3wGcddddxGHDgCUMk/gfKhJgy93A2J8PvCkk06K+7V/9KMfCbACbHfccUfxFasTTjhBl19+edz1DciRxsy80zaKL2px9zfgzpeO2Ns284fGUczMZGYtNQPkoBaPbrDA38x8QCtH3sgXLZqHiIkG5R8+fHic2OZ1LPxKvoSFLG699VaNGjUqNG4054GDBjqfzKncUlKaE8IjN7EnShLoKglU+xYUWzGjllsm7vGeOHG8s2b0oF+z/I1poq9noVEXlMzOycAFqHJWkktVmZtNpQafEDVqqaVG6O2331BDw0yZ7zNnvvT9ysvPa7HFFxPjINtjjC2Ml95IzX/5mJebzd49YNBLeiCb3pkFA7Ljjjeg2kdUgzZy8u4jGh9z4ofjNWjAAK3oSyVEafIZXKlUdp5ZjxNAxOzvyiuvFFd7ckBshRVWoFjafvvtQztmv/mss84SRIfk28Ls3+Lmq1ennXZaLIUDfoSRmA9yXHvttTLzyuPhlLnwepLK5XLkz4rF7bffrnXWWSeuPOWBos7sn7Ncz/65Fy8OzAHUADgfDHn66af18ksvEyTzPaiwuE7DnzeUO6NHuBXTnekvSaCLJDBzxgxZVaaBg/tpq6030etvviJxvkU+9shHEZa+xYji44bqvUsmyjoph6Jrw/n2QbmUuZQLDsyNqq2t0ZDBg/XyKy+6tlzQ+A/f1ZtvvaYxa63p2vQ08Ynh6qoqj9vgrdP6z9yRk1t76K/TIJ0P0pQXOwMpZu7G3tPko6wqNAdIUijIx+C8TDjbS2Yma162ysospZRUW1PUHbfdoiVHDPdnrhz7GE0cDmkBgfZy79p422yzjVgKHuCTh1/96lfxihIfwvjlL38ZX4ga6nvUfEGrWCxqgw020G9+8xufYS6lJZZYQrvvvnvcb40J8PG6EgfKRowYEfUz88HEAZoSF7yeZoa126nsIE0mN954o5hcMLEAhFmmf+SRR6LMaM20ba1rLpT5s5/9rMzMH77pkYa0TY2N4iH0kbDSTbDAOMgiD4KBBQAAEABJREFUfuZ27z1R3ybfKoBnIpeIt3uSQ8fkYP6MFKur4qxI2ceNLbbcXKVyvUpZg6xY8t7XqMwa1dA0080m75M1ibLOy6BUKrgcq1T2fWn5fnSp5HvUWZ0a6gs+Hq6qV19521cOC3rllTd8tW0ljVhyhD/7HrOuRtU1pCvH859Fn2fMa4EV54u9/f3Ah5N5/us0SM9zzr0mYeYlaR+xhFpuBoqi722amZ5+6mm99+67DnBLemcox/4owAd4VRo38wbtOaJ8aJVoj3wg49BDDxWfrDSzGCRWX311HXzwweLTkyuvvLLXXeGPxswBspEjR3pdlhIfzWBpnAtCHnjggVgCX3PNNaOO5NGTdUOWaMuYH3zwgd51ebN3ZGZRfkCUFQAOi5lZHCTjOlBkwASEpX/MNX2mvNJKK6q/T1yoQ5OveAQDmj8s6b8kga6XQPQ1n+gNGDggmFfVVGvV1VbTB++/76Bgamj0ZVgfV2prauL56slna2HMi/F5wICBqnJtmfFk4oSJ+tzntvJxuqxiVVH4Ixczi/aIRpuP/yWQ7ojwraCSP0zedpo1c0ZozvfcfadWWWkFLbH44tG4nOqGJYCOOS/UOg2dpS1qHWdOO52MV5IgABuTgcLMIip+aKL4wxuQo9yUGXAjbs6DpWMOoLGvzal14hKPdDkF0278j/JQvrq6OvERDfb911tvvZhcDBo0KJa1WTFYzQe+oq8M8LoZl7MwwaA+aNUU74nHn9Do0aPjdSyWzPGjDrnpE2a3ViZUbkl/SQJdIgH6GBPMLPPxw5ddG+obtcpqK+r5l57QO++9qlmNEzWjfqImTnlHU6dN1JSpkxJ1hQymv6cpLfSB2ys0edqHLvOPNGr5pXTjTf/Qhpuso8HD6gKk+/WrU//+/dyeiTZj7JndCRg/IWATc3ZId9rIrTv5L1C8WbYCvACpAd6Qb7wxTiOXXkosG3NntLKyAATCaeCuqLyZxWzb7OPmf+NN/hyAANTyeHQ2BovcnZtmFpMLygsAkwZABMTxoz684gS/1mnMZpcn9+8uk3LAm3JxGv1zn/ucWOY2Mw0bNiwuLtlss81if5o6AtBcwsLqQF6n1994XePGeXv5SkHJNWg087xODsuwD6oAdVjTf0kCXSIBs8oz1lDfpGKxxp/nGo1cZlmttMpIjZ/wpl546RE99+IjenXcU3rx5Wf00pv3JOoCGbz4+oN68fWHnB6u0LhH9eK4x4Kee+URvTX+Ra253vJafZ3lpRq+NV0Q418+LphZl7R/Z5ks3CDtIzKDensJIAYwiI/mNm7c61rf93NpVPzRUBn8CccPsyuorUaeG1/iok0CaLwzDDgzscAPIh0AVyqVRBkx8aP8ZhbL9ezxEhcijHjUi7jwz8lsdifOMoe6DsoT3u0h6tCvXz/lp8x5kJA15eTdRupH+SgXZeR2sY022kikwc1EI0B7heWF24spLjRBDqRRFv/7fy0Wt6e/JIGukwD9juepVCr7pNhUrC5o3/321Zf3+LJ22WVnfX7bz2vnXXaJCf92231eibpCBtu5HD9J22yzdfh/4QtfEFuCjH0zZsz0dqkK7ZkxSf5j3DGbPca513z5W7hBuoMiBwxm1dcL0GLQnz71ozjRPXP6NN+7KIU/GmjRl1wByQ6ybzM6HYbOMie1Gdk9zSpAS8ejnO4leJjN3l/BnzICUmaV+K3jUAfSoYUChuRtVumsxMsJ/5yI311kZvG+9k033RT763n5qMf111+vMWPGRNbUiVPcLHvzRSzisS89Y8YMvffue1pj9TV8ElJSwfkhn2Kh6PicRVrq5A63uxsUd1v6SxLoCgnQ1+hfLHebFdTUKJ8sZipns7TEiGG+7DpCy44eocUWH6zFl1hESy0zKlEXyGCZkUsoaBk3l1nS7U5ujhq1rJZeekktv9zoeDWzny9xF4oWq6C0FRMq2h0TN/b5SYX5mXl35F0oF2QqBUllKSsqw8+qfAwuSVZS2ZrU6NbMfczjSh4vCB8p80EcKvsDVXJqUkFQ2bmWfQxnX/qRhx/SqFGjfNBvcl/39IGdRpUVVWLvyfNTB390CDOTmYmHmuQAzIUXXigmBUUHf4gwCBAlDUCJtgig4kc6womL/aWXXtLDDz8s4jLRAJwJR/vEJA5hud3MfBApCX7wgD9xMLkQpH///hFOfcmXOMRFw4UP/mZGEpEGvvgTB3cEtPEf6fAmLnYzi9mtmelf//qXJk+eHIfa4EfZOfQxbty4aAcAmwv0n3n2WW2x5VYxYaJclPWBBx/S0suMlApFb2VTbb/+MrdnVpC3nMqWqayCk/eRrEryNpS7gryvSJk8ipMp/fq2BMwsnq+8FvQliOcCP/oezxB+mPRZs0o/pE/iRxwzEyb9mbikx642fvgTV+bo7P0pswZZwcchH5tKPjYVq/r7nugwDRwyREMWHaghQwYn6goZDF5MQwYvqiFDFnFy2cJz6CANHjJAQ9wcOGiAhg4d6rSIlhi+ZCx101Y0oZmp6OMtbav5/CvM5/x7WfbZx8rzcZcccDIx6E+bOk3cec3p6DkbkTTQxxh1wsEBJ+7a5jISHnQGDToP9traWi9TOToTYN7Pl4QhsgMwiUs80l988cUxODHQAHCYLIdTftLQOc0sBh4zE3Hwz3mQZ1VVlTioNWHChABB0sIH0Cc/ygpP4sAPWRFGGYhLHDPT3H5ms8NIAw+IfWgAedNNN426wpM8ONHNaXXKBk+uQW1saJQVLL50Q36U9aWXXvZZ9EgVzDx9wakofgy4cgDGnmjhlgCHDZHA/7N3HoB2FdXe/6+9z7k1Nz0ECCWhd4JIEUSCooKiYkWxYcOu6LMg6hN9Cn7P/nyKPrsgRQRR6UVQQQEVAekESKQkJEBCkpvccs7e3/83JycJIeBND3D2PevO7OmzZs1as9bM3hvrC/MKWoeumANNGiccmuKeeQH9EAatQpO4lNGCFgbWJAayNVnYU66s0iwacMPtJHZd+j8CBbA6mxJYr00pwtpVbXBA999/r9jXGDdubNIoyeuETo6vAeRfHXCF6QdDQPhxw6NHCKwIt6SwXm8XoYhwgkHANAAYCG8LI458MBuYDgyIMkhLGHu6uGijCMGISNoz8Qj9++67L/WPe8z3tAXo7u5OJ6v5RCSnvxHGCPVvfetbuv7669MzyRGRDnLB5GbOnJk0YvAREQlP+JcH2toMi2gIbOrmdaY8QsWHNEgzbty41E5M25i16S/5fvnLX4o0fJKSe/KeccYZaW96eM9wj6xE2xH8ANo3o+UG+WefrSH+z1BSTQuehhiALoDlu4bwXUITpgPoPNGH/cThJ4w05GfeAAhnwpcvr3XfwsCawsAzWkiXssAwwL09F82oG2hlEiKsl+XWiIzMQrq7o1133n6bnrXHs5yzFIKAXEvLKp2tTHGEryykumnM4owwhZE2yfDZyGOOOSa9RQyBSvSll16q//iP/9A73vEO8Tw0WiNCmjeH/ed//qc+9alPJYFJGRy6+vrXvy5e83n88ccnAYrpmo9s8AYy3tfNnu8Im9xYFPDSEz5fecIJJ4j3fcOQIiJpoTzWdNxxx6XycTmo9ec//1m0ka9uIaxpC1/Tol0f+tCHxEc7qE//5oqIZB2gzTBGFhYsODgIRt/AN4sLFgN8HAShCxOlDbjbbLONWGBwIh1rBwuJ5x7w3LSoALeUO1irKbIsLUBoTsk/Q3KN+xKC8H3r9/THQEQoIjz3Peoee2gIwcsCkPMOvLmP7aYzzzxTfBYVjZs00CaLQwR0RCzhA1ovV6vSpzMGntFC2tLU7NiTc/EIw6Q9Tx1snz0wdZWFY33vlJYeuuTiizRu7FibvTvM+AcSo3dSAU64+OcyHxuwOPyJHepaHkgdEekrTghGPnjBRyQwXaO58pIS3sP9ne98Jz2SdMUVVwitE6GKoP7c5z6X9lkiIu1pH3zwweJLV3whC/jNb36TzPYIVcr+3ve+pxtvvFEIV05NYybnpScIRdpGe2BgJ554onhxCPkOP/xw8UYzXsfJAS4eR3vrW98q9sE/8IEPpJeg0Baea0bgUsZQAaHM41QsHNDYYYgIZQT0P/7xj9QGGCULglu8F82jWQhx0pMOIf3iF79YbdWqqm1VdXh7AObKa/8oS+GWME7LACPt0NbvaYoB6LgJy3dx7ty56fOsfKIV+uIlOFhqeJf9XnvtleY6c+akk07SH//4x3QeBYFNedDV8uW17lsYWBMYeIYLabg0YLm8DDZh1PDtZUNJ9fBDs3TLzTfpWZN31fx585NWiRmZ9MtkT17SJ88a+Acj4DlghPL222+fNFuKZT/s1FNPFUITgUQY++Ss9vleNIetYB4wEb7OxSsyMRuzj4v5GkEKM0KTRtAiCBHOpLv33nuFkOeDFdSDwGRhwD4wGjNC/otf/KJYMCC4MWuTjsNbaLhotpyyRkhuvPHGSaDyTDOaLO1cESBgaWtEKCKStn/55ZeL9hKHYI0InXXWWekAGXiJCKFpY23gIB/lDx8xPGnT9IGtgFtvuy19MevMX/1K5557Xno9KAKbulY0dqzHVtS+VtjTEwMRIbZk0Jp32mknHXHEEWLxCd1tu+224nl7BDZnIt785jeLRSjWrHPPPVfQF3OMOQA9PT0xtHZ61Sp1aBhYY0K6SaARsaTmiEjMNmJdulpBnZJCSiBf5sy01475sU1dKWJpgiR4rUFnDq/VBq2JVYT2ddMN/9BuO++gTTfZVBnJnRuhoMikSAFqlNYoWSt5IQjJgmk5lcuNAQGEkIIZIAzHjx+fvvh01FFHiX685z3v8R75CxUR6WAXQptXeGLK5p3WlOdi0j4udTQ1Wj688cpXvjJ9FQuzOfu3aLwwJrRzzNOYqhHmaKe0AdwgHKnzYx/7WBLkmLKpAyEKRDRwgZZLOIBmS1tpxxMB8fSb9DC96dOni/ZwSIxwXDRmTNl77rln0mRIywKFhQXt5b6SV5KmA2OFwU6cOFGTd99dMNlZsx5MJz37Bwbk4Xuipij8RyTPteZ55qS2jvh/hGNaoIinLh6gYeg0z/N0APLaa6/V2WefLeYC84YzFtAi9AvdQYvN+4iwFa0rpZ0wYYJYJHPOgzKhF9LjxyUPdTT9EUGSdD4j83ZLRKQDmix+yQMwx1tQTeOytvAAvsE/LgDfAPcMDuGMG9D0R8QaoXfKpI4IS4mGFsjtv4Xs36b4NwkiGh1YPhkNWi/ghtB/AC6Mi8g0f+XWToPZOpn9KegxLiEI5izLkwDkfboINZj7rJkztdez91RZH1SeZarX6raAFynd8n11oH+uyw1YPm5F97SnCcRHLB1IiCg3Q4GxQLiZ62bfGBM4AggXEzDxaJUIMjRYBBQmvIgQh8ggRBgG+RH8Bx10kMjHvi3aNx+kQJPG3A3j4d3dlEkcJj60WjT1l7zkJbrqqqts7u8XB9nIRzoEMXXzuNfee++d9sPZz97btoIAABAASURBVGMv74c//KEoO6LRL/q4PNB/2gZTpCxOtGNGp++EY3ZHO2Z/msNjhLPXzmtCEdz0sbOrU1f9+aq0f4hJHi2eLYIddtw+tWfnnXdJmjSfDYwIqnzs+DNeKSRF+Z/H0P/Tz4S0fJtb98YPOHuKAHQKQDvMBbZ3eNUsAhoLELRHPADNMb7NtNwTzkIXesA6xVzg3fZYpkhHPOXix23mJ5z83DOfcfkqGxYpAOtUE5hnLbhcawsH4Jvtiosvvlhsp8FTGVPGhDGLaPCoZceMuAasGr1DL6sKqy2kV7XitZbPjLRZdsPr//4Rlpz0r3GHt5QHxLelgZ95jZ1QbXBQHivV6zV1dXbo2muv0X777ZNeA1oWCOe6MqvTRcGetbMs84P1N0pdJnAI3ghyKgn3ZnKE6THHHCPM3BAJp5cRgByQQgAipBBmfDQDUzYaL5oBJuHXvva1Yp+Wveg3velNyXxMGXzdCrMeTOnII4/U+eefr1NOOUUclqE+BCQEDANjnxrNGtMedbHypD3kRXBjUmeRUK/XhWbPooC6+VAHX9airEsuuUSYojGFw7yafVvejYikHaPJcBCNxQHCGI2G+th7pv2Y0VkcRIRIhzAmLflYUP3hij8kywK4QHDjPvTQI0lwT5o0MeEBZgxjNbKXb0a691S0a6rwL8lsXIe0fk9tDEB/CEvmLcwZK9HRRx+d6BM6I57FLHQG44aum2ERkRam5AcL0BC0yPyAxrmnTPKRhjJIB3CPC1A+C2OEUESkV9vynnlonQVlC8ZobeMAayT84tvf/nY6xwNfY4yaY7asnzFbn7DaQjoiLMwa0OxIs6PN+3Xrlq5uMeD4jt8SpssNsEycFIIRNwS0kik7wmIWk7fdeq2muXPm2NS9k4ragPm6S3PiiFBEaE1fTfzhso/LF6nQKBFEfEMZEzDMA+H0mc98RpzC5rOUCG6EIvfsSb/qVa9KAgkh/aIXvShp/TCcF77whULDhKmgDXD4DCA9jIqDMscee6w+//nPCzMywpHHsaibNrD3jEBmH5vT3aQhHMHMqXLKguGwmODw2Ec+8pEkNGFeMMcnwhd9YnIgPNG+0ZDxR0RqO1o6/UMQd3R0pL15TnIj/CkTfHFWgD3pnXfeOeWhzi5r13ffdVc6RNfV1Z3CKQdckM8D6vE3QXhM/T8FJXqwr3nvEXdQ884Rrd9TEgMISBZu0DAWH4QjNAfd40JDLAARtqTBpaMRYTIpk6mbNBGRFpTQ12abbSa0Mw5sUj7x0HJEgzdwT3iT9hEI7GVzKI25g8tcZg8coY/JvQW7aW3hAF6KkoL1bd999xW8DetGRGOMGTtogXFn7HDXJ6y2kJb0mPY3O4W7XsCtMa/1hLIHtmq+CoO1VwD+1K5GdEq35N5hTm4mXqpSrTh9mfyYhHfeeaekOWMmJVNEOK5IQrpwhUAqx/5VdV19+pE/efwPP4IKl4mOYIExAAhGiAvTd1dXVzLnkgaGExHJvEx60qHh4kcwwyxIQxmUTVxEJDOwq0zlEIcwJI70nP5GG6Z8yiOONPgpA6FJW5oEjvAkLy6MDsZIHHnoy4qAeNqI+ZC9dxYdpGcvGiYIU504caJIQ5sYF0zflIUpnEn3z5v+qZcd9rK0/055tJmXz9xwww1pwUFYzVo/kzDLM0jiMcDYUh54SBH+Vxqa98S1wBhZDTpfn/iD7pkrWH8wL7OvDI0xvtAU9EE8Bya//OUvp/ManMs455xzEk1B66QnLXMBF7rDYoUFi7iIBm/IsizxCPpLOlzqYU7cfffd4sR4RKQnMyiXNOShjBbUliyC1jQuwDULKvjJG97whnS+hy0+eBn4Z5wYC9w1BYz7qsIaF9Kr2pC1mg/Ju4IKlg9ecu8FMMIsr1Q0d+4juvmmmzR5912VZ5nNXX3K88wCO0sCmkkvOYNW/4pYWk5EWF6UNrdjVs8Sg6AGCCnP8zT5uYepsOJnZU44BAjzaLpNImP1TlruEZrkBbhHIOICCFv6BJHiEsepcj5XSbmUQX1MHOqjDMKoj3vyAPipEzxmxhtlk5/0TwTE0z8Ou6FdIHhpB3UhuDH1ozWzGKAM0u5sjZn6qAsNiFO6ME3yUB7hM2c+qI7OzmRW5LzBMF7GMjCQxrApfylvWbAYatw2iaLpNkJb/5/CGIgIcY4CGsH6A43ij2jMOegGmp4yZYo4HMnLfj784Q+nRyFJB01BzxFhXtCYi2jEnJdg8Up+aD6iUV5EmG/0p7TyxclwFrDMQ8BB6aAUZdOWiFBECyLWDg4YG6xybO1h8cMyCc/hzAxjB+9i/OE9EcHwrFfI1lTtEC1AeRGRiAz/uoYiCmWYqQ28b7melSrYO6ZNZSgvM0OuuphA1oTLmsJpxUu5C8mJVYmKwv6yv19Tb75BXZVSY4d1qG+gpkpbhwYXHxhjEBnQ0nvUpfemi9UECAOgnKYLTgG3LAnsihcOTOZmGC73rP7JExFpBRoRapZDGgQZ95SDQCWMe4B7ysDfZBLEA9wTR9lAMyyiwXjIE9EYb9IxAQgjLXVGLE1HPPlpA3ijXvykx4X5YXriftKkSam/hKH1kBetGRcTJY94YWakDMrCfH3BBRdoiy0nql5KNY91taNLhQu++tq/afMttlJff12Rd6iMNgvodi983G4nyIpwqkhvcXcKRZYrM31kLiMvc9NTJgc6n121rqcyBqAnaBqaYhHIfIqItCCOiKTVQrvsWWIKhZFzwBK6Ix9CFZqDjiNMM7bKREQ6pY3Fh8cYWTwSDx1HhIp6oY4201v/gCpeYP/2N7/RDtttbxrLNNg/aF6TqT5QJDdXVUVNLVgDOCjroZrxWsnMzz2Py7rSfbVS1V133qO9nrW35Lm/5eaTNH7sxrrrrrsFXUAjtfqgOjvbTOrOpMJu8xf2ZAZcO+vgR23roJoNs4rSzUrAP/ubv8ZkbNPMBx/UDTfcKE5KM+Ga8cu7CKYWZBZ8QwPwB44RrOA1N+OCqRF29dVXJ3zDPGGMMEtM1RxwQ+ijxSOgOZGLZk06mC2nNDH777TjjuLxKsrs7GjX2b/+TToQt8UWm4u0bdVqamdEKKzh0xbA1lszaglSAAhrwdMPA2i60B3WGLRo6A7BC70gnLEcQXeE8xIeHjU87bTTxBkNnpYgHKww30kP/UZE2qvu6OhIW0bQMXGkAyqVPC2cyfPAAzO8/Aux91xaMUhg4qPcJiwhQgixBUsn5SrgApz39i5K+K9ZuWpvr+pf0+9LX7zaZNNNVHgB1dnZoYNf+ELdc8+09NpgaKSjvSMt2OTR0nq+ntFCeslkWGYQmCispBhcHpF49atfJTQ2JiNxKwLi1hEk7fipXhcMLCIEo0Rwgn6YJGZFGCiaMnFoJpgQMeVzgI60MEBe18heItaDWq2WNG7MV2g+CPGqrQ2YtGfOnKkbvcji1DsCvrDFI7NVJUljVxqGNJ52l/7MCfxbet/yPZ0wAM1AC4w7fvrGfIK2oCXioLFOb48gxDnMxSKQMxGYqaFTeAP5gaafMqqLF4CEU25EmNRKW2xqyZwNX7n/vnvFgcrhI0aIcywrgtKMqQWrj4HB2qBKL4TyLEuiljEeHKjrnzfeqB122EFZ5OYdhfJKJt4ZkVtZgNcwpownXztsjiXjub4gW18Vbyj1lm5IAv/zgtbTQ2nyLFrUJybS9ttvpyyviMFikFcEDO5TDSBEYH20G2YGHhGoCGzagQmRZ685dQmuAQ+NfvWrX4kwTIgwUDToiRMnilPpMFPMkbw1DeG+/fbbk8Wr5Db1DOsWaXfYYXttucUWop/Um2d5GkvKLyy0xcXAM/J2/bOvJLQFT0MMoCXRLegPoRvBUk1pzxghCi0ioDnc9YpXvEI8ncB77XnUEAsOzBthThnQUBOgY+gxIiyUB83864poCOkst4XJAP3ecedU7b775KTBFRYgDSjUcEu7+FtQrObWIfmzyJIGnVeq6vNWgzyzefvgnVPvslDeJsWRbt6jvYkn7LjDjrryT3+2Bl3z+BVq9xaF1KAPrcfrGS2kYcUN8GTyIOBXGpTQ5VdcoXabPBb09umBGTPEqoqJuyJg4j/VgMeqgHXS7kWLkhmwWRfMCqHLiW/CcGGChGPehgkiwDFfw0yxZOBuvPHG6eUpaCIwRcyLeZ6n5xzRlrMsSwxyRE9PYnZzHnlE++y9txlwn0oL5DyD3EuPcKncGvWy068hnNW6nuYYgF4iwvuNnenph8LCALpjAQdNIXShNV4K9KUvfSm9tIePxrAIRLOGNtHASRcRwgVl/f396akI6JYySRfRoLDSwph0d1pAVy0wqtW2JAicWQ1wCeVSKJy+BSxYVg/g2fJsZ3x5C2FtEC36n+rq7NKwYV3mSX0K84TOjk4L7LomTNhC06f/S3feMdX8oeKhCfMRBqYxjkoX98mzzv7BtdZZZU+VihAcmD14mT57Ud/97nfTF5+OP/54Hb8C4Hnipxqw3wasj3bzHDXPU/OFLRgh7wi/7rrrkhkw86QpzDjRkDF/c1gMzQaYOnWqIsKTaUIiJRgrp3Q5zY2JHMHPO7mZeJi/c+8FwngzC2TKHBwYSEIcPwVEhNfW+FrwTMEAQhoB2lzwsVBlsQcjh1YAFuKENQU1L9bgK1jsSRPO4TDSRUSiRwQwtMcWDXRKHRGNOPAK/eW2xvH6WvIj0DPHw+6XQmlaNCwNsAB37tb9KuOhNlgT/KS/r19FWeihhx9OC3re94DZG/4AL2A8GEO2NRhXXg41MDgg4traODzmcViPv2eGkA4lhOdZo7sMXFGvL0Z7g1GXwgUkzCNHvP4N+vgnPmn4hI488o16ne95IQiPYvDGLd51zfOT3D8V4b3vfa+A9dF28Ab+3v/+96cXsfCYC5+0hHHCLNmLZuLA1HjOmcnCwolDZTwygVkRRptbi77++uvFq0qJZ6J1d3fp3unTdO7vfqv64KBXxbfpjttv19//9ldddtmlOu/c36nuvaqiXpM8cWMxFfhG5MclKCJkPmqvGafZpz1aHKDW9dTFAPQVEeINdtASJm/CGmMvQVP0DoHMIvZnP/uZvv71r6dn7OEbCHA07YhIPAU6BH79618nOsQqBL2ShnJZSCoyPTz74XR6eOutt0l0hjBIGra15se4NunQlpUB6lsRrEwZayrtitpB2BOVT9yK4InSr0x4GO+1Gnw+lGW5ZjwwU6PHjNFWW22ter2QQ2UWINlXs5aNhWPzzbfUtGnTNW/eAnExTnK81uOVrce6N4iqS7fC8yKx4eT3gORm/mhjmLsR2G02e/Mua57JRcNjNcyKGWGCi/mrBV3phOvK4gH8gU8AUyH58Z911llCaHt4FBHpgxkcIttqq62SWZFVL49rMS48rsWYwRgzL8T41CDPdvNmNV4Y8bwDDtDrXvs6TTnwQI0ePcqmrm6bt2piwlN+Y9zxWUQve9MIav1/GmEAGkF4QidvectbhCXI6f1iAAAQAElEQVSmo6PDTLsu4hCyxLEQZH5jpaH73CNM8MO4a7VaokvusbqxqIQ/cI/2RVmUg3bN6e7bvFCc9+g8TZo4SX3W7CLLTX8Nekv8p1wdf7isFcHqlLmqeVfUDsKeqDziVgRPlH7o4eCfsWIsQlka65cc+tLEp8A5ghpgXCMy84RCh7z4UKFl33fv/RpEE49cj788WEliPD5mbYQ8o4U0AwU8FrHWnBwYDiy8j9luc0eeZZ5YfemUd3PiNl3eC81EbsFwDRUHy+IMP7hE6CKkEdqYE/kuNgfE0JBhiJy05wUnMNSIxiMvpOG9yUxEGC8CHrMjwnvKlClmXKUiIp2s7eio6Oabb9KETSdYyC9UaZM6Qrr0OMvj3Zhz6Y6Qpy60Wv6kGOjr60v70TBm6A3NGHqBdhG0vCwnItJzzwhsaGvZAiPgDEp0Rfru7m7deuutYlsG2pQvhLQdISSgsaJeind1T9hsM1Xb2hI9FtbkiHs8FCbHBg96fNyKwy22XB20+1gYav41mW5l27Ky6VemrRGRxqBmbTq34sVCqzG+ma0g9YRnJ0mufHHQbFjPsPTecPgOoMZwO3b9/bL1V/WGUfNjydok4wBboAREltst9acrr9Qez3pWGsyaV9BMPiY5EzgiUvjKEE8rrZG83PCDk9wTCdzyuAuPU2G1QGijQfO+3bSXZBM2Ew1Bzqv9CEdAwyAR9jfffLP4sAgMmPIiQt3dnbpr6j3pHb3jxo1Vvxk141h6EebBW9wSGCBeuw2JzU0LnmYYgC4KL9AiQjBh3lMPvV1xxRWJoUNXzGuEOWnxN+kIGgVACdoZdMeHZ2D+WHMQ2ghoaJY0EbFEO7/3X/fqgOceoIGBwURytKEwk2lAoYZbttwlOFl9XPT3s69cpgUX49nR0akOW00YJzRoxjKtz0sZ74U16XqCAw54nh55ZI46O7rSgp6xXJ/wjBfSS5DvgYI3l146MaCFJ3KW57ruun94f2K+95u2TyaxiMbSCmESEYpoQcSq4WBZHDb9CGTea4zwZT8PBjl16lTx1ifGinu0F14TihYNQ2SsNtpoo2TtQLvmxfylBXDdCyoOlMFM//b3v2lrm8phvG1tVYpKDBRP6X+AncRAoQP8LVhnGFhnFaE5Q2vQUYcZNnRz5JFHir1pnjBgYQiNQFcwc9IiqKEh/OQhHhM3+9W8ipYFJTwjIsRCEeYfEYlfUA8m9XbXNWGzCenRq36bu+kw6Rog0125GJb1N8Oe3C3Mq1YEjbKfPO+aTrOidhD2RPUQtyJ4ovQrE54W4pbClM9hsJ6e4WLsGMuIsGAu0xg5if2FoUywzbbbCitKX3+fajZ5M1brE1pC+nHYL9OeBZOxd8ECXX3N1eJBd4/pkpQMekQsuV8ZwmmlLRczo4ZYjFiKRxgapkP29jA/givM10wYcI72guCGaSLIOfxDfJOhEoYmQ1rK6uzsSGMEc505Y0barmDikp8vY5EuJWCWNpqTblv/nr4YYFsFgQodwKzpaUTokEMOSYL6Jz/5ifgkK1o2NAi9dXZ2inzQH0KZT7qeffbZ4ittBxxwQKJn0pEGIQBdQXPQGeUj0ElboiWWhdeAi+eAIyE76DyRoG8e60dgDwUWl+dCGvmb90PJu6bTNOte3n2iepZPx/0TpV258DyvCD4Aj2DMGEfGHRxFNEzeaNQuNY0haQdt6WDcGOvZs2anrQkP03r9Pe2EdCl3yZNOBq+VxHu8eTd3eGqkwTC6PVfSu51Lr0Aza1xhUFnzQBlUU63o08DgQt12243afZfttf9+z1YxsFBMPiAi0grMRaUw3BYMHQNMEoAJw4TAD1ObO3euOAiGFo0WA6559IW3PpF2YGBApOMb12gsaD2kQbMmH4fNeFk+6fo92To6uzw+pa686mptvOlmGjF6jGpmhLzTu88r5HpkHu1IUGSetIwrjC5bunAwy3DHSoWKBL5Zaz/wEBGJtmAY9PXJKiNNRKOtEaEIt9I0HRGm5VLN/JTbLGfQ2wXkIwwgPCJSWu6bcXqCC3wDy0eTd/mw1blvth36aJazrJ/6SIPbjF/WjWjgoxlGOgA6ggE380aETZw1dVoQH3XUUZo8eXJ6NppXgfLoJdryySefrO9///vieelf/vKXKZ5XBR9gAR0Rabw4D8HCnjZGhOmuSAw+IvTIw3M1ZtR4lUWuohaq5h32m968V10AZkjgdFUhlCvPq6qbuMsiNNBfs4m3w2OaK4tcA54LZSHH+18Z6UAU9UZkCmVCUNVrRfKb/CWnueP2O3Xbrbe7nZ4BpcR8JK5IbXWAnMwOeQkjTi7BRaowL40o5SmlelFTWdaV5VJbe+64wQSKut2as9Q0MLjIbl3Vtkx5HiqKwZRHnnOlGw4U5tENKBw/NJBK961uC9si8YWykSNHJL988aEdO/LwpDRFUag+2KfSdVcyqb+vV3MffUS1+kDqg9yfwuUJ3uD4kszrCFzdOqppQ61meWz7PjdFdXcP0+zZD+n5z3+BRo0cpUGbThnIFhRDniRPhiuYGVovLqQBk+QNYbwwAm2k9KxHaONyojsiPIFzYfpGE8L8XfOYwBjzPNef//znZPHgxSeUiVZDHNr1LbfcLEzjaOSUXfeEh1FHhJa/PPzLB62zewQHfUErow/g78kqH/CihTQRIfCEn/yUwz1lkB8/cbiUTRhxpG2Gg0vywYyJJy3u8sA4kY/wiFhCC80wwtcE0C6A9tIu2hMRZqqR6EC+CCPO3sf9iAOaERGhJ0orXxGRhOquu+6qww8/XC996UvFGQisOtDfZAvvKVOmiLeQveQlL9HIkSNT3+k3tIbWHdHAB2ERYWE46JJlwdAnHv1RIDZKM/1C4Nsk7nFzmIludfx1C8J//Wu6/uuLX9BnPvvpBMcd9ylNnz5NYQ7f3t6mwoIyt/QpLfjC7UDoDA4OaFHfQuMzU6Waq3fhguQfrA3oe98/SWf+6pcaM7YnneU4+uh3e3+2N+GI/vV7v7dery0xH9OfmheApTsS7ugZXsx88pPH6jOf+Yx4zPOMM85I/NTRKrwwqQ3Wdc/d9+gLn/+CeFfDZz/zWV16yaWa/dBst6Uqxp4FQGnBSJkN0ErhS74oBz4Oz2Axn2W5y3CpbkijzKV+J5eMHNKOHDUqvfOf7ZHSCxPC5cvZnN8et4v/6wI8hOuimg27jqWIX9rOuXPnpInY0zNMCIv29nbB2FtQWW08gGXwGNFgjAhrzFGc4GZrAcZcr9eTVs3BHtIiPDAZsmfNSdpRnkSkQRBzchbYZ599NGhGwcRkvGAkl//+cjOXhWpM0ExZlinPTPaum3Se9m5O2XCaE8+3DlznP9rDV3hgHvQDZkEfCV8RkC73AoW04KfZYMLxk6fpx+We8kgPHhDyzXuEL35c0j0RsNAhHeVRB2MFwKSfKM/KhlN2sw7a2mwnbSaOe1yAdP+ufNI1gTavCKiHssAntMMLTHgdLQKa75rzLD7nG+gntIYLDXKIkfS0gfZRdkTgpHlCmYxjz7BhFk5FYvCpLU6RXDOf1XWpnwXuz3/2s4bwt1bIOwV4FwGfX2SO0D7aUpala1bSHiMiCVkCGFf6Qhrai1mfPL0LBpXnmXgTYId5IGWBf8act6dRPjQT0Sirv68vCdhTf/ELnXraqeLpDebtl088Ua9+1avSo5Rd3V3GTa6//e2vOv+CCzR+o/Geo7064vWvF++geNQWtYw56vmIgKQdDRx5mq4EvhhT8k2fPj2d2AZPjBthK4LCZVcWzycUM3gSBwlJC44aowpzAAhZN5Ctm2o2zFo8JmnSNFvXvK/V6vrtb3+nQWsq7JFO94r0lltutfn7thbctvo44E1OHOS48cYb0+MrfOXqnHPOEUwPjaRmDRnBzIEbTs0ySWGQMBImHtoNTISJTHre3Y0GPW7cuMR8YDZMSMaNE+BoRLknX55lSRMovDKGGRVeCDTH3OvpBi04AL/Ww1WYuWI2pY/0nz7QzicCmohwpm8wTfBGWvLDWADKbLrEkQcXwE89LJIeeeQRbgVTimiwI9IsDxGRmDDlEgfDBqiD+zUF9IV+UR7jDOBv1kV99JOwFQHtA5px+MmTOrmCf9RFPPgkGrwgfKCvnp6eZA4HTwgd6Ixn+LmnXHBPW8gfEaYjU5DpiHgW+JTX1d2tvv5+IXRIRxh51wSU1pIHB/vV0dWht7/jrfrOSd/RWWefobmPztE1115tc3K/F6fyuNVsibpD99xzpx56eJaFrywc56tWH1RbW0W33HKT429X/0CfulyWcyjLM8/L0Ukbrra1iTe0MTbT7pkqnqQoipr6+hZZ0Qwt6O31/GqzPxN93WrSVvr4xz6mT1ubPvmUU7xQHqYPfuCDumvqXclfGEfbbbud/vNzn9VXv/ZVveY1r9EFF14o3q2dea4WnqeF5wQadWG/LLQL3w8VpBBthT9ss8227mObcVA+KfBsdO69bMYYqx3zoWZ5ILfVxclN0Lq+ntFCegmyWRh5H0ZpFCSIZ+edd1FkuR58cLauv/5Gm2Ius/loegu8Kp2+msBzqZih2UemrGnTpiVzNB/NgKnmea7LLrssvRUqIpLgheERxuThUA/3MFAE9/333699FmvR5EXQwQivvfav4kStfKGl3+BFARpH3WY6xFClWnXMY3+QwmND1t0dfap5gVL34gFGVKlU0iMjEaGIxwPx9BPBRfqIEEIGTYjwiDBvKRPIV0T4vwSOSM8iAHz8/e9/TxoPB2xoA3mBiHhcvbSNfOQH96lA/6MtEY9PH7HyYdTtItMPZk2bWMhxoIt6iKAdxHEf8fg6iItohJM+InCeECiPesjHGAD4AYQ1ghgtEj/mbZ4uIA+0Bi7AaUSjDu6bFfElNhaf1UqbF/21xOMLCxxvtXpctEagbnoubcau5JmgBcs3Tdh0M2vJVc+dQdVs1sYk/sEPfUAf/OAH9Nn//E+94Q2v10nfO8kCeGQSyN//v+/pVa96ZXp88aij3qIbbrheuc3jg97Ppt/ve+97U9mbThijr3/ta3rTm4/SZz77Wb376PeIPoIv8Fc37fJxoixyDdiqNW/e/NTvXXfZTd/5znc8z7cTj7y1d+Tq7xtI/Q9lyvOqwEtPd096t3bNghHhXJovQw9FvVBhM3npCTpUiGA+DHghsijRd8Vj0Mhbut7Hg1wXZvia9+eHDRsuuV1z5jyaBH3pOCkaP5cbYb/WzfWMFNIMeulZ4vFOWMYF0o3/lZ5EvDhjv/32F3tUDf9+2m+/FQPm1xY8J73QYah4wIyNhotwfd7znidwnFs4VyyYENoPPPCA+KpVn81n3d3duvLKK4WgZc+68GqacIQFAmbLLbdMq2QEFAzFQyjiB82cdvFii3IxuSHUWVUTD9OtWyBKHvmyNIMoHFwqItIE9o1qZn4RofBNaYjAZ88a+MHMKIa+4GbmrJjyeRzo9Tb7ffSjH9Xxxx+fNBfiS7eRt29buwAAEABJREFUfgCkJYz+gi8A4XHLLbeYCX9QCE/SAKQHIkLcUy9lgaeIEGZRXmlZMy5OtEmSOHATEQmn+LXMhVDCAnLccceJ17vylSiAsaEd1AVERKpPi6+IUESjzIhYEkebmgCT1+KLesFNRKSQ888/P7WVOoBmHYMWBBGRyiOPfEWE6A8Wm3nz5qU4+h3RGFv6uDxEhAVaPdEB7aF86m+6+Kk3IlKayy+/XLzW9qyzzkqnwqk7IlIfSdssn0e7xowZm+hRIcFblsb73oTlodXqAOW1Vdu0cNFCXXXlVfrG17+h973/fcJUv8/e+1hYt6evyd191936+c9/rtNPO02Yws/93bmm/jLRC9tCjOnvf3+ZXv6yl2tB7wJFeLy8nz13zhxjVYkeHp3bp5tuvllf+MLndeqpp+iEE0/QyJGjlDltY4GQCzyBb/parbaLMerv7xOvRN1kk03TM8h9C2teHHQlpeeLXzxBn/j4J/Tb3/zWi4c3aJtttnGeWqofPEZkMksW/VwZPNUs6Pv7+m3qHm3NvTv1gTn/xGWEsizXgBcm1AmveWj2Q6neelH3GHmwFOledrWOrmwd1bNBVBNLWlE2EM5oJWQvjZHvYXi9vQvFxarw6quvEYIAobAiIH0LOpNJcKh4AI8IXwA/TA4B0GaTGp+s5EtXzbKYnBwMmzJlSppsTHpM2jDgq6++WjwXjXYNc0D4YGI8xea17bfbXpttvplX79tq8uRdGU5xcpznJUlft7CHBJh6mYUk/oYJvFSeFgxVm+8qijB9GJioqZDV/BcRqUzqjIhUl3xhmsfEz2GbD37wg+q3efSkk05KfUZ7413mf/3rX5MAAme0EbM/Fok//OEPZoJbiw/CsJ/q4sShFxYlCG/wC+MkH3giHAsE+IcRUtbb3/72JKioF7jiiitEfeSNaLSZBQDvfN9hhx3SiWfaCsDQGA/KpE3USVrKpz7GDO0Tawj+iEj9YH8XkyKCn340aQDzO1o+2jNto+2MLVobZlbaBP7oD+WxLcWCDT/h5Puv//ovgRf2TSMClCS8R8QKXRJENOKafnCzrD8ikhCCPlkE/L//9//SO/BPPvlkW90eTIKMNtEG2oLVaKy3YQa8dYZ2SXnWDxbzH5cM8a0mgN/ChTLeLG6vv/56nfzzk3XQlIOE5Ym2XHLxJWLOXOA94B/9+MfClMshrQXzF+gf1/0jPWJ2xOuPEHPjne96Z1o0s9BlTmR5nvo8YHocMaJDfMv9E5/4pC655DLzxYnJ2oPWTL/hl+RhzCIQaHV3Uh7rwnRecb8LLxo6kr/PAnSYtxL23XdfYUU79NCX6Ne/PkeXXnpZGp/Ckrn0HPVKwsIzXI6htDNEiAhRx/DhIzR+/MYWvgNywXqii/qALMtdX6aNnQeaLtyGugV+Zh4REe4DJdAI3CeFNRKZrZFSnqKFgGYIqtF8CKAxABAaA5J7sG699TZByBA7AqQFbYkRrS4eYLhNoCyYLoKIPS+YG6vpiPCciqRNEodgiIi0GICZs689ciTmui5PnDKtzCkHRgUjHzturE19tTThiiJEejRqzLoswmAAeZa5DiXhxGQM31N2RKitWnXeXLm1+3ZrFO1eQLS3t5vJrB7QRsrBpe8w2YhGv2rWaIcPH66dd945nTBGWEGfCDGEDl8OQ/CQDoHOI0J8UeyrX/2q7rzzTvHectLnZqw8NoR2hMb3YzNmwqiPhc3HP/5xffnLXxaChvrB+ZlnnmlcRGLYvEnrv//7v/W5z31OCGvGivykw49gpZ1oawACAIHEF84QWCwyeFwJwUF7eKSJ9n/+858XWjF1shD4xje+IQTHRz7yEXEugfIR7t/85jeTtvfTn/40fVKSOnlRDR+7oD+8eASBR9m/+93v0kcw0OxZnPXZ+kIbEOhYCVhosFig/dS7srBsPvwAdESfGUcWGmio4BtrCPGMLe1jMQgdReTiHn4D3ykK+X7NAI8bhjKNHTNOr3vdER6z462RHqmrrvpzOlEthdo7OnTb7XfY1Hy5rvzTVbru7/8QJuiR1oIffRRrQ24+15vo/cGZs9TdNUwsKqCzLAshhAdrg1741fXKV77Si9eqWKCcffZZaT5EIBAXpXlE/yuVaiqLPd5QloQ840pd0KCTi89Hjhk9Ri968fPTfjQf2hnte2g9IpNnv+oW1DWb0POsYg22XCmcRWTeXx9Qj03XAII24d8DsCK3cF0p3GNTsfm9p2e4Fizodb1F6hcywSMm8EE6raMrW0f1bNjVeNAY/ZIl2+KWMggzZs7UrTYhPnfx85CNSeZUjlzWzyq/BfVEyEPFA8y4CQUcy3gn79/+9jexsm4KSly0ssMOO0xoI6Th8A5+wnkUC2bf4xU5jBGhcMkllwgT+nCvoKlj2LBhQnNst4Dt7urWo/MeVWdXp7I8T2V6OJl7akxCJWF3hbXIs8yAEC6YB0877XThP/XUU23mWz2gHACBwqMpuJSLBgRdXXfddfrtb38rBCtbAhdddJHe8573JG0Dtym4Zpo+L774Yk2xheGd73ynpk2bJu7RHBGyaK6clj3iiCP0wx/+0FrKr0V9X/jCF1J5z3/+89NpWywPCDaYI0wZ0zU4RJDzdTLi0PIpNyKS8PzLX/6SDhOh6QO0BSGNxQNN+vjjj09C94YbbkiH0dC+TjjhBLGgwERMnZSJZs3C7FOf+pT4NOy3v/1toUGj6R177LHiIykVL5JIC23sueeead+UBQSaN7hBuPNYFIuAs88+O5VzyCGHpH1INDSsYLfffns658B+6MoCpm2AfLT30ksvFZo7dAs9Ql/g6I9//GPCCX2hXbQPOm1ra1/M6AsLHUsA+I15DfnXBCDMatb0BmymRShusfkWQtO97bbbNXPmg55ZXnh192j//fY3HfzIC5pvmLZ+YkvI/3m/dqHGjh2XhBF5KxaueV5J+RBy0CPl5nmm3OFols+x5vv7yy4TWzPHetxOsRWh4jHKIksLeMoBH9Vqm+/bVW2rplewfs172Sg9u+yyqxZ5P7rueU/5/X2Fhf+i9O5/PozDwib33ASIr3nh6k4k/rIy+CIv7WB82jvazeLLNA5PVAZ8ACCevo8eM8a8Yp7zSTVvfZUW4nW7EeHmpEG0u/Z/61xIr/0urUQN4Nngn6eM8y32VE1cEMgtN9+i3XbfXXvvtVdi5gzeisA5W7+VxAATCCBblmViksO40dB4DAthi9BFk2zs641JkxSNikmH6Rd37NixaeIRjkBHkyEcASRfw3qGWcPuSC8z4EUnESHSohU7WuG6GWvakEUIc/dMC7/zzjvPe3enCwHKydQf/+hH+slPfmrm9uPVBt5qhQDGBX7kstHEENIRIZgZgo9HgFhs/OlPfxL9RTggyBCCCFKEJnv6hx9+uM2OWyZGCM7AF0LiXe96VzL1v/Wtb9URFtQIP4Q3TJDnftnzf6W1IhY5vBULt5kXkzkmbMYCAYv5mDYA3CMQ69Zw0IABFgHkxeKEYCQNiymEOZomZaO5/+IXv0iWEcYJoHyePYY5D7cFAc2XOYZQxTqAsMZCMGBz8cte9rL07DKPQ9EHTOtsjYADhDfa7Utf+tJkMaFu2sKWSZstIFgJ0O5Z5KwMYNpvwrL5sAhAq+AJ2oF+WQRipcHS8clPfjK9/IQ00FfdzL20SRpGjwvtlZYIawIKC4+ahfQj3juu1wvNtWa8qfd+Nxo/Xscf/3nd+6979fKXv8ILv9/pd96HJg2HKk8//QzPnVJ7e996QW+v/ud/vm0T9qU69thPpdchJ83TghSaGvACgK959XtvmWeg5y9YkObsPC94eYcEfVy4aJG3aAaEn73g22+7TVh6mDfsOf+/r/y3Nf3XpbMrjF9pfKBZs/A599zzxJmISy67RLvvtrsFY5kWEFUvGkLhcvsVESm8HCrejJe+RX3J8lYYL/IiAkafxsBxy7spzjIgIgQ+e4b1eJjw10TaoqwnfImEjllXv2e2kDaWPSb+v/TH/YAZQmHiRAtjv9NjptAzHlVakxeMDYiIVGzpiYc5GuYOs+v3/heM78orrxSPu3BPGuIQ4GgyCBHuGSsYCQUhTNA+8TN+MGtO6JNuWHe3BgYHFOFJ7zEmDfloAWWwss8ruXjs641vfGPaa+RFDMd8+MPCFPexj/3HYvdjq+VyaIeDYbgIOMo+5phjkgUBsyxhmBI5kIWgoY0IA/qFcH3d616XDtWRln4h3HhF6ujRo9NChvanE8U210+cODExKfDKs67gFAZJ/A7eV+6wGRRBxjusKW/kyJEJPyx+wDuCj8fbuKes5j0uGvmXvvQlAQho6kBzYbFEPMyacnts5WDRsOOOO1og7C3qoC7aw5iSljrw0xYWJ5TN+QEWJuCAcUTg0Vf6Sb/Jjx86Ig3lRIToG/USjgtgbWDvHPP/qsKnP/1pkRdNmbGhD7QJ2qSv9B2Nv+7FC4sfxos00CF9k6A0mdEXHqdChK0JwDSbZxVNmriVBvoHhX+hhdPOO+1ijf82/eve+/TsZ++lQw45NAniz3z6s/rif31JF154UUrb3t6hKQceZEvLOfrSF0/Q4EDNlqgDrQG3q6OzU/MefVTQidx+hB0LRRYhZ9vS9K53Hi0WxP3eYmCcwQP4YNEF/nk7IFaP66+/Xp/8+Cf1jne8Q4sWLhJ0iDJ077336lvf+pa++c1v6Morr9KhL36J58FzBA8GN5wDoRzmpnwRNmRwetpC25nfgEwf8PgVQdEU3GWkMWLedXp+UIaLSr88X/dyYN3XmLq6Nv8Z/aW7BaQVj+9TdUwQgJvSE0SLY/GTxu7ikDYzt6lT79Smm2ysTTYaq3mPzlPVg8OgRTTKiAiPdwMosQVDx0DhBVBELMkQEWJ/FXMmjJwJCrPGtIYJdZdddklpyQdzZk8TUyLCCIEDA2ds0KwQ0mhnMMzhI4arzyv/P9gMuc1222rAZrMszxPzgUF4TmpwsK4Bg8I0o5AX9xo3diPtvvtkm5enJAb0/Be8QAcf/AK9ILkH27/6wGslX/SiFyVz7iE2zQLsw8+dO9cM9dlJCNNp+stTBQg++nXooYemOJggOKLfufuE8OK+wfyqQrNE28OEjbaO0J88ebIQVqQhHGsBr76MCFsbukQ5CLSXv/zlIh5cojnDYBHAY221IC97wGiwaMlo5wB76LSFNiM4AdpOuxBc06ZNE5r9s5/97LSfyQKANLdZ28KqwKGvRy0M3mmzPeZvhPZxxx0nhByLMsqmfgQzZdJXhCH0wt437UHrRmNGyLOoIQ/lY41B28Y8i1VhZeAtb3mLloWjjjpKb3vb2xIeYRe0AZqh31tssbk++5+fscXlJ/qUTfUTLTTzrM1UlUtm/GqwGfv9M/Ghna0QvGAdsiBy2t4FC02rB+nss87xPvPu6rMpuXf+Ir39qHfo0osv07bbbK/aQF1f/9o39bOf/Fzveue79L2TvqdvfP2bFph9mjOCpeQAABAASURBVPnATL3/fR/QGaf/MpnAv/Od7+qbX/+W3vfe9+u+ex/Q2NEb6aTvfN971gtNI2365je+pQ9+4EP67ne+p08f9xmNHjlG9Vqphb2L3LFMeVT01a98XX/763Wp/j9ecaXO/d35zvNhdbZ3pfYtmNerFx78Yl3i9n3piyfq1F+crgvOv0g//L8fCmE/6MVG1SZ0XHARRjALhBXha1m8Lusnz4AX+whpyii9eCI+lcHjXMuBrCljZSjNn+wVY9fVMUwDxmdR1D2OIUz6jHf4TuvogjOto6rWUTXBTKBbgOtM93ZBagQe8Uo8edKQsiTeUCrdyVRmM8t8/eGKy3XzTf8Ue3gXXXi+zjv3t2lP8txzzxUHXXARFjA6mFYLfmdT2tAAnAHg75xzzkk4RpAgjBFGNQtTGDhMl0e6YNSsZnExy6JFI3AQAqTFnAkjZ1zYf8T8hvaC0EGQ3DPtHm2x5ZYWDm3WCDol00HvwoV2MoWaYNqAJgyFGV+9VggGXHNbWBxg+kuuJzrhaxpgIrQXgYwA4h6gfvZl0VbZp+ZwFPvO4IP09BcXYLGC9kYc2s2+3jvELM1e6nu8p42AROBQxle+8hVhRuce83FEJOG/wGbMbbbZJp3uRWPEBIkJV77oP2OA9oj287//+79CGALsCRO3l7eGaAv4wZyOQGWs+BAFZmPM3RMnTvQ4dIgFFosN6qSdvMwCKwHlo0m/+c1vTo/jUA5a8siRIwVOOqzdYOFi3NkOQAD/z//8jzCPYwGBZhDQCOPTTz9dmJ+5p02rAozBsvnAAwvChdYIBwdrFirD9frXv16Y8195+OFu89bKvI2C0BoclNqq7aYzFoClSgtnGP0y7AaW81iwkLAqp6GC5YcqWVWjRox2PZnKmlyPHNamzo5uIXBIoyLE4bLtt98xuR1tHaq5/XUL2ML0vunGmwrImBORqd3xmSo2NdeScI0yT2V1d/Zox+130kZjx6d7hBYQKEauozQM6x6uJnR3DUvtYKEgp8nkcpymo61T7dUOL4rHq7urR92d3epb1C/ShdtQ2EQdcl/syniT56WWsmlHEAk4MMU91iUv41bxIpZtLBk75ePKcirPeRlChVO4WNK4r7SzkreZD9jqwZikOiQn8z/n8/918cvWRSUbah2h0oPiieMGlstAW0ennmXz0Ebe11Fe1UKv6h6YNVvsrdXMtGEUDH4TnHWD/G2ojYoINfGYewLByBEoCAfCYajANGtfhIFvGDLCAMGNaRcNCmGEoEa7Ixyte9Kkid5XHlRbW0X9fYv0J2vRuPfcdZemW1hzELDDe5TdXV3KlplnjfkHFRhrix371tovYmnl9A+gT1/84heFGR8mjzCICKFdo3UjiDAfYiYHb/vtt186AY6wQwtFmCFUO22iRKBxUIvFD9oyAjIitNCLkze96U3p8BvmX0ztCGrKw7RPhxGSmOP5oAT75WjvtAULB/jmMBnaKxrw8ccf733P44WGyyIL0ybtZ5H0gQ98IFkFyEd57Fsj+Dk8xnhSF2Zq9orRgBGqjD8C+Kc//al+8IMfpGexGWfiEPS0A4FNu9G2I8Im3P/xfutvk3v00Uen0+ksLLAmYC7H9Ey/I5binLqHChGPzcdYsfijrc/Z9znpMBxmXOgSC06/rTdhIc3iAyGYaCv9k+VMaXDNpjHKWSE0os2dnH4IfhLSFnAOT3INigjLtcKWokELmbqgJ+oa8KqhBpiPgUsXr/BEoHk1L0AByijsB/LcQt+RhGcRyrI8lYdZnQVKzXvhlOMkkhp4oh7CKIfFbc11QQMIXeLkC5d4ZB9pADl/nldcRyXhqLTgfCwYH6V79zgg/PFAIdTNoqieBK9Eu5ydqMVAeUr+orQwdqSHxigt3Rq3yH2mnVp8RbiP/jnH4pC17zyjhbTHIw1O+lc20G5HEZkmT95D++3/XO3znP30HLvbbLeD0BYOPvhgcTAG0yereO5xW/A872MNDXiRyUEHHZTwOGXKlLRPCQPusIYEyQ8bNsz7U1cKgVDB5GWmgpbGxEaTBteZmSBpR44cqX6btDgRjUbFPUxoWM8wsWXRY/f5rmtYd7fa2tt0/fX/0Pz58zzkjQnJqFMuZXlmOtyTFk8KWLv/ItJsT3XCPGCymIFhaDAX+g6DAC/z58+3xtaThCH3CGb6DY7IB34Ipy/kRVgQDj5YBCEw6A3xCDDCEZSUz4KItLgRIVzCWRRRLnloE+H4ScsYUQbjABBO+aQnb0SjnNyLMNpCXgQyEBGpz+TDYkI7sALQfoQpZTX3lclHfZRDX4mjHszy1EMZ4IJwwsAjeCEfflzaSh7ucVcGKHfZ9JQBYP7/n29/K73MY889n5WEIe3M8lydnV3OErbI9apSrSgiknAgH+XhLhEIZkKEPQasNaJxDxVkMorwP9fKLyIEXqiH/lcr1VQ/5aFVEhexND11p/ZQb7M9YmYoLaaZapVKrlq9poGBxgEuysiyUER4LJ3W+agPQcy44KfccJo8s+ZM/GIhSBxAPAJUCrevtPAvVFtG6DvL4rIpvwmlw5YD2r0CKFwAiyTawCLAudLpeupdIVCG85ReORAv9y0i3KaauByFk2BZfwpYi/+e0UK6gVfEcsPH/1IhZZl49hDjR15p0yNzHtXCRQPpBC1MCMJHW4Fp4MIEWjAsaTBDxQN4Y6IjiDBx4/b09Gj06NHidDWP8nBwCMZHHAKh+RgVjB3GTD7KYP8UIUL6uhlJjwVzjwX93Xffpbe+9S3aaccdtMsuO2nAGs7uu+0qhAKCPCyMl062kuFfZwATAJatkL7QL8KI4z4iklkYfNWskTTDIsKMzRRqtxmHcIqItLihDOgUgUw++pxbgADgc9m0lAn+SEO94Jx7wklft1ZFWcSRj7KJIx3xQDM9dRGPYCYNeSPCzH1AEQ3BRT0IYzRhtH3yUjYLEdqGH8sA5TbzUy9t4J46OK9APdQREZ6yWVqskRcgnL5THnkA8msNXJTP/vquu+6uPMvdr1zUg+Dp7+tzX/vdnvDea5+ScDCRkQehUSwWBE2X8NWFoilU3DfK4h4c4WeMEK4RAbULPNStVdY8pqRLVM8/2kgKXIAyAQvWmgVnzbRHea4i0V3N86xuEznlEQ44u38UppSG8oHm4a9mXsJSegfgRoTxBR4z4zLkQiyI7bgoN2UZv8WsA8jzGHAGxzz+v/NTl+Qy/SuNeydyeU79BOXIl7Ol9lNHhDM6LLzYaN6zsFgc7Ji1/8vWfhUbdg0MyBKwp/SADnifpozM4xnqt//Gm27WNtttn5hfbkbHip8Jj8s9E7QFlcSohoIHmDTAggcBg7DlHlxGRHpcaqutthIHhWpmDgh+Hsm54oorkikYAQBVsUhiEvLiEvZbGQ8mYs/wHt1x++3pHcBt1WoSchwe4pld9nAX9fZ6ohZLVshmB75P/z3mJR6KX2vAZAeaFUQ0GAEMD/whYIij7/jBEcy2GUY68oMv0gBN/BFO2ohI/QNHhDXz4CLwqIfyWBQQT36EJWVGRKJ17okjrFkm6aB9xoCyCQfAfUSI9pKHdIyNfFEX4bSTdM1yuacM0gOUGxGKiLTgIz4ikmZPHPcuLrWNNlEmdQCEE0b/qI860MZpG/G0hzDSrQ7QTgAcumlC8CKwKJv62zval+DAHeHXoC3IKgkGyXJP9q4xiAiXVYp+NsGEnLpJW1OYBTMugYQxT7gvLYgLN4j2hCMBOy7P7XRg6Tj7lM7xSKk/EWE3fCNf1O0UNk0XTu8A56WzhJUqFwtGFiuMDXXSNsLxO6UXDkWi1ZSG/XEHUlRZuOzloRk3BJd63NDUBhZTdeNAcplPkFdLrlKlGwC4F4oI8VeWRQqX76XQurqyNV1R6c4l5NvFvz7BGPVvKcIhDFALeJwEUZUmrtI3CYwM2gsx5Xkm+vGXP1/lPc66tpo0MZm0iHeyVG4EA75M+S6E+BY8OU7AKziE0eHC4GCi+HkMi0M57MGSDqaee2HEoSlMopgZYdY91rph3DxDixBD+GLS7R7WrdvvuEM/+elPtdU224jnPzu8R3vNNddq4pYT1d7RqbrHqW7mkeU5VXoscSACeeqFIgB5/Mvkpx2lpLoZ2hON7cqEu6j0WzYPAVmWJQaPS5/pH/5mHGHc4zbjEEiERYQIB5ph+InjPiJS2fjBdUTjvpkmItIiK6Lhyhd12En58FMWQLspA5dwgHQRkdpAHaQD8Ec0wpt14RJOPnCLvxlGHkC+IiKVRxrCmmnkq7293eNWpjYT56DUTsqKiCTYG/M4T37aGhEpD/6hAuUum5b7iGY53DWANtBOBE3FC0P2c8eNHZvoB/rmsaaibiryD2FBmbgrAxGZBVo9QWH6ZR5QO2dl+hb1mV6LZCWiLbnN0+A3IpKFobCAYcHCocrS/s7ODuXeSsq9Bzw4MGAhOSg5bc0aNuHVKnvDucusy9Wq7sVyWfKccCEWvCzSsix3lnDeurjCCXPPKerpcPlV44F2AOYItjAMpKcIsrwhdvr7+r2AXqjMWmoq31KVRQ7jZq/DMxWeq6ULtyP6XLegXR5qSdOvp3Ys6y/JpJAibNXo99jLUGr5/M17ygcXuKXnOv6a+02fsixzMZnbUKQyCsdT/lBBvsgT0aAdynPQkH7ZkFI9rRNBPh68ZfqYZbnyPE/EzUsjtt12WxOMPEixQsg8gC3IjKOhAZMXxoWghdkDCGw0ax6ZmTx5sriY7J0WsJhBid97772X1MHkgCGTfuLEiZ549TQ2bW3t4lGuYcNsOh81UjBM8vKih0023SRNMs8yIfwpg3qANJ/tgRoAe1u/FgZWDQMQk5kxdN4QMPyX5Q6UtRhI84Slk/7xgOCHZusWSnmeWSC3q1Kp6tvf/rZ4goEzBAt7FyZlAppnS4E5xTxD8DGX2iw4BwYGk6AdtFurDYo3a+Xmd5hx6xZKzDuEU/MTlO1tbapYaFerbd5v79DJJ/9cPPImhdjzzbPcArKWYN6j85ymU2xXLJi/IPHQ3gW9aX4y51hQMJ+7urs09a6pqSwWXNW2qga9WHjkkYdFOxBoLLBDEsJ8wHGuzndD/xVeyGQeh8ICVc4M7gAtucAxN7gNSP8Xjw0LhMJlRDQEa0rpONqEf11Btq4q2hDrKT1whTJPHg+CG2j8CwYeXjFafdYdt96syd7LfNbuO8vUmBh84QFfHpgALainiTgUPMAEYGBMPFbk4DPLsvQ1ISYwL9lopoGxIIg5FMbpWdI2GQ8nutG62dskvGLN4OFH5ujBWQ/rkENeorxi06M1hfsemKnuYcM1bvwmqnnSVds7pchVJCtKqeaVJjC3QDPwae22Orc2MJD4iAvu6u5Oi8q6hSphCYpShQE/7soAlhyZZ0GedWvlzDXew44wxkqEMDz3vHPFi0Z4EoDn5HkSgMdDoW3m24UXXqgPfeiD+u5JJ+nEE0/Qpz/9GX3++M+LuTSw+EU/Z5wiAEjcAAAQAElEQVR+uvjYyje/9S197nP/qQ988AO64PzztXDRQqGJc7r+29/+Xz388EMaGLQG7jbRD3k+dXZ1ilfKHnvssa7ju+nteXwpi2fu0cB5Xp+T8fLFvP773//qeRoadN1t7VWHundRup5B464hDvM8S4vqmvFIPUOFmhccVS8s+hZxRsB83kivWxN/ovzgU05TmMeDL86tUAZ8pRkWEXIL3WM3dR39nuFCWiqM7nIJyL5CbSaK7s52zX14lg5/2SEaPbxLeTGgiFghZBYwLRiaFg2ecq/aIX78TABW/cOGDUt70ZMmTfLkzJLAb/MKHsbCyzL2339/wYwIQ3BXrRHwbmpeXMGeNuk4GT116l3ad7/9NcnWD29vyfNa1/z179p6u+21qN8MJcsVeVX9g3UV0SD/Mk07ta4WBlYfA2EmbnMyBbE9k+e5oHXuITO0sxIhDVggIAweD0JWPA4K5wE62jtUFHVVKlWdf/4F6ZOUY8aOsWbdpunTp4tH8ziQd8wxx6RDmDz2dvfdd6ut2ibe8EV9x33qU+JlMXvvvZduuumf4tG5uoVam+fcP66/PmnCn/zEJ3T854/XJG/1ffVrX1V7e5vbVKSnMWbPmm3Bflcqk/mL8BuwZk5/Ecg8/8673z/3uc/phC+dIO7Hjhmr4z51nKZMmWKhPOg+FFIUGhzo83wf0OBgvzbbbFP3o6KxY0er2wJ/Qe98b1dUrPk/rDzPRNuHCgjd9raOxDfCcx3cFRbSS/ODZ89+47U0FAhnOQzXY9Nv7X2gv1/ghDhHLf6VUmidXQ0utc6q21ArMtKZQTTP3tz7OdOnTdeETScIrY1Jlj2JII4IRbQgYmg4gOAxfQFMJB4R4tEqJjer9EGvzhHICG5ObuNiPqtYU2aIyEc8J3x5NpjDTwjuiNC9993rib6Z97oWpcl92+23JQ0dhll68mVZnphmRLgowI7HnIlrn6nAk9b/8bdgw8TAhtwqKMr83cJE6vJWTUQ0zjK40dBYaWGQXNNY8nO/PLiAlGY5l7LhRQPWOgcsQDiDcdutt6anTpJFyosDyoxwnd5bhn8dccQRSRiixWbmYeRnHg14jqFlvuENb9B/f+UrniOz9c9/3iQEk5uW+Blzs2JLFM+A80TFoIUw9+3t7dp0wqbi6Qn2r2krCwDCmdukiYhUL+3qXchBzdL7wn1pfj788MNCWEaEMG13dlkJ8mJG7uAVV1wh3i9+6SWXpvdSMK89PdPjhywE6N9QoTBe6Sv8QVzg052jvY8pg/DF4CaJhRQAH8JygJAmO3G4LkIJ0s3a//eMFtJlGZ5MocLUgb+BeBOTieqySy/WtLun6qLzfqdLL7xAf7jsYvHmphb8frXxwETkJRO8dYy3QeHy4gz21AC0ZPbRWKFjnuPkNhMGppEmbVkKLZq9aCZQ7gnOSV7KzPJclWq7+qw1z5g5S3+88irtf8DzFFlFbZ1dysx0KtW2NOaewx5yWEBjopW+45egEdT638LAkDEA8ydx02UxiRCCbs1o/DOFmXaJt7Pc/bJxK/YXaZGZacDCMjcdozVPs+bMS3AQRMQ7p5LrCh72/i6PLTKnELL91gqT0OrrS/u87Dmz+GUbaYcdthfv4u53HPmBuXPn6qGHZ4sX1/BIY2Sh3t4FwmLF+ZCZMx8Ucy/LciH0aRd9rVvLx2XOUl+btfPMC4Tcc5OX8Vz5pyu9/dSd2ll4a3Gh+S31vPGNR+rL/+9E3Xffv/SjH/9Q7zr6XV48zNLAQL9xVVjbrtkthwyMBfWzUEAoM98Fr7enNH6WglxmA+QrhRvXtH/QCyIWMxGOcN6IMHtwG7hdR/C0FNI19wooQaoFscLmU/trhohcqkkDdQ+K0R2qK8yy5X2QwgNRi4r6s3bt+Kx91F/t1j+nz9btM+bqBrsIFEyvTa2P90djPnrggQfUgqHjgDeDsZcM/vDPmjVLvJqSV0oOeoXPJEFIEwcD4lEswhDQTHiYE49TcaCP9Fg7Zs6cmQ6zbL/dDmJCdnd06J4771DVTKArLzRj+lTd+Lerdeftt3hf2pPdY16ER78YVFHWNGgaGVSmAVND2AQHPUA6hemlcDjzMXdZpSc3DAcmBCOLCBEGMxiwdlOtVkU4bkQjjniAMlYFmnkjlpZHOdQXEak+0jTbhB+NKSKS1aDZXuKbsGw87SWcfJQLToknvAnURRwWDPpKesptxpOefISRNqLRLtIRF7H0njTNcOps3uMnLy51Nf3c42fse9Pjc2XqM2HEkR+XthCGS/mEUQ6AP8ITnJs1BoVLAup2+YVyb6WYRNy+usaMHal62SuZvlTkiiJTWYSiNC4Ga3a1DDTCo8wUBWmbUFl6X+ZygXLhquSlBvoXKItBjRg+Sly8Aaw0jZ7xy1/oU8d9wnvT/6FLLr1IH/zg+7X11tsovFDl/fWVtopqblOhUoNFTfMWzNOEzSd4W+haLerv04hRI3TXPXfrI//xEb3nPe/Tl758gnbeZfu0L7zIQtxKuoYN63DuujXimpsT7pfxEHWVUSry0FV/uUpfPOGL+tgnPqbjPnOc7ptxv+Tm11xfVELF4r+ahWGn9+6vufavqrS16f9+8CMd89GP6pRTT9N2O+ygCy66SG027w/aTB0yboy7GCKkQ23eEli4cJFN3ovcxlJ5lsstXAxS6bLKElfuh1tVD/V7gZ9lbXrooYetwY9QZv6RVyRFzfnqinA7IrSurmxdVfRUqcfj5YErxVuEDjvsZTrssJemDyq85CUvFR9BeP3rXy8+mfeqV71qiXv44Yfr8BYMGQe8pnFZfPF5Qd5P3WWzF6tezN/dnrg8/7zHHnsoyzLBoDsseHOvxtG8Ma3xghOYL3GkRZiPHz/eK+56mnAPPfSQeLsZaUpPr9zbGNdcc7UG+ge8v9a+SiSJ8EUQ0A4AYUBBhNFO2k97mn5cICJItgQiQhFDg2Ym+tH047INgMkfIUgcLm3CDIqL5kQ6XNqJ8AKawhQ/+biPCGssA4n2Ca94a4HxoEyAflMOGtmjjz6a8Ltw4ULRXyAiEk5pD2NDnma5zTaQn3I5HEh51AMgeHFJzxjjp730gXK4Jz04boZRDmHkoX7SRUQSJNQXETgJ6CMe3IgYMt4jVj4tbW3WQxvpT2/vQuPVAqAsVFooEZ/aY5qELps8h/DHgtS4x1VacJGevPVag8bxF9YMMQXneeYtnqrGjB6j8RttpPtnPqBh3cPEuQ3KAf+Z+wTeSudRyEK2nvIs8OKne1h3GteHHn5I4zYap9e89rV685verHce9U5d8YcrhGm923OUsrq6u1JaaF2+IkIIRcbBt2LRzCIchWaONXJ3JNEHcYyjnL70TUSkcvj0ZWHcXHnllTr55JPFJ0v/Nf1fNnk/pNxznrR1x1P3UCHMN8g7aMsDJvcIt9H77rSlAW6Ax4D/QESmuq0A7W3twqIAbZGfOMnIApDoWrdXtm6r27Bqg+ATmALAvR03sDTRVtLBiUU2wzCGpSfXHXfclogMba5JiLgRkYQCTKUF9ZXCBZPSCE+TdKEZPvgbMWJEepZy6tSpmuvJjeCFCYN3GB4vNUH48hEFJhFMgu8qc1KUV43mWXgvsEOzHpypcePGascddxQa9/777aetJm2VNPbhw4dpoc128rim8eVfAi2+GpSw+OYxDnXC5CIazCWCyStlZggsLGDMWFdYSNDOiFBELCmjhNB8hztUcPLH/SIi7bvTHoQme47gs4nDxAidi3aRBmYDEM8iiLTQLy5tdtLEDGHk9INTw+AUgUsZpMVFwDIO+CMaQpF7yiUvftI26yScfkaEKJd7xowxpT3NdKRphtMmyiCMenBJR59IQzx+0lAG8aSjbGiGcwzcRzwW76RbmwAOKb/ZJu55j/ncR+fiTXReWAgUFpCQQYnbBAeQtzRNJkjhi4U6wslAISmPyRPzchaZsix3sLmY86NJD1ggTTno+Xrf+z+gE7/0Zc3wPPj6N76RFmAd3ktGmHPaOQK+VaT8PcOGW6g+qMm7T06LnDZvFw3vGaGDpjxfL33pYfrQhz6sXXbeVaec8gvPkgZOF1o7DYUYc8ahcPsiwjyyU4M2U7785YfrK1/5mr773e/pq3bHb7SxTeWLTGNV11kRH9HIs4oiMvX3Deih2Q8nd/bshzRv3nwhoPn63IHPe17aJy9dfuk+rgy4sW5PuwX9bDE/IkLQUeFyCuN3KRRpbEqH0Z/Mc3lgsN84meEFz2jjVwq3k/7KF22ws85+2TqraYOvqJQ8eEBpgsg8oG3VqsMKhSfObbfcosmTJ4u9T7SJkSNHir0eXARLC0ZoqDhASADDhg1LecAjeEULJhxBwGMjPIo1YBMyApqJAYNmuwErBvtikBR1/vWvf9WkSZM0YcIE1WuDemT2gzrzl2do0sSJaZKSj9X0X/96rXbYbrskoBcumK88PObMZDv+eegbzI5ynwiaQoj4wnSCS/sI55OO3zBDfPe73y1eysKnJWk3QLqmSz78Q4UIswcDZUSEYCIAuOFjGXwgg88n8tUo9vsplz5HRNJ0wSnpEWLAWWedZYbZuwQ3xMGcENYsQHB/85vfpD5ERMJLM5w46pUv8nEPUCf9Qvse9JYF9RPmZKm9pGEx0cxDeREhxpmPZZCPNlBGRKRnbSMiaY/kjQgzeASSUrspm3ZEhIhnDOSLbSfKJIy6HKSISG2IaPSFvGsLaD9ly1dECCH9sPd1KzbxxhJu26AzywQ1oLS7PFhwmB8lgbLYDRdQKpSEc+TKbINFwPFFt9x+BHC7TcNZ5EnobbnFRH3kwx/VP2+8SXffdbf6vCct569UqjZXD9eYUWO9oB2mSy6+VPfde7/e9Ka3qL2tU7XBumQzcJs1ym5r4p2d3QqX2dHRleLyrGINvBAHxOQ+mjpNIxJ9X7igz/6wtaru+DaFKupbOOBFQt3trijzfX2wdDmF52rpTGGeOtp42sJaf49e8+rX6K1vOUpHH/1ufeB979fee+2tuXPmivePZy6tMMKGCixk2qptyWy9YEGvXJsyL2pKl8EYLQW5zXL7pYgsLX4tp3XPPXdp/CbjRP9y54ssc7rQur6ydV3hBlWfR830b8SXhmbLSuVZZiK0VmjTSJ5luumf/9Q+e++dVpkwEhgdjKgwk4ZRNHO23JXDAPgDj+ATAJdMHD6W0eb9KYQcplD87FGjmRKPds3qHUZPfhgzmjWrZcIuveSSJKD54AJ50OBuuvlmZR5LymE2DrNpr7RWYxLw5PV//5qthyaa/uXdhdb4qYP2omVyz6czv/SlL4lHTs4//3zTUim+F01bIxqTOiJS/bQht/kOd6gQEYpo5JeviBBl0AZOt3MYhy9dsY3As7E8p1qpVKwJzBSWBw4PgQfwC26/+c1vpsfd2PMHj2j+vLSHx3QoF5yy6EDwkZ8FBxqqfM2bN0+k40wAZZIWACd93q+kfKwg4IUwBDNpWVyBwmcOOgAAEABJREFUL3BCnYXnDnXRB8qkDO5pN3gBp+Tj/EEzLeXz3XG+PU3bGVfyu1lpQUEeyqYcyoho4C0iEu4jGi5xawOa9dJeyqev0CCWHsyoRaK3BqHV6+Y5ywKCI0Gh0rghb2nloExhTmuXvhV2EdwRmdB2N9povMA39ybktPfa27tII0eOUmlBe+CBU9J+9MWXXGohOCwJu9tuvV0f+9jH9X5r2+9857v09a99Xa942Su02aabqd9bQRUL8VkPztJPfvQTnXji/9N/fPRjmnrnVL3+iNcLfM+zpstJ8Eq1auE76Onk9pVlWlBlWS4WCca06rVCLI6rFvYV79WjwQ9Y06et9CMiV80b3A/OnKUdtt9B9z/wQGrTmb88U6effoY+9anjBD11dbI4qKlmfrwsPp7Y7/aAJ+9j597iavc22cPeX6YtEZHaS/1LoXBYISlTZh7h3Jo3f579odGjRjpcisgU/hOX+yqQjX8dQLYO6niKVFG6nYBMDIOKCFWrFT3wwH268847tPvuu2rBggViECFUJ/YkaKQvPWgtMGkPEQ+FmRB4zC2sAPwAOIWhYWptfukKRlxNzGAgfY4QDRpcMwYIXN58hDkbJo9mfu+//qWKJ+aLXniwV/K5eKRrwNo4gupZe+7psfVkr9fUmHAeP/+od6gQEYkGEDjsm/GhBTRntDf6ULFwRCtEg1q+n/S1CaQbKlBuRIgLfxPAAzhAUGPd4VGZww47TCeddJIQbl/5yld0wQUX6Atf+IJe6/1FhBhvY8NS0XyhBC7a/7XXXpsWGSx4aBdC9tOf/rR4mxXP3H72s59N9M6C4Cc/+UkqlzMav/zlL9PpX/IdccQRIp5FAsIdeMUrXqE//elPOvfcc3X88ccn0yOLLvoC0JeISGVHRNKgafPHPvax9BQB9fIJzYcffji9GIM+8YTFW9/6Vp122mmirHe+8516/vOfr1/84hfi85ssDCIijVNEw6UegL6tLYiItJBn/CNC0CT0V61W7B9ItMeYyRduiduEJXPH7N8RKZ4wC4MygRRhPHnu9C3qE/S/ySabap999tU/rvuHsPwtXLRIh730ZTrooOfr4YfnqG4h2dXVnV5YMmXKFGuUD+mFB79In/zEJ/Wyw16uQw45VO9+93v09a9/Q0ce+UZrkH3Ks1xvefNb9MUvnqAtt5zoraLt9LKXvVzf+Ma3tMmmm7oPdQvsu3T11deIg568VSz3fKtZgOaezwP9g9p//wP0qle+ygJ/UF5nqPRipDZYmJ+2W0t+m/Pto75F/dr72XvrPe9+b6p34sStdMrJv9A73v4O08hDbntdBzz3gPQMOCfXa56zRosxYfxoaMB4Z5GJ17PyprMBLxCMUudu/iix6ZfHqKa662FPes6cR7T5FptpxMgRKUG4HMn4X5IltK6ubF1VtF7rMWIjwgNQ94qpVGRhty4GLE0GD32aCI0AtVkoLPJ+dL02oOuv+7s2n7CpujvaBRGSPiIUEUu6FBHpPqLlRvx7HDQRN2DhCU7rXk2DVyYVWhoCB/M14Wh0CEQ0PczJG220UcpOHEwQwQMjJJDJjDb9nH33VZv334jv6urSPGsWyioa1jPSIx1JEFQ9xlmzrQqyJ4gIZVmYNkote6UUKS5LzI5vKf/sZz9LwhAG1dnZaa2icfCKtmF25pGwiy66SCsCHi0bKjTzX3zxxQLIhyBDg6LPLB7p65w5czRx4kQz6IeFIGbx8JGPfESve93rxCEerBKHH3542ht+9atfLQQ8WwwIOdLt6UUMQjwizChna7fddhMCEoHIYghBfNBBB1kL+5j3KT8kBCT9BFgU3HXXXXrJS14iFi60A6sCL7HgW9YIcBY1f/XWxEJbI2gzmjEaOviivfOspUMTf/jDH8S3qMn3xje+UWeccUZ6CQeC+BOf+IQAyqetWAGon8OHtHWfffZJ44CWjzAHT5wPAG/4wd3aAsaJPp/l7QTqYPzp86xZDxqfMxWLt1foL6xG1nSXwBJiK+1rgr38Ft9aPptvSe3tnbb0ERgWYtvoX/f+KwnA2mBNkyZtrW223k6LbGKuWzhmUdGkiVtrpx13UkRoI2veLz30ZZryvIP0ooNfrD0nP1ubjJ+gRb39CuXKDNtvt6Oed8CBeulLXqaXv+xwC/2DbZIeozlz5kmOn/3QQ8KUPGrUGKFNo6HKuevWXAvXubk18m223lbt1XbVvVAIl1o4rt+Cebddd3N9m6h3wUKNHTNOz37W3qr118Ue9ZiRY7Tv3s/RO9/xLr32Na9NQrrTfc2zXGjNmevQSlyFtWk5z6RJW7ntczVgIQ3NwWsoLy0gnKbhSlm0Gb+FiJ8z5yFNnLi5hg3rTPdttgZQXkQoMpcaWuPXExXo6p4o6ikabtr1T8Cq9oC3zHR3d2n6tGkmpgV67nP3T4MXEYqIVCwD2YTCs6cFRcLRUPAQESktAphJg3AmHy6ntA888MB0cA9EEwZTh+EefPDBnjTDPNkGhHDBhMp+K+Zv0uVeyc+Y8UA6K5DluTqtRTwyZ67+dNWftY3NaeF9O89J112q3/umiVmaUtICzS71NcYUn9Lk5J67Jj0h3P/4xz8KZowg6O7uTkKP+mvWJiLCK/LBpGmyr4uGvSYATXR54IAUbZs5c6aZ0JwkmFm00CaE9p///GfxekhOzNI+BDppsTigmSIY2b6hPyeeeKJYCIFDFjqjRo0SJ+45LzBu3DihfbIoIO6HP/xh0rAZs4hIc4JxQKDS169//etpUcCCC3yxoDn77LPTKWMWEtQN7nj0jjIY3wW2UuEypiwGOPCHRrzzzjunw35o5dDKOeecoxNOOEGcGmZseJSP8Yc26COn+ekf8VdccYUQ0AhMPtCCn/atLWB8KBthzYKAPkO3d919l+bOnSPaV3hBSj8iMtVNjA0ohIBrQN3+ZcFx5i+YyznRTRmMrRTq7xuw1vpctXsfmi0JBAmHxx64f4Y1+i7Tb5gWa+rr6/ecGTTdF2K858ydq0ceekQPGx59dJ4W9Pa6zsIlZil97/xezZ3zaNrX5iDXXKdfuLBP7W0dqlbadO+/7tP73/v+ZD6vDdaVZbkFnMW7rUgIP9oHD6W9jBF9dmNcR90a9CK3ZUBcpfv16Nx54oUhpXGxyEJ8/vwF5rm9XmQsSqZ7ykpT0/EJVxb2DTwVLu/fgMuXewX91mp1LVgwXyz4k1D2hKZtLJYabpnKox3whUWLes1jxqmrq9P9yySXk9pht5le6+ii9nVU1bqsxiMARnFWodqKzVMQ1dQ779Q73vF2bbrJJqoNDngQG5MHxtIsNqLBpCJabsTQcJBlmc1mtYRPNFAmIi5CB+GAZgyO29ra0sEytCXCMa9VzAiYaMRhwn6+zZxMGtKjgY20cMmdhknJOF548SWaNv1eTZiwufq9ks7RoPM8TbzHkIdvKKc5ro/xQ0tEeEYjTNBMMSkfbq2UYAQfE3vkyJGJEdKXL3/5y/rOd76jb3r/d23BkUceaWbcoW222UYItZoXCWiMPCJIexCmHChDo548eXLCJUIXYYilgs+BIlDY32U/HW0XAYclA+EKjtleAOgbzO5rX/uazZV7JU13u+22MxPrSoDJHUFPnwdsIaHcidbq2Yo45phjkikdIYnWzsszeN865SHcWXBx/mDLLbdM2jv94J780Ar4ZfzR9ukXZng0ZtpJHsYAwA995B5f8IGpHHM9JvJvfetbAtbWWFAu2wYsioCvfvWr+t///d9koj/yDW/Q/AXz1NZWNSWVdtsEf0EgJDBdQW9PDlKkeVM3jZX25xa4A+Jxq098/OMWKOPFIqxmYdTVPcwCbqFkTR2BRljNtEH5LkXhcFfpJrgcC508cv8PNdoSisiUZ7ly4zEid1l9YhwcY/8iHW66f+Ob3pxor27zcN0LDwQtCwD5ws+cZk6Sp1GXI0olAY3wJpy2hTJVsmpqK+2LyBQRXiwMNtJaKGe+d6DbV4g0QwUOm9GOnuEjBL319i5MuCsspRtQqnDjmiC3pVm2m6GxY8dYqFfVwIPxo5ASaJ1e2dqqrdnZ1XKNwJXOL1OCfw2nbAwqN0/Y0SbicUlU2pRUSwMzvGeYur2SyjPHeWCzLFMTIkIRQYYWrCQGGFMEAJMYhs4kwI8WCKPF7BkRQlAQj7aE6ZU8MCKYM5oS9+RlIsIgMIdPnDjJK3MvpsyI5i/s1y233anNtpykeuTytpiUVzVgE1zp+8hyMwc3Hnqxs/S3XAC30KITsECgTQguTlVzunpfm9cJQ5jkZmwwLdyISBoogmN5oG8rA8vn576vr89m1NnpJS6YkX/wgx8kU/6hhx66ZBGE5ooWCm7BO0Katt9yyy1JG2WvjnJYCFEG9O1upjc9sed7zTXXpBPY9Ae8Ux4LFfqK9kZaAK2XvWfGBcHb5W0GTN1YRjjoxRii0c+YMYPkZn7tQvBHRDqIhtZ/9dVXp0dlWDzwIQZeE8vCC015I29zoMWTGQ0d0zr9AYcIIDRsFm3f//7303YE6Wgz8VgWcNcFUCdjA51gKYJGN998M+PzQQvRhWlhShqTk5sYy4C9zR/BTf9yLvOEQ1iDAzUpsiSo6d+AF6AOUJZVlEVF7W2YaV2Q50EoU0TW4IXWSM3KTPdhYZ0JZbNuE3VhKJ2WOO5rniPsI5O3zWZr4hdZI69Uqmq3CZq9XrT28DwqPT/oE7STTPoulLFxJQrzXqB0wRHyvcEucQUH6Qq5DaXxUqjuOksL5XB7M5frVjt9KNz2UPPCNzQo6KsbFwpNnDjR+O9LdTnIuNBiKO02QIVTupHQSVtbxfvRw7XQGnXuPXe5TTJ+mq0oXcjKQDPfqrjZqmTaoPOYYPwTsKrtrNgs+vvfX5ZMqwvmz9cD99+vR+fOTSZFmBTMommye8j7My14KDHGlcEDzHyucQoewSl7d5hf0aJhcEx6GD3CYJq3HdCsFi1alLRBhCBmRF50EhGqWHNGwKBpo5VlWa6e4cOFgJiw2QTt4n2wuhlHXm0zSYRqXvk3JrBMJ+UScOTiCYvPcYsnInfL0lPNWgmCDeHxjne8Q2hNaM5TpkxJQpL+IHQK10na5YFFxYC1zZUB8gDkwQUQhryeEVwAmHp/9atfeZ9yK+2+++766Ec/Ku5J+8EPftDWhAkCv+973/uE8MOsjFaKFoxpfvLkyUkrJz2Pc7EXfdlll6WFAKfHEe4cDKNv7Leyb3zIIYcIoI8cQkOLRFPG9I1Gz/70mWeeKV77yp547kUM+GRRxXhzKp92Y5pGiGPuZm8584IYsznlNtuGORm8s9XAgTQ+uoKGfcoppyQNHBo6+uijRd0wUPpBPdSLC+7WJtBWaJS6qJvFJnVjtci80Icu6H+/x560tDGB6aS0EFsC6d50Cf3hR9gY2PsNBJZpftCWvTAiszxP2xxZlifapVzqLJ23cB5cl5TiuAdSmAnaSVQ6TWHBmMLt574Z74mhuuNq1lKQOQIAABAASURBVM6lUJZlIs/ChYvS4kC+8jyz4CtEvrrTFZ5bDvbPtTpx4fYX7htuab+LYWI5T11lM9xtyVx2hMtyHuZ3adfBTlO6DV50ux1Fal8hyhkKMNZuiOsqEu2zkEzluh3lkrLczuQvna4U7WAhyXmN4cN7kok8N47BtRtOcUpluH3pZh38e/oJ6TWAtN7eBXpo9mzdcOMN+vnPf65f/vIMnXb6aeKgEPCLX/xCp59+umA+Z511VmKEMMPF0Lq3oHgyXJx66qkJdxwIAn9obDxqgcBhQixcuDAdaooIwaBhcjA/Ji+mZAQEDA+BE9E45ITAedazniX5Pjzhe3q69cCMmXr2XnuL+1Ks5z3NItTuPbzcgr3uyanmVTrO0LxdoeuJySSmHbQTt2aBjX9fa9MI6//6r//yPuH+4lATC5HmhF5TLu1qlkX97373u4VZF5Myj32xsOn1HiMLFz43yFeI+IgCh7CaVgoEI189QpAj6N///vcLUzInwDfffHPBzNhGeNGLXpS+lPSf//mfQkBTHxYNTNoIfQTiYYcdJoAFCyZzFiuY2GFytJUyeDwNzZh6MafDPFmIRYRo0+c///lkDj/22GPTPjhl4cdMjZDHLE6fqZuyPvShD+nlL395OqQG/nmjFl96op2cZ0B4I8zBAW0GJ7gA5awtoPyISIweP32ENoaP6NHo0aM0ffo00d66acakpCQcFwufpf7CwgKo2wXwN4Ay6xaEg4ODajcNU1bNfupgYUAZywpW+gmN162hkrckUg06Jw6Q5wU0HdEQQ4UFGIK57jZSD/eFG0vYIk6Vu37qy7zoIIyFA2XXFgtn/EvrKZKARXCXFsg1m8YpL+2vO32E56TnXM11sbdNHMKz7jpqBvrT8NdSOaXbRpqhQsUa8IAtDLSJsRj04migfyBhofR/V53+u3sWvMZEak+ZHvsaM2a0Ne9FyaQPfuQ4p5DUwJPW4ZWtqbpK93R5WFNlr0w5oDCMfcAjkLK6aR4EB/qOd8vWHVF3YN3mi6LIpXqp8GQJm18IL9qHacqhL9f+L36Vdn3Oiwwv1l7POyztxbFy55AKh2oAtIAXvOAFasHQcYDmBQ6bOEO4YDZGEMAYEBwwWCwWrGrRoglHQCNAEOgwd9JERHpOFA0aYLJvvNHGWjRvgR66b7pm3nWH7v7H1brpz7/XFeecoT9e8FuV/YvUBoFYSJeMP1B6KpgeSrulXZOKp2OiJlNLmTib/4sJT701MxbSwDBgWriYgdFGETCcgsZSQJrlISIUMXSASUQ8Nj31Md8QRghl2gOjJi3mOuIIJ2zAzIlFDjikrfSBe+LJx6KItjfTwdDwk5dwXMqkH+QnH/HUTTkA9VIOdXBPHeCJvKQjD3lpF2URHxGiH6SnPNLgJw31UhZAGsKonzSUSRn4qZeySE895KesiEj7msRzT1uAiMfiMWLN3VNXRNDMJKib7S5U12577qR//PMG1QpTUdauQhWDhS//y0EhCAHosSgclyB3uHHkLMRluXmVy6eIgYG666mYr1VUH8yUR9U0mqt0pOWn/YX9TuN7E7BkGi9ruRcGUr1wi5ZAXTULzGaYq3K5/kUoLW6dLkqHuj0dbR1CaBYWttQZZUUqcwUVFM7jNIqKCpuNXWRyS6EdZyrTvHqsS7rCRZeebyWl2C0M5JHz4SZYnJe4opSGDLWsgZd6uDS5hsIL0IdUyQoXYpzX+u0WTpMZL8ZDvkCDWqgZD9+rruGdGnQ/iyhVqVZVFs5DP8tSchvDpWkdXeZM66imDbQao1xLYLGHycw+z5jRo7WZzaWbbrqJRgwfnsxKrNLZa0MgjBs3Tmh5+J/yMH58OnyyLvqBBoxAbgJ1sucIE0dAdHR0JGrBzM0iCE2IuLa2NrEPypvF+DIWAgbmjcaKUESAd3Z2eJzm6Yc/+qEwh0+aNFG77b6bDjzwedr/gP3Fl38UIfLmXmnLo18mwJeqXeV/CA4EFbSDljpp0qRVLmttZIwwaxkiNAVOxGPzPFm7Ih6bNqJx/2R5VhQX0cgX8Vh3ZdNGxIqyrPswN2PjTTbW6DFjNPfRuV48DAgBjuAFEt8378Ft3JsifQNtt2DVcQGOZTwWVr4GrFGD/5tvvsX4r6mOUhaZSkv8mrV2WfAWTvf3664TihjWnAFvKWCxWPcE89gan/FCeik6PEvUAFbqbV49Mcg8SuCR1P3335fMH5xWHTFihND2ABgybguGL8HJyuACsygmUPAIcI+gRuBxEAwTNtoUYRw04iQypk7GDUHCW6kYE+LRrBDwp3krAv688y47pw8FbLb5Ztp66610j/e2d91tNwvoQU9Sr5w9CSknAUOPx5M6kQH+lQBoBY2ONtFeshKGu7YgIrzeGDrQtqFCxNDLjdgw0y6Ld4Tdsvfr0l+31WXzzbfQs/aYnKw+fJyiLK3pmtbKFYEFR9kCs10L6NXAg4zbwniOLLNgHtD4jcan15/+6977lOe2Aijk4hMvkP2D5gf333eftt9+u3S2pL2t3W6HHneFQwA76+L3jBbSJgHzY/83gy69kio9ULLbXm1Tn/dfQqU62isqvcK68/ZbhPaGEGgODBp3kzEPlfm10mWKCDXxENHwR4QQtM1wTutymhgmRhjaNqeEm1p1YfNTb2+vOLXMI0iYOVkczJnziObNm6sDD3qelEmRh6Gif93/gO69/35tbKuI2aNq9UFluVfS5eLx91gLv2Rf6f8r/4sIofFnZgryRdvtbDC/CONiNeHJOhOx4vKfLM+K4iIeX86K0jXDIp44fUQ0k3l4V21clxSwip6IUGEesutuu1hY9KlW6zON1R1WLIbS7mLw1lthydGCxfhYDVyUFtCF+UQWmQVxaYHbbcvoFpp6x92e5Llqg6VKm+YTmO/zmNyo0SO12267ppHu7OpSnuXJ/9h/65aOzMYeW/0z6Q5Up50Gz2P8njn8PHCFOGQQHuC2PNMM722OHzsqvVRhcHDQk6ymLGPg60ngQAgtaDKcobslQtEA7pr+iEgmbV6sgRaNVQPhzWM3HCLj8ZwB77GyWOI0MWnabAZnPBDSfK3soOc/T5tvtplJuVS7zd8dnmxX/uXP2nrb7cQJ7/DYDXrTjDxO5F8a/TT2vlmlH2UBNWtNuFgCaNcqFTbETBGR6C9izbtP1ISIJ65rVfJEPL68FZUT8fh0EY2wJ0u/orh1HVaYxlnMb731ZhozdqQW9M51E2pq0nxpAZEEBQLDpLg03EKkbMGq4mPQc1EK4YZyZVHRDjvs7PtCc+fOk5SpsNlbpqPM8OCD92vPPSdr/Pixib+3VdvsLiukPTirxSVc5Sr8slXI8/TLAu7dq8WOV7WFuruHeexC/f19mjFzpnbYcbsknNHYECowYdyIcM7Wb2Uw0Jx05IlYij8YWZ7n6aMQ7DtjBo8Ir4A70/ufEX7sF4F3BDUHhTbeeGOKSc9U47nf2vImG2+SGGCW5xoxfISKstADD8wQZwkKC2dqHN4z3KvrOlkeC2aKqzoPEdAURj+gk+Y9YY+B9XTTxPtQ3PXUxKdltTzSCT3QOc5jPPzwI3gNcByDf1btlt7b1/qtPgaYh5TSnIegeXhPT+InbI2ZtTSmuiPCC/dHH52nrbfZJvEO8mIpFcyCQtYjPCOENIPRxHEY6wCTIjErR3gh2xgs4nzD6ipp0ip02y03ac5Ds7TNpIlJSLdZa0OQICQQGs7e+q0kBsBfhEfBgMAFj4wF4dOnTxcv1uADG0yU9vb29IILXiH5yle+0ivbTIwB6TCHjxkzRhGRTOVo1sS1tbdpkRdXFY9V3eN55V+u0djxm6jS0aV6mSmyigYG0WTCLQfsLP5FhCIzRCymCcl3/ud7BLhWfNH+zBM9wqkNLOJWnLIV+kzDQK1eS4vImheIO+60rW67/Z/q618gaB8ar9dLLxhl/oJbOrwFxWqYuZt5MXPztIfX6MZtYa25VJ5XtfVWW4uvqUWE8T6gSlXmOfeorT1Xd1eHFbNF6uhsT2Tq2Ww3lgJeywUt4Q6OWsu/bC2Xv0EX7wWUUV0aQHnYbUBXR4eqlYr6Fi7Un/5wuZ77nH3U1e69aTNpmHELjLPVwAUr24jwBGnsy8GoEGoIZF5oseuuu4rDeRAPJmzeGc0ztjzDS16EIS8vIR2Lpc7OTu9Dz0tfWuJEd+FtCkWmDgvl6ffdpz9eebW2s5mrVEU1mxSzrM2rZcxYkD9U4Joe6zig9VsOA63bVcRAaXrsaIf592nTTcerZ3in7rt/euIxWcD1Q7mFR5ZV0oIwWv/XDAYiV0SmWAxmWZ730uabb6bZVrzmzZ+jjs5cfQPzdMfUmzRx4maKrPQCvk/tXuBnWa7MC295oa90wSSAdLPO/mXrrKYNuaKEd/4ZPJL9PPBu91//mq7NJkzQNttu432MwQ25B0+5trG3T6PRfCPMlgy8gQozFM9ANwU3aTjRjUB+6KGH0lvgOECGcOY0eDMdB8i23357DR8xIp0nSKbyLGwmv1IuWuwvkYfFQL2oCz9lL4XG2Kd7e5Pb+tfCwBrAQGZmz6N50F5pLWyvvfbSo3MfVZn+ZC2vbi2vAdBmzRp3C+paXRzAG+rec05uzeV5jxq+w/0m3iabNm2aeUNo5oyZ6u/rt5CeJJ63R1kI844I72fb4rYGSGC1injGC2n4cQKvlkpDE5vt1TY9YqHw1re8SV0dbYqyrpYGbbZSrj7k3iuOCOEyYeQr84oV4cu+MY9hoTE3D4eRjv1nhDIvN+G1lAcccEDKD+ObM2eO+DgHz0qXNpN1d/eora1Dd9x5t278583ab/8DVURFymzXiqpqtdKT0/fKPaYyuE9uQ2nwzWLWyU0LnvIY2CA6gJk1V2EeYrLXvs/ZS13dHWJByn0oU83CpEz8J0yQagGTcTUh4dNl4Nrx1PY8t1Vj/vx52nzLCXr44Vla0DtHM2dN17bbb6mxY0cps3Bub29LmvTjF/Iel/RLpSXfuvj3jBbSHrLEkEH5EmR7olRt6mYPdOONx2vkiB51Yv7OMzP+thbYDNS2mgCuKQMBiwDGXM2BL94ktsMOO6Tn0bMsE6te3unMax/Jw0EONGY0kYkTJyZtuLu7W+TjMawUNjiormHDPE4dmjr1Lu2z734aM268Cpu580q7XXkiVg0VyfvT/kfRyzuNsNb/FgbWCAbC9GbTq7kNQjnPM02evJseeOAB9ff3Kze/Yf80M83LF24LMuNs9SDkv6CMXFnWgDCOO73vvNG4sapUQ3feeavmL5ijgw8+0AulQVviepRXMoWFdURmRcB8QuFRaYK9Hkf+ryvI1lVFG3Y9iOkmSP0DA7ryyiuFNjdr1uz0oYZ7pk1Lhw04cNCCe1YLF3zdiINfU6dOTeXwlaZzzjlH48ePV1dXlxDeCG4+vsHHGjgchsCOiDQmmL5za+NNQU95fHeY13CifUeEck8yvoXLJwt7FyyQPLHq9ZqYpJmSguyEAAAQAElEQVTjajYpOvCxvxIaeGxQ666FgdXFQJZlFgTz1d7ZmRaenPSesNnG6SkGaPfBmQ+KD8nMtDvjgRma+eDMFjw4c/VxMLNRxoN2l4DLZfsMpWDkyJHpC3L777e/eMFMGmezALbGeCc6/CWdb0kR6+/f01RIG9Nmyk20wnsJWXLvuMJm0bCJKa87pixUyHsWUddgVrOvUFfPMN029R6d9uvzdNEf/qJfXXiFfvnLX4qPO1x++eXe6/yT+PIQmh73LbhcQ8UBOAN3pMfPF5mYEDzzXBSFEMDsKaM177fffkKDRmgzsbq8Cu7oqJjZLfLEatMtt/xTm2++qbq7O1W34GWCVbKK/vinv2j48NHWyi2YKx0qw1sWebsGXf5gWZO8QK7HgOpeINdU2jXYHfR+tZXuZBpjAW3DikNLy/hSEU7cJKKW+4zAQGnm0YRmh7lv+ofi8ghgV3eXabFP4cVlXq1o7MajtMuzN1W9Olsz5/9DD/fdrFm9N+ihRbdq1gL7W7DaeJi98BbN7r1Fs3qNzwT2L7hVsxfcqQfnTVV/zNGe+++uiTZ1L6z1isVUe3unKpU2D2sl8ZM01pYLCvOMKBzOz8xDGZ6VglTW4hwRQ+clK1/T4kqaDhUDzftlXcLXByxtQ9lgtmaz9iwbbL/jFI5ZCkocOdRWbdcBz3ueXvHyV2jKgVN02EsP07P2eJb4Tu+rXvUqve51rxOf4Xv1q1+t17zmNSKsBa8aMh4OP/xwHb4YeKwKHB5xxBFiZeuBSV/AQsvmW8dbbrmlTdRF+lzib3/72/SudPaKEMj1Wl1/ssVj1113s4ZdJ6uG9fTopltu1W9++zuN32RT1SyUCy/I5ElhMZvSJFow87Xkbdz7P7el3UYcnhXD+qDnVp2eqx6gtYmHZUd72XoiwqQTKbpItFSYRNZMe97ylreIr5PxtTK+QPbGN75RRx55pPhq2VMS3vCGp0Tb4TXgGT6Oi/Vt/nxbOtrbk6Bm/NOAL/7H/erC4qJWyclWKdcTZFq+I0+QbK0Hez57IpkFJ67r6uz65zD++94/0ojbx0GZVlAIAJ6XxvT6yMOPCC2Ot11hjmWyot0BEZE0P7S/FuRDxgV4bfekwJUvhC7a9PDhw8UhsYsvvljsM3PaErq66KKLxAdNxowZrcKDhzC+8Z//1KiRo4TWTZqurm5vVQzqt787V1ttvY26vTfd0dGV0kssxmCuWnq5HFPJYrowIfje/x3f+G9P6/cMwwB0RJdxlwXCIiIxcTQurYGLD8JweIyi4CWUC7T4yND5yOrgCt4Dz+nyFhsKAsI6IgR/Z+wZl6aLf31BtqYq3hA6s7QvMFmgEbLUl1iyZXMjhP9lYt7hMID0oXqt8L5om4VFvzraO3TP3fdo8wmbCQGCYEEoAE0/h5da0K2h4qCnp0dMDPCHGRtcMkkA/Ndff71NThWxKGJE+GQlTIxPWsrj1TOsR0wuzOG89GRgYFCdnV3qtpBmr7u7Z7j22mdfp2nXor4+VdvaPb7yhUZU2m2CLKB9u9yP2OWCWrdPcwzAv4CIUEQsEcYw7CYQ3/RrDVwICcqEtpk7zAfoH38LurW2cACfge/Az7u6utI7GfAzDowHEBFphPEnz3r8t9pCmk4AK+oD4esDlrYFzQmWa7CWlMLtbXBse/zTYhN3cuWB8X1He1t6brG9WtW8uXP1wP33aatJW3ofdNBMvVRECM2PCcuBJvwtqCecDAUPTZoAf7VazabqWjqpjQaNZvFPa8gcDkOQo1nMuP8B7bvPPurs6Ei477G2jWWDBRSPW0Xk6uwaJmW5pt87Q9vvtIvaOrs16LGsKyTHs5tUqnFBCkDjrvGf+xS/xNMIX/5/s+0ttzG3ni54WH6cI0IRkRaLMO/ce8kRsSTZmug3ZULfFBoRqT78LVi7GIBng3d4FX74DmP8RLWuibF+orKHEr7aQnrZSpqdWTZsQ/Wntq6wcWXSoC2NLXRq4lWTvO914/EbJzNIU7CQvzmwEY0JFtFyI/49DpgYTfyhTTBhGAqY1i233GINuE2cymbycBJ25syZ2nTTCSId6TGBX3fdP7T9DjvKnE0Zj7BkoTlz5+iOqVM1euxGDs806D3rqi0htXrh4bSlxFLYPy25LJBpByA9JmZJkuRxlH9Okv6noNa/pyYGoKGISI3Hz9hHNO4JJAy3Xq+LfUqsOHyvHHdgYCDRIPOedM28EdBWaVJcWg5l/DugDtJENPJRJvyFcluw9haB4LyJXyxyjANj2wwjHuAed00CZTZhqOWuUEgPNTPpImIJcUY0/BHr2ZXrBxa3Q/bLfvmKCP9f+iuTl/8G/7jNzfAzp5s54wE9NOtBvfjFLxK5IkIRSwFkRwRZWrASGMiyBtkhhJkg4BHGRxG80ORFL3qRF0j1pMVcc801GmHNuVrJFf7r9v7RJRdfolkPPqhJEyepd+FC70l3K6+06ZRTTtMYC+hKtV0DFtDKcmVZJYnf0oWXS8Yq3TlkRT/XElJEqPmndJFHinBoC56yeMByA81BbzyjXLW1DHrkHj9hd911l0466ST993//t37+85+LxwNPPvlkffnLX9avfvUr3Xbbbd4Oq6bFJLQrX+Sn3Iih04ezLflRDhARS8JanrWDgYiliyoWRYxdRCSapsaIwEkQESk8YvXcVNgq/stWMd/TJBuM1yu2JWwco2jhQSktJAb14MwHtPdez9Im48eqXuu3Nua0y2hfTKoWrDxOIJ4mY8xtRmxOlHnz5lmoZmLPKCLS9sINN9ygLbfYUio8JjaN9y3qE28XQ7OuVKoeE6mjvVMPPjhbd9w5VRM220KFzdsDdddiAV3zEJeReYSZmOFAwE76OXKx2/TJKZf6U2Tr39MIAwhi5ixdgvaaQhsaxGpz/vnnJ6E8duxY8eTBS17yEr385S/XS1/6Uh144IFJu0Zos5iknO7u7kSnlUpFlEe5LWhhYE1i4GkkpFceLTBjixhnbPhg0FKhzHzcLF15lungF0xRnZdgRGnhHS2w8IxYPTzA0Oo2J8IwYZIcmIFBcoJ7zz33FOZstGz2ndmb3nTTTdKeNXvSCGhM4Tw/TZqNvA2xqK9f55m5HnDA89QzfIQW9dssmaNBh/jaVWS5lAS1LNRL/i0BGK3XXUvv5SsF2G39npYYwMTJlgv0l3uRGBH6xz/+ocsuu0y77LKL3va2t4nHofbZZx/xkhweA4TmDjnkEPHY1NFHH50EMwIdS0+XrTu8mxtaeloirNWp9YqBZ7SQNmc28gs7FtVmzP6f/J6zuu66v2nzzSeo3XuahYV0WzVvCWgjJmL1BHSElz/GNYLayPcCCJVXgtnxXu5NN91UME5OW/ImsilTpqgsCrV3tGvU2DFif3rKlINsbmxL6fhW77TFn7fcbbfdrAdLvGbRg6VavVSlSjoLbNdJfU8GFt8e/ydL0Yp7qmMAjZk+YMlBqLIXiQn7zjvvFNssCGW+wEZ8bgFOGhaQdS8qWVDymM7GG2+s5z73udp///3TmwmvvfbadBK5SdOU34IWBtYUBlpC2my9tPasJcDBsYWaNu1uXX/9dTr99FN1xhmn6Vdn/jLtRzGh1yQ8E8s688wzdfbZZyf43e9+p1NPPTVpMXvssYdgjjBGvngFY4wI8bz6iJ7huv9f/1JnR6fa29uF5lL1fiJpbr/9Du20085YxD2aIUWe/C4s3dc4OKbGlQRxw+v/zbvS6Xybfsv6U0Dr39MIAwhShC10hhBmIcg+NB9sQSPGP2zYMK/xQlhqSIdJm3wRkcIR7GjiPLePxs1jf6SrW5A/jVDV6soGgoGnoZBuMl5juAz/40eYNeb0Wjf8UsnHFeyNsm7xnBlg7GhcTp+3ad/9D9Rm2+6k9uHjNHzcZpr76AJNnDixBWsAB5MmTdKECRMSTHR5PA/NG5d22mknoenA7DA9kg5mWGlv14L+Pp13wQUaN26s+hYuVCXPxLOO/d6nnnbvfdpul1210MJ40ONaKyzYlZmhZoIh12oDHlQLX7Rpj3lpugCKMleDDuw6jxwuNWlGvpxYAN5lw33f+j0lMQA9sAjMvJWFhoz1hrd7QWvEsQCEBvEjmPFDj7h0GJe8ALQ5btw4sSVz2mmnmZZKRUSyDhFPPaQnXwtaGFhVDGSrmnHDzgdDbYJb6v1kWUAH7hKmmylKT6qycEjeENKqOHGWnq+dsMUkbTxxe43fYhsL6Qna41l7i88otmALbbHF6sFmm20m9vmAzTffPPlHjx6dvggEQ+R0LS6MMyKUVdrEG8geeuQRTdxyS1UruSpZQ0hfcNFF2tRhslm7bugvpDIqKixwi1Iy1+QnhxoY69JjjRAHMqnIHO9xd/qIcJpQ+P9jf4Q04bExrbunFgba2toU4bH3Fgrv4d9oo42E5ozAhuboDcK3KaTRrM877zzxIQwEL0IX4R0RNtRkaREIDWP5uemmm1IY6RDQuBGRhLdaVwsDq4iBbBXzPS2yFda26sotrO2zsM7Qqq2J5XlFC3oXqBp1PfrQTN3wt79om2221qhRo1qwBnCAQAZGjhyZTnKPtAtux4wZI0zYHOLh0A5mRkyS/dai77jjjvS+9MxjYy6rESNH6b7779fUu+/RVltto77+fvX3DaT8Kk2eQ4SUzP/8MzN1Pv/w22n9noYYQBgjQPnCGs/ks2Ds6+szSUUSsAhnhDWCGPf000/Xm9/8Zn33u981fZQJmuZuBDZlcX5i3333TU8dIOChYfJCuwhqta4WBlYDA894IV2z1oVwzsqagCIyRZanA0dl33z9+fKLtN0Wm6hnWLfyPG/BGsABDHBZXHIPYL5GQGMK5xAYbx9Dy7n9jtt10EEH2dQ9zvI3NHL0WIWF9R+vutoCejvl1XYr0p2KzBp0Up9XPCNWHNoUybgwYaeyhcX/W7+nIQYQoNAa1pqxY8equTCkqxGRHrHq6upKwviee+5JnzJ8/vOfLwQzAjmzBSfPvbB3WlzKI44DZwh4nkzgPiKS2RthTR7Kb0ELA6uCgWxVMj198jQYs8z6+QHwZyYbE5JvkOZZpsl77JEOLzHZWpBpTeMAZgfAPO+++27xyUo0HcIQ3Hz/ddttt02PvVA39Afz4xGtLbbcIjFQNBhMmbV63cNoYTvE/07m4kwH/tnj3xKP/a3f0w0DEZGEJ9oz1htoLiLS4pt5z+ntfltlEL7f+MY3tN122yUtm2f44QnEoUFDfwhj/PIFnTbzkiYi1IxzdOvXwsAqY+AZLaRLZaorT+ZuT10Bpf+HBXOl2qYH7/+XXvvKw7TxmOEJwUzMFtQTk1sdPMAMm/lhZDA/EMw7u9Fu+AAHDBAt+uqrrzYDjbQwIF1bR4eA62+8WaPHbazhI8d4jzm35pNrYLDudOwvS0n4lv/eJUlKS9J008jq2w3k12rGmsQAtMfhMOgPOmPRh1CFDiNCbd6zpj6ex+crVRxoxEW7Jm0zL34EPOXh7wxbgAAAEABJREFUxyUNLrRL+RFh2s1bwlqta3UwkK1O5uXzwkQBCB53g4GiUESkyYKOVdgkymSifcv3gXvCGyvtkZo8eXI6HFIsLgPtDiANLhM0IlL5ES034t/jALyBPxge+APnMMrLL79cPIbFfbVaTXjn7U57Tt5DmL7JM6xnuO69f7au+NOfte32O6tWZJaxlSSos7zd47ByJE2ZCtcIuKR071tcaAXXt8R4ISCDQ21uIbwFT01cQHPM5yYd4kfgMs4IV/y/+c1vNHLkSEF/06ZNS+/w56AZQpx48kKzaNDkh16hh4hIFh/KobxmWEQoIghKQHjytP5tMBiALmgMY8OY4o+INTLnKWtVYeU42qrW8lTIhxYFmB2jwd18yy3aZJNNhFY9fMSI9G1iDohwmImJyQTG7enpSZ+wJK4Fw4eEC/DWxB8mQvCNFs2hHvCJ6RqtBA1mhx120AgzSyYOYRaT+uMf/yi0FfIymYgDiqKeFmIrTW6MO7DSGVsZnggDG2o4jBj6QtjOmjUrMWD80BM0hACOiHRAlGeoeY4fGuNZ6AceeEAI5iaQD5qlTJ7bp1z8CHD6Tz6UAVyENuUTv+w9YS3YMBZ7jCtjExFpQcWYMaaM5fqEZ7SQDutf6bCYko87y4BSc+Y8ogdnzNBfr79J3/3+j/Xd//uxfvB//6evfe1r+ulPf6pf/OIX4oX7AC/gJ6wFP024+anx8++giTNcni/90Y9+lF7L+MIXvjDNBZgfzJL3dnNqlte0IqBZIN0x9R7ddudd2nOvfRWVdi3qr3nc8gT1IrzEQrP2pLdvKP894E6ZqjXD9p215ORpBLX+P80wABOmSywMEdIIZ8IQnk2mjOB961vfqp/85Cf68Y9/LB4VfNnLXqZXv/rVZE0mcQQxeWDi5AfmzJnj7RbTn2mIe+LJQNqISAtIhDZCGfrGbYFnqfG1IeCBMYkIT//Gip1xI4wxXJ/wzBbSZaG8qKV96XrkAjLV1ZbnOuylh2qPfQ/Qs597kHZ99v7afIst04Gm5z3veeJF+7wWED8wZcoUTWnBkHEA/sAXr1U8+OCDxelZXijBK0FhlO3t7emU7ezZs9MLT+RxQnAjqG+55VbttPOu2mLLiRoYLJJwziptFrSQcm4mmVvSekqVKwHOTfJGRudr/Z62GIC+YL7QGp1EUKNBIawlKSIEY0bAYu3BmvY///M/OvbYYwVdkp/0CBW2YEhH+ptvvnnJq0FJI1+EUxeCOWJpudByU4iTvwWZ5+36B8aUsWDMIiItqppj6eFcb79svdW8oVYMt/YAsZpmnynPK2ni8mjFpEmT0luumHxodUxaTLeka0E1PaM8FDyAM3CINsMkwA++8YNXSIP9aV4ckzQVr7QR0IRzyhYGC+PzGlx5lsnGqcaEKgrL84JkQwaG2zLa8jn5Ur6lvnTb+vc0wgC0Bk2NXfz41SOPPJLolnBoF8ELbTWZNX4eB1z2bXgwcYQsLqjB/6c//Uk8c01YRCShQziMP8IUauAeGsclHXEt8Cz2/N4Q8MCYMz4s2Bh3+WKc7KzXX7Zea1/PlYc1tKa5u25WX1eW/rO3SdOKrKpFtVJ33zsj7UnzAg6ECMBqGBdBjduC7qRJDAUPCGkEdNPFP2LEiPTMKvl5DIvHrrbffvu0B9hhzZr9Z/aiq23t6hk+0mbuAZVlqMYhwHqhyHJFZCrKlRWxZhIMtoGsgAv2Xev3dMVARCi3tezQQw/VvffemzRkhASMGUFNXESkA2D42W9mkY5wJZ60EY0yuJ82bVoygfOYIFq2fJGP8iJCMH8WBtyzGMAsjgbPAmFNQKuMR7QmcMBjn4wf4wV/j4j0JIvW85Wt5/rXePVhA2gZZrwGb1G6/FJ0Mi9k03YoykwRmWoegL4sV2+lXZmZfdXMvqNec/pCNXlwnEZFRXNmzdadt9xiU/dOiggxgLkn+LJAWAuyhJuh4CGvhORxshKsaparw+bqtsiV1UvVBwZ01R//oCkHPledHVVVq6GuYSP0jxtu1e/Ou0QTJm6nOQsHVOSdquVtKvOqCo9LqdLjU5cHWB7qlYMonb50CQY3LbKwnC7lAINd00a40LCrZ/gVEWqOsZa5Ioy4Ze43ZC/CEuBrVlhoOMmN9oTAhTkjhNGocs9z/BGL6cGd4r4JpEXz/vvf/64XvOAFS8zkLDrBUUQjX71WU1ulqtKLyRn3P6CTvvtdXXLRxTr/3PNWCBecd4FWBp6onLUdfsF557md5yc473fn6tzf/s7+C9yn85cA/bjw/AuX3J9/7tI4/Becd77zDA0a/SHtBaLMC4yn8899bH3nP6b881zv4+Hiiy7S+W475V14Pvkbac4++ywdc8wxuvXWW8XYszhDOfCwr9dftl5r3wAqN39ODNns2YwanhyqenLmWabBvl7deP112nyzTTRq1JgNoLVPnyYwCWCEWC1qXhyB/86uLl133XXphPjEiZMUHoPIctVtxj7nnN9oiy22VEdnpzo7uzRoxpe03oYkNWJKQ/OHf6jgPE7qXypJ/OfGwa3f4zGANtkYN69alokmfJnbDdZLOyMiMeG5c+fqOc95jhDQZ599dtLGEMCkwZUvXLTgiBDhCPeISPnZh+a1oWPGjBH71xEhBHdu/qFlrjyvmKpKW4B6xGHI97/v/XrrUW/V297+thXCUW87SisDT1TO2g4/6m1vdzvfluDtb3+7gLe97W1L+2T/UUcdJQ7hpXDfL3WdzvdHrQS8zXXQp6OMn7e6XMo+Cjy6jOXLTfdPgN+3vPktettRb0/topw3vvFNeue73qVn77WXOCR4/fXXi3exY91Ds15mKNeLN1svtW4glbL2D08ftC/4MiBlYuWLoH549gwtWPCoXnroIarV69bUYoXAqrkF2RIN69/horRGmpidhXB7hy0ZZm4wtvnz5+m2226zVnJwMjVCJuO8d3jnnXdpzLhx2tcMFSaISTvLc6K9wNISWOpJUSv3rzH4Lmzlsj0dUiOIhgqMbUSkbkfEkjGP8Ezyqmmo5ZBO6+HC3MyWCoIXJhwR4oUlaMJ8MvWaa65Jz+S3e4uFtADaFP1G64b+MH2fccYZQoPmAGnzlaARkUzn0DJdo48RYZ4hVSyo77/vPkHjG200TrXBWoPWoLunLLjhHvM079xhdzUtZLyL2Oibw8ABixt7V/xr5h+CC9+g7AZ4WU+eFZfaCLWFVCuALPJk9Whr6xD+YT3D1LugV7ffdru++MUvpkUb3wrgXRkR0ShrPf7P1mPd671qtOjMCkFhHbrum5rNnIWqNouXCR56YKpeeNB+GtaF4M4SAUJwLTDGrN2uKh5geGEBnWe50MrqRc1mbW8tzHnETK5DebWq9o4uKSrKK+269/4Z2nHnXZTZLD5YK9Q/UFPhyVeqOYFKNblC8vkf83dIICdeBpp3LrD1exIMMPZp7Lx4xX2SpBtUVO7F3fz58xOThgkjRDBrbrHFFuIRQD6RetJJJ+lvf/ub2DtG2+awImZtvoTFc9M/+MEP0lkJHg/kK1r0H+GNEEeoRzToMqLhFkWpalubrr76Wo0ePVaZBTbpmQcrgohMsRKQRUXrGsJ1Lgup/qxNwZ/7HW5/BmS5cvc3+blfDmK5cp78PleEazA08OayXX62XJlL73Pj5fEw4AVSf/+geY95Sf9Aos9bb71djB/KAws2xj4iVJjPpQSL/60PJ1sflW4wdS7myKWFNN66G1aa+aNFFzandne2a88991DVe6h5XlWDMLLHuRENwolouRH/Hgd1783lWSVNOCZFm7UWvjp25ZVXavsdtpcj1Nu7UF3d3Xpw1izdPW26xozdSIMWCLU0aUIVC/LSwpVxA8RV2gc4XEOFxVnsLFYI7EtlUOAzAxBUQwXGi7TMBRgY900gfGVgfWAX82VuQU3dtB8XwYrA5uDXe9/7XvFoIC8y+fWvf60LL7xQfKoSwI8Gvt9+++nFL35xOihJ38EFQrfddEx5TRzgB9jrRku7886p2mOPZ2mhaXvAC81ara4VAZa8lYGaF67rGuqpzkb76/TDc5p5zdwFr1gKEIY189HCcTXm7gqAvEMFyim84KlTnsutUS+wgnJrTxIW0eBRaObVSlVzHn5UN95wo7bZZlsxlltttXXiP7NmzfbwhWH9/p7ZQtq4twLt/7B0WD5ulg54/PEPf9AWm23sgLrmPTpHCzyxmOArAiZ4C/o0VBzUPcnQXubNm2/TUr94/Oqiiy7SgoW92nprJkivekaMSFr1Kb84TePGb6w+r3jNF5R7UnkmaVFfv8XwGpxAls2JEJ6B/5pCZaguQg0TMEIpt8ADIsKLHM8hL3CGWs76QHVELNGO0IBhyv39/Wl7pWbGjyl8ypQpetWrXqXDDz88adfco2W/8pWvFO9FQJjTdszeaNe8JQ9o9pu4ZaHftPu3v12nXXfZVRxWizCPsbAprRCsGMx2TI/lUMGVOanng/OtK78rXLZ9jcrDCk1VWZYnWii8oE7ghP45zO1bLt/KhGdZptz0lnkMUz6Xz3mV5F+JcuswEuN+UV+fKpVct956W1IGdtppFz388By1tVXV0dGp2xzet6jPGF2/v9UX0uu3/Y+r3WNlYmgwi0YkIQ1f8z+TqUiTpDBtOW36bwJyAga8sHvvfffrqr9crR/95Kc674ILdcaZZ+mss85Kbxr71a9+JfakeFvWmWeeqRasHA44bMNBHfB2zjm/SW9w+9OVf9JWW2+lgcEB8WhW4Um00BNk2vT7NGajTVSx+XugVqrm8LqHNGxCY6wYy6VQLBn7pWEeXyd8onsPtZl2XZ73zlskIogIgs1sMk/iisNL5ZVMWZ7rqX4tiwf6EhGC+aEJRoTQ+hDC8tV0a4uFF3kRzCywrrrqKrEoiwjjLpJWSRloms6ayizMRPFHNNJQHnURnhuXAwMDDdzaT9mERQRZ1hpERGpbsz75ol3NunER2uCB1/zSXuJpM+1FsDuLOMHd29ub+ACPBtL3RLfuM3lJD95SftPqjBkztfvue9hMPmh8IcS8WPBiNWmHy7lOoEFriNW2di8ear7N1Nndoc6uDkUW5laRNHApFJGJMtjzRiNFO8RfG6wbt5ITexHcZ7NvpoEB160Q6Wo2+ZIP/4AXEaSrW3iRn0UFZRSeaNznWcV76HXlWS7SEpbG3sWHECEu033g057nnnueWHwXRWlaapM8Xz39nL8myuzsak9CED+PVnZ2tbmPDY284gU4C3ijUHI7aUdu3NWMC8LmzV+gn//8ZM19dK4wadMf2kTaVIfT4QKF21O4/SsCIzHhr63arr7+mh54YIa2324Hsdfd0d6l+fMWaZwtd3fddbfrmifKiwi7pSLC/KLQurzA8Lqsb4OqC+QzWW3tFhAE2FOz++JDXqJdJz9bW07aVqPGjNfEiVumQWIVveuuu2ry5Ml69rOfraaf+xZMTniZbNw8Gey22+5mWJO9lbCndthhByLF6FMAABAASURBVD3rWXvobW87yqbuHVT35MbMPaynW7d4n2jPZ++lEaNGa8ATMDxhPfdMQ6EsN6OTVBrSP49Z4y6FEDpkSFlJ7az+peK4rVk4AYVnL0yntFs68VMV6BNCA4iIRM8Indy4xJoREYkJRQRJRbqm8CG+o8NCYnEcJ5sR2Agk4Lvf/W5iXmiUEaFKpZIWW8RFNMorzGmb4eCVsiNCtCFiqbsh4RdBDYywZQcYOXKkRhrAxW677ZY+ZfnVr35V73vf+yxAfi7eN0/7wQ14pc9Tp051nlHqGT7cfS0slGpJSBgdxpkeB/19Awr/cZgJIfXInEf08sMO1/Of/0Jd/ZdrNGhh22YBjhDrsxWAOhYs6NXA4KAGLXznzZvnsQsNeBFEGHutvbZSVZYbZ8YAqFpzHHCZrlIDXiQjPCmjKOoacBm9vQskz4o+a57MDxZitGvAeWo16hwUff3Rj3+so446SrNnP+j0IdpP2xDs/QP9+ulPf6ojXnukjjjiDXrFKw7XwS98kT5yzMfV1p4rIiww+9Xv+upFTQsXLbKQr4oFoQszvmqaOeN+ffxjH9N9VqDod1tbW2of7SEdOKMu6Klmc3dhXrJCMBMhnPYvNN5YXOyzz76uJtKc8BTXpElbJeE91VsU4JQxjQiPXz211YnX2e+ZKqQbCA7JC73k9/CoKaTzSpu6RwzXxhO21PhNN9PY8Zuqx/djx45NQmXLLbfU5ptvrk022UQcHMFtwSYJH0PBw8SJE9OLSzbddFNN2mqSNp2wiUaNGuWJOKgsz1Q1A6q2temvNhHubBNhzSviAWsGmVfaaQ0bWdI0JAZQj7uYZEMFCbbT+N/wuThnzrIsMQnMn+1uT2YNBsaLkHmqAoyUtiM4AZgcwobDUuC/bsb2f//3f+IRFLTCa6+9Nr2/GpMu2xFYj374wx8mhrzLLrsIHLFXCxD/s5/9LD1CB54QTLxK89RTT1VEeOuiPTFUyvjc5z6XmC9tAWgLZQHUS9iGArQNPNEncNUEcEkYj3CxMOHRKt5B/5nPfEYsWObOnZu0bejn9tvv0CYbbyLoqLRkLiwkZNJNiz8v/JZ3qRPhCSDcZs54UDf+85+6+uqrdYP3TsERApMyEMB5Hl4QdWj06B51D+tKjzD2WstHKI8Y0WVNu64ua+Hdw9rV48VvaZofsDCkHsY8z3Kbd9s0rLtd7e1VC/pBl9ep8F5gbnNwV1eX7zvU1d3lNN1p3DPPB8aru7vT9XWpo7NibXnQtFFxffJiuy5wNeCFw/DhPbrowov17ve+R5VqRYw/30H4yDEfSfv9P/3Jz1OZIZkvDFdp4Tpm9HDX195or+djtZq7PWEhWdiVRo7sUdewDvOBmsBrnueqLG4rC0r2mhHEKwLKl8J15rrjjjuNt7Ha2ONT97gsWtgnLsZ0m2220d333GO+VHO9DeEcEe5jrnV5Zeuysg2tLoi1MCFGmYlT3rmJIzSoXmtQdWtt8wba9GhvqWrXGN1y281eXU1KwoRJwiBi8kJwj/TKugUjNXKIeBgxfKQ2GjdOw3t61NXV6UkyWptsukla8HSaIVTb2iwoblZkFSkq6rcZLjwenp6qWWB7diXto1TzwmfwT0D6h+ffg+d/oxCSJl/DU61WkyBBM1q4aKEW2fTOah3m+FQFmBcAA6cvMGoEwcUXXyy0iQcffFBf/vKXhbAtLEz+/Oc/64orrtDMmTP1hS98Qbz0Y8aMGUlbRFhjFp49e7Y1p9lasGCByM/Xou677z59+tOfFkIMsziPtSC0CKMu6kRYk4cyaBM4xc+bo/BvKNBs27LtIYy2g8cOWxfoJ/SSZVl6hJC+ffvb305CddasWWlxsskmm5q6QqW1AjSzwYGaLJ9XCNQVkVkwdqqrs0t/v+46vfjFh+iTn/hkKp94FjGQ+T1332PN8j5Nm3a3F1Q/19ln/UqlC+7s7PBcGdSll16u2++4TZjbv/+9HwjTfIQsaKy59i3S8OHDdI/z/sr5fvyTn+mh2Q95fOfYLL9I9957n+ZYiwd+eeYv9fvfX+Y929kWwLUUX6sN6C/eEvyey/3rtX/3ojZXb+9CZVmIttHPUEPEnH/++XrJoS/V54//vLbfblttbQHI4bs3HPl6ff/7J2lB76Omowd14YWXaP78R93u3+tHP/qJF+p/c7kVMQeLskw0JfPrP/7hzzrvdxeqUqk6/XzlWW4cTNett91mvjLc83WREMYrBE9xwsHxffc/oIkTJwnrBO2lPFxXpV2sIMyfN19o6nUvYEsH5nmudX01MLiua91A6vNYmZb83z97kiZd2tydVysKD0Zdubp7RmjW7Dlpom233XZpdciErNich9ucoPjXOlhwPB3qgJlVq21qM9Af7hEYUqijvUO9Cxfqggsv1JbWuGs2c1eqVUWWmenUxUSVryzP5TnjYSsbLmPoOyVwgpX4MflSPhfoXyrh5JNP1n/913/p4x//uD71qU/p2E9+Uh/9yEf1SbtPZfjEJz6R+vQxmw3pG/dz5swRjxzxOlYWnrxQ5h//+Id43AhtAgZV88IVPJAP4YTgZtw4TAWwDXT00UfrsMMO029/+9vETF/3utfpoIMO0qnWpn//+9+LE9Pkefe7362jjjpKCLDjjz9eH/3oRxOOKfu4447boHBMm5aF//iP/xCAxvzhD39Y3/jGNyzUHrUgqQoGjmkcnkB/oZMPfOADuuuuu4SFaSCZh2sWYpkiMmtnxQoBWh+02XnA2m5bW1XXXnON3vTGN+q44z6lu+6+W4/anM2YVKw5nn32r/WOd7xDJ554oq655mp95Stf0Yc+9AHNmj1Lhc3V3/rWN/WWt7zZeY/T1S7nXe8+Wt90m8mfWZge9+nj9JrXvFo3XH+9Tel/0Sc++Qlrrz3qsfA+5Rcn6+h3vcvj8Qkv0M7Ru975TvExnBkP3G8+2J76/mrnveIPl+uLX/qSzjv/PAv94a63tCAvkmCV5fWA+zJz5oM6xvjaeutJxtf89OIYFjsveMHzdfMttwhrDYu7T7r+d7lOFoqXe1Fw5JFv0PkXnO/FSmea0X19/S6/0M9+/jO95rWv1T9vvNFt6Uj8AVo65eRTklDNsjy1oe7F5vLAArRmoTvgrQJon7GBr7A/39bebl4/qMzjg7W0zQoDdEoe+EREiLmgxCVSk9b6v2yt17CBV5B4uynJtGQhTWNLhQXAgt5e5W1dHujQ7XfepT28b4pAYbUfEZ5cdRKnAWMAW1CkyTMUPCRB6H+5FzpZZmbliZTlmRldRZVqRZhfOzo6hTk8z3OlCWUG5yxicVSzWUoeM63Bq3RZgB3/SvHc7Pbbb+/V9C5i33zHnXbSns/eU3xo4akKvHSDMxQAfaB/LDz5EtkFF1yQNDJei8gWzrnnnquI0Ate8IJE6zAsBDaCA2aFCTTz2MHEmsDYMP7sV8P80Lz/aTPta17zGmsrE/UlM3LKQBAT12EtFOE+efJk0Zbdd99d3NO2DQXYd24CeGsCeNtrr7202WabJY23yRewUNCvQZt5xyx+E1lPz3Bbi8aY8UcSIFJ4rtS9uCxXCJjDc1uOEC5/8R40j27tuOOOisjFy32+9tWvqebFqw1/yvLM+7j9+sxnP6P/9//+n/7nf7+l//vhD3Taqb8QPK1uYYSQOeaYD+ukk76rz9jCceKXT9SMmTMM9+vnP/uZ3vCGNzjviTbTf8fl1vSTn/4kCarS83La9Gl6/wfer1NO+bk+d/znvEi4S7dYqHb3dInDnr8559fp4Of//u+33bZxQiDXvKDLTDvIMWji7rumpfDu7mF262LeE87+c2YaqtcHhZmZuY+FYscdd9D3vv89/dwLZV4Wc4rdwguOmvs8ctRI1Zz+k14sb7P1Nml7Rb6gyzvuuEOvfvWrjNvSAH5l/D4eEMhh7Ax4jBDMY0aPsYm+UJblYi8ePs+eN2cQ4AMPPjjLcZkiwuUWqnkfXgqtqytbkxWV5qJNYLI2/evSZVRKU0eC1J7GIDX6WaabRnsK5XWpvRZOHapFRf15u2rqlPr7NNLmos7B2Xrw7hu0YOZU7bHzrmIi5nmeBipi3Q1So+1P2f+Pa3jhvYW6MT1YH1Ddq+y2LBRpEtZ0/4yZuvn2O7Xbvvurr9KpeVFVX9auwbxNA1nVuSiu7jGr2VOz68VBlKqHNBiZaoa6J9BQoea0JQyxdHHOK9+HTZJTpkxJGsp73vMevfcD79X7Pvg+HfXOt6UDQhwSeqoCWizPAn/wgx/U+9//ftE/Hiv6+9//nvYHjzzySDO6Vyez6KGHHqoDDzwwLYwKM2yYF5o2Wzw1M2KEUROYGwgm5hYClo/RIPDRQqlvq6228n7jGBFGud/73vfEXHqntTM0cDROXLTTDQm34KcJ9KMJtBMNFnx1drabDusWwP3GVZb6dfS73q1vfP2beuc736Ott9pWfQv7VRuoK1MluWU9VNTKFYNLq3k+QJKXXHapUBoenP2gbr/zdo0eO06/Ovss3XTLzeLAF9swzztwiiZOmigUi3HjxmvkyFG6+dZb1T9Y0/wFvdpxp521s023vQsXabvtd9Co0aN1uwXa1Lvu0TzH//Vvf9cHPnSMPmIrwfR/3WsT89+1wNasBYsW6dl77eO8u9mMPaCt3I+xLl8WrJdffqXr79SEzSe6joXWvkdq9z329B5x3bZIz0UvpMsIC+WarZHD7A5qkfmqHMaie9D0g8tCo1CuzGbrQW9r1YyT/Q84wFr4gC1q/anuufMWqFZ4gvtHfxS5xhoP737ve/Xnq69Rp/fFL7OlZsLmW2jnXXdVny0QNRdcWJiuCEovXErjd4EtElmEzeNun7XqYrBPndV21foGvP2ZK2xWHzdmvEjHC3Dq9KmU8qxDng4WNeWQQatxZauR9ymf1SgWsLQjHgGTWBYOLQa9uptvE9BVOmjKAWqv5qbNrAXZ6uOg8CRhJZ2FPGfD1opCeV5VbkH8l79cq6232U4jR41RzZMC0Fq/ykYNXtThKU0VrMwRPABmMVxW/sn1hH46uQhUNNxRo0Zp5MiR6Vngnp4esVABH5nHfMKECYkhMW7ghvvCnKoppNG+MW9zaOrNb36zxo8fLxYCmGE5jIY29/3vf19vf/vbxWdIWSB0dnaKsvr6+oTpE+D+qYBbNL6IEFsEaKUmZYHDj3l7BBwc9ba3aqPxG4sDdOPtsqipm+5ZxIA38Ip/RVCrFca1NG3adJ1+2hnihPGb3/w2HXHEG9Li6f4HHtCZZ/7KC4LcQrFmgVF47tg/WHexWYLCQqq/38Imy4WlA7zSZgRNn4VQWYYQ8KNGjdZznrOfDj30Jd73PlQnnHCiWFi1VduURa6FFuzzLSRLyUJzYWpX6bJr1mpZtC2wkK/XmTGReGPu+grf09cIC2kLTPo/bFhPOi1duiDa5dTq7OjyfnKvxo4ZqzFeOMyb571lL5j7+2peFPSm8kifRZb6WLMAp1wOQOtyAAAQAElEQVT6VqlW02KSMwx33z1dV155VVpQDvQPprS0kbwrgrr5SrjMGQ/MsLAf48XVoPsFzksVi+Oop+4+ok1zLiVfrJwxXvIVwYjbsw5+jOg6qGbDraJ000oz5QRpROUBKwVjmmUzxyabbCLMXQxsGjhPtJZbTybQVcUD9F0b9MQw7qs2bzPp6vWa76Tp06eJF5rAuJkQTI4Usdb+QQGNMacK6AA33MiISHTAhI6w3xARinh6QdUM74QTTtCxxx6bmCMC9r//+7+FGZpxwLTLPixjgQDt7u5O+9oI1YXWuAA0YvZpD7X2jSn885//vN7ofdRDDjlEaO8TJ04UZm+0ZQCBjpCOMF6zxsIv4qmDV/ad6f+VV16ZLGyvfOUrdeynjtXLvCc/adIkhw2os7NNvQsWqGoah+HDQ6DpwosbsxwlQfL/2TsPALuK6v9/z31b0gu9E4oURUCkCdI7IqCioFLVPyo27F2xd8XeFUVFBQULoKDSQSk/QKS30AklPZst7937/37m7d0sYdFsslk22fuyJ9PbmTlz5pwp1wxvcZOFEGczbrjhBiE9cxbgq1/9itj//sQnPmmGtqouv+xyM7iFmmAVMnv98+Z1aPXVV7e6dpZmz56tzS0xT5gwXnVLk7yHv2AB4Wvo8d696nXXXUf0CQuMMWPadeCB+2vfffcxw97ZWw6bJUaHZoS6tLW1OZ+6aPP4ceMdFmJMzLUkOnHCBI31tkVnZ4e3Sx6SQulXtxSf2uU5teE5E2Z32k9PS/vzEyeO17jx49Je8oUXXqjtXrCdpnixMHnyFNU9D4RX722tbS4n90LBDLrIxaKgZn/GFgXAOCe47FWcjrF6zdXXaKeddlanpXXK7eruUuF0A0FuKZo8Hn/icU2x1oGDYvSJq5oEBsJw1y3tT/BYn++tT/yaeRWKCPEPv+GAbDgKGallFK5YYWppQm5XbuTXldc7VbNKduaTM3T4YYdo3NhWMyWvSi1hI2VXUJh4lh6aAzzEgwZeuKpmVVebV9VXX3d9uu4WtTZFS5uUtaiLU7CmnmK5AQzaXe8/xoOHgz2UJggIdTRA3ZPRupaU2X/DDq5RTzO5dlsSmjJlinAzaRtNYuLmvAC4gWkDLGY5JMaeMunHeOJGEuegEWFZlukFL3hBknZ23HHHJL2QnvLIE4gI05nVpWZihI1koI0PPfSQYD6cfH+91fbTNpwm9uLnmzHXLHk98vCMJH2yJw3uwCeSmodyYgYNt3Mg4JWrOZYqeehnzz320qGHHqbnb7W1ttvuhdp1l130tre+XXPmzNW9994tRaabb75NH/nIR3X22efoG9/4Top/wAEHqnNhl9ZYYy3NnTNfn/70Z3TGGb/Wd779PR122Mvdn5tq9dXW1N577aMf/vAn3q/+gfeWz/C+9Pcsud/tebDmObBFNUu23V5QS5kXHj2Gbsmhq66ymtZfbwO9yyryn/385zr1a9/QTf++yYuGiWaOEvVqMr9C8+ct0KteeaQemfGo3va2t+tXv/yNTjvtZzr5ne/U1Waun/r0p9VqeoexyxK+eatqlGvad0YuLXOehXGmJP0TJ4ua/eTFwuY6/fRfWOW+wPVZL8X1ukct1sw1PLk8MzTEXjMSPGOceHnSAOSm/cLjsLCWp0fjx0/QQi9Em3GsqUiThATP0DD9smEqZ0QWA77zVDNsAK5cE8aN9Qp4rjbYcH2tu966HkCZWtva1NY+toIhwEHN+z7tY8cra2lXUWtVy5gJuu+hx3Tplf/SJls8T61jxmuuJYMiWlSYGLXcf/S9C2H2xFAhmAoQEbYDmc2VE1paWjwpNRLjxA4DgkFixywnKPAh/9pMC5zwbm9vF9IwgMRdxoMhkQcmDLwMgyHjjx8Mi/xgZpjOVtgjYoXAM21jYfPWt741LTzgGEhobW3tajN+IkIPPPigsshUy2rGby6ZheTmIGETybqwfSAgrBY17WUG/bGPfFwy4+pYsFAd8xeqYZXvcccer3e8/WS11trs16GXH/5y7bn7Xjrjl7/WOmutq7N++1tttOHGTpfpsUcf1wu23U6HHPxS/eLnvxJpv/Ot72rBvIWe19p19u/O0Q+//0NdfukV+uv5F2rVqatpvXXXT2n32H1PHfWqV0t5qNsq8vXXXU8nvfktWnutdTR71hx95MMf1fO23EoX/vVv2nKL5+qnPzlNb37TSULaDtcZZls0JK437el984v/frHedOKb9bcL/66L/3GJNn/OFjr9Z79IdZ0/b4GmTJ6q97z7Pdpg/Q2dpp7KZHECg+/pqmvKpKl621veLuKxAHnisSe9yNhbDav5X/qSl2qs542Q8W3cofaGnJ8J6lZld1iVPxbNgJk5/eDuEIwaIB1xWlpa6VoxhnMvqrxRLXethvM3qpn0MyEalclVV10liIk49973gGbPma0nnniigiHAAftITzqfxx9/PEke4BW1IUSRVGdWWY2xJIaqrpzA6YflAyWDbube6/JqOk8AU8lNvbkJdGWFLu+xg2/aChZgQKUJI46IJD3jT3/AoFE1onKsWwoHWszoCSMP7OAKd5kGxoU/kx3+5F8C6QHSwrxJO9KBNlDX1lZP4h4f4AnJsVbLhBo8y8Jmh8dQw5N88RSg3bQPcyBoMWMg/BWvOMJq682t6q2rZsmcRRD4JOzII4/UWmutnfoFhnLwwQfr1FNP1Vve8lY9asZMn3Z396TswSuPrpx22k+FduNxq7wjItUN1fgmm2wiXk3j+tZB3q7Ab/78eVYf76Rtt90mxSO/1VdfQ8ccc7Q22GD91B7OMhx//PHp1P7+++8n1OecFEf6pJ6pcP+HlApu5Bl1t912S2V9/etf1ytfeYRY4KF5aGmpCVX2q1/9GqGloc6Mia22ep4l/0Mt1XaLMXTyySeneDXjmficCahZ6qbsLMsSrjjkRb+4khoQJLcpd1ChWpbJvWMf/4FIG+DXhuM0Z4OIEH1NnSJCAnrjahh+2TCUMQKKcDeAVOPcC7zUObkJC6RLYbfknvJ//nMcz8eaMnUV3X3vdJ3+q9/o/Av/oXP+/Bf94fy/VTAUODjvQp197gU659wL9Yfz/qHf//kCze7o0Q677qHuoqaevKZOr47zIksqLvfKcvtjDLjLU/7J7uV/hAkx+fT+h7PXLyIUsXIBE1qPVZpMcuAAhoNZM2MAA/gzSREPfyZLJtDx3q8jHIgIDBE3WXr/I02LGXhuoiINboLKeORHOcQp/SNixOOYulJvGHLZNtrEqWXagjTWubDTE31OVLfHY9kSW+55p24prvCgg3kNBDnxDMaCJcoelWYtq6lRz9ViptRpVXZhCZeXtWpZi6XOutrbxiZJsNtSp/JMhYtedZXVNc6aqnp3bobUKvzZkg1LnA1L5UDnwm5l0eJw5+O0LVmryymcl5J/j/1CkeqSWyUcpktMpGv8J1glzMl1pFc0B0il+APYVUioshfMX6Durm61WHtGmDwZ91ilnUXN4bnGWEuHxgB3w+2k/oXbSHvwk9vT4b110jVc91aryK+95v907DHHJYma/AvXr621TT1dPXoabo1T/KhTh6XoLDLV7dftuPRLw2nrlOt64WZsstBpbx8j9t/rXpBGuOZhNNKBGp7fKGHSz4TMUOHBpxLcObhRx2673Q7a4UW7afOtt9cLdtpN271oL221w4srGAocvHAXbb/r3nqh4fnb76rn77CrdtptX42fsobnkHZ1N0wFJtxgUjIRFe6l5QXiVyiVgNWWZFT/VRhYGgzkXowAWS0TtwEaafx6fDHGPLHnZtJM/v8VzIyKASDMHPHPzaBQJ8NcXrzr7jr0pYebicwzY6qbsRZJDZ6ZfmrRoted8Aa95S1vsyRat6Y2S4xbZnxyXuQnz3nkB7OE0WIvHI6aGntO/V33Ml6dxbOZGf4Nmw0ztQS241cMUG/8QjUjIVL5xO/pbpjpU9/cdX4qwETlMjFz54uJG9zVvICo99TN0MckVf+rj3q13mrtwfhxE5x/lvbMaXeE20oezwCo4N0dYuGjCGEvjIsEZRt607KwbDQayrLMjL+R6hvhOUrD8xvlTNq9QO8nXC+y190hDa9264ZarSakjI6OjtRBdFYFjWXCRUSIL1x1di6UGOtG/bz585PUAW6ZwOQfRAH+Uxc5zvIwC/JNGbvA6q/CwLJiwOOJccsY5sBRbg4VEWYCZkSJQTdNGM4zAUxpICjzwiw8ZhuW7NZddx1ttNFG6rBkyAEv1MqUjR1z22220Xbbbae647LVAH1xWC23OO2qmrH5z0TQMDMmLLcdf/LPveDAv0j1lrVavXRPWuK5bbnDgML2Aj+7U/zFzD60krnr7lKbf6R5GjjIfuSbuyxM8k71c52yrKaG5+YOz8kbrL+BJk+aLFTmhetAfRtOQ3m53c8EPfUe90mhiBD/cucLFJiks4m9cDtaLZmDu8J1Il8n4C9Zh+E/jXImHR4NgI1yFeUVZt2qooZXfj1FqzrzVi1s2FS75tusoHWZ8TC3J7TQuF3QaNGcrkLz66FGbawWdOfqsbpbVocV7o8eE6KWOzkwHUnMGxAhLkz7VH8VBgaJgUJZLVNmiYsJHyYSHr9AYh5e/Oee9HMzgAQNM+wBoBk31+ImkjPMqccq4rolWtxImqi+W00zY6yWNX9xOjMf00/DUmjdNMRrXviTBrrioFW9x/lbCsbf1RHMqGmaFHIg7KckNVJG7noSF8idL2YTCscDZFMuOx8QkFxTvV2fhstNUrpx0cyjmXaRvVAKd5mUlWOiPTC76ra6HBx02Wzx3n3d+QFye3PXq8VbAdi7UWGTbgBo2I800DmMn0VLnb5xeuwNm7nr1nA8wlu8XdPV1ZWEiIhQZtAw/kY3ky6MaXcuA5eOlQmqkFESrba2qKi1qdMMpK4WNbJ2dVt9VEHLMuMhr41RVyNTV54l9bZq7ap7USTjOzf+i6APIhFFYcottPz+iV/hScJlYC2NZK/+qzAwKAyEmMCLolB4DGe1mmoGpDYmffxzT/y5uWECj+2BJD0Y5kAAA8KfPdfcTITFAHlmLquzs0sL5ndIirTvCxOCMdbMvGFq7K3ix/gOxyefJhMqFwoFRKBUP+oIuAziw7jwZ7GR0joq5af0ZpLkjx0/8h0ImmlDUglqllfiop8JY8ztNhodydFSebn3reteCBSKCNG2BFZ9Ey/cJtoXit44nltc/3wgcNuIJ8etW8NA2wqX14zr8lIa48UZ5wbigOsI5223bCo0bL9sqEpisPTPK2L5taJ/OYvbKbWExcMKRhyejlDYzO0G8E/gDqAdWRbew+lJg6KWmVk7Mh2Y2axAWlYc5CaMzOODyaUwQdQhdBOOPPLBc8MrWexZVlNEpqJ3IbU8zFwSUMgE2A/snf4YD0Uhh4TE/643fur91TwJ93f3ei+zkXvSiKDMp2ZFWUCWgZdCEdG7mClSRMKwRCzyx4/8MIGIZr4REbwHdQAAEABJREFUkdITH3/MMh4m7v5AHMrFDztmf8BvcYhYVEZEuC+b9ST//nEjIrUjIvqyjHiqPWKRu4xU5hHRTL94/SJC+EVEX9kakh+jpgQyZCqlDOyhsIEalvohQbo7LWF6rHksW2hzW2332M+fBrnDigEBSZi8UGnXzZzqlqaL3HNVT7fGj+dTkmPU3tauMWPGqb19rNxkt52aSLWsprHj2tMtFRg2ODFCXE5uI1edR0ScgLHebUm9y5JoYa1i7oV0Yag3uvXEk0/qzjvvVF534xyxbpWxTD2og+0jaLmwu25abngRDpBHi9XFLa0tam3NVKsVxkOXOjt71IM0b1pvsUzU6vC2tjEOb01QKNJdcF6qq7XkYo6IyGzmXoTU1drSpoy5OXd+9Ua6huXp3HvSPeIltYZxkzdCi8A1bRhyyVVXRE0RmevQEPVuuB65N+LDDWm4gwrjNXd8zIULu5X2vBUqnJh2RxDTkYfhj5E1ZMXQAGDIMlyKjMKILIHkwX+9UCTTPkawaYU+fRrIPnRSrZYpIsRKSgp3TiicQQXGxrLiQTJGm6D0C/8Pjm30hpgW6IpeyGwuHyhcXuF+boKLwY6fK1AzA25tbVVmgm544pH9OZ8g/+peaDDWMSOovz17/yKe6u71XiKDPPM8F+VGhLBTZkQzT8KzLPMisluYjNUyLnYKIU1px122o8VqO/ypM/7kC5R+mGX+xI0Ij/vCE2M9mZTHaeYyHuUQH8AeEaIs+Udc8iB/wigTOybxiYc/8TAB/MnbyT2RN1Ib8cddpsVNHEz8IyLVDztA/pjki4m7TIt7yCA82/dNBuRK/zQhlMm8QzxiQl0bMABP+Ez6TSjkLlbhLJpQ2J43wePOvEIDQd47BhtWF0dB3yjNSfTJuef9Sb///ZniM5lnnXW2fv+7c7xP3SE+N/rd731XM2fO0uOPP6p3veudgvG1eFzXzZjnzZ+nyKi3XKc8HXZrax2jCeMnqcuMtNtbUB0d3XKo+DoVT552dtXTIy2Z03V2LdTf/vY33XH7HanPClc8d3tbrC3rcVry+Ne/rk4Pjpzx61/qvPPPFZ+lbEsn0WWG262//f0v+sMfztZvf3Omzjrrd/rnVf/UuHHjNf3e6fryV77o/l3oOtZs5lTD2M0EDvKEhyzhSuCjoRSWqabkxm9xMPOt9+Qep60pv9wdlbbVCrn9DZVjEP+6VexyXl2d3Ro/YaJUSM1xlSvCKBmmP898w1TSMBXj4Z6QCUKfVqSR3AwkBMdwQlVWE/cjCw/UpjkaPHLs8P92Fibimphgc8+mEG5EqK2tzZPHuETI2CPCK/EewYycqO+P+H2OQVrK8riLTPnkzV1S8iSMSQI75bNPFhGJmcGIYNbd3U3mHRHCTRryIC5hXK8CqBbhMEvyxE487HUvQMgPMyJE/IjwpFZPeRI3oummLgDpqG9nZ2fCD/lT3pgxY7D2paPexCdvTNIBEZFwjp0w4lEf4mCSD2HyjzCAMMoknDBMgLoDhJX+1JkwJ19uf9QnIpQnzlsYb22prCKNISW8EIc+AbAvAsINuQFGPRCk3PxfGqeLzAcffECf/OQn9LVTv6ZTv36qvvCFz+lLX/6S5sydrSuuuFxf//apesBxslqmmbOeNJ4zcQ86PEmOGzfW/dqjhqXijo75GtPeroWdHZo9Z5ZDc9WyWuq7GY89pkcffVQ777yT2i2tjx8/TrlXHBdd/A+9813v0O9+/1uFVWwNM+hareb852rqKhN1yaX/0IknvkFf+uKX9bnPflEf/tDH9OMf/UR5URcqOe7af/jDHxbP0vL06Te+8Y3EqMljiy221PTp9xruE/jKkXAHwssz+vXH5SJ73ZJ3i+vIGCmctmE3XNfdZFw0lNsvN/OmvCwi0ddYxrHtxrqoG+mwDwdkQ1UIlQbIDxPAPuxQuDM8vJqTrUu3284mgWDBq88PRwUJLb04GXV2d78HB4MGW9M0LiIiuSPCTLiW7CWjy7LMSQqr7DrTxMXzkBHN+Iz7ElKiQfwXEZ4rwuW1aPz48eJRBu5nUi7ZRIQnkXoqu25GCqOiLjAf7PjBzHLPNgD1IN2tt95qFeDCNLkwMcE8YWARoTIeJn5lGvKNaIaThnD8yA83JmXhB+CmDgB5lPEpCzeAH4C9TENeEc1yCItotp905EnbsIODiOhrQ7kYiIiEM9ISDxyUDJkyKIt24Q9oqH4eI0+hld58I9yWXmbCpyqZ0KmXUmQieWZy2sJMgL3eJhRqmnkyacszQ6Hci4AyvHBfL+zo0DgzzQ9/+EP60Q9/oJ/85Cf6oc3JkyfpyCNfpT+f8ydtsvHGAg9tVisv6Fgg3vXmFHRuyXfWrJmWoDvFV7U6zaDb2luN5yzhtcfjbMyYseKTo8/dckvtt99+Kayzc6HmzZ+rX//6DE2btqGuv+F6PTnzcUuaSKgNtbicm2/+t07/5c/1gQ+8z/F+o7N//0cz66/oAkvev/zFzy2tj/N4bpihz9cHP/ghnXbaafrxj38sXnGb+eRMtZsxbjRtI/3lL38RTDJMd2W7l8SkvQ1rHxIYT41enLuLXM/MUEtbmoW7hTgmrIQjuqrwf+CZMVP3AmasFzP0IXlGuI+dn5MNy1+2rKUUXnUAZT6L23EPJ5T1wEzlGtkgHHcCeiT5JZdtoL4C0DIQrOx+ECZtXDQammMBpsAkz2TQ2dnl4MJ7fWMcvUgS9eOPP55W/3zlibiOkP7SmDNN4CjtS2oyIVAmJszpV7/6lc4777wkyVAPwtot6ZBfq9WVMDgYAGGcJC4ZAvFKO6+58TUqPmSAH2GkJ3+kdaT0iCajw584lEH9iQuUdsIJIw52yi0Bd6elaOpE3qTDjkkYkxv5lH7kMW7cuMQICCcf4hIHNyZ+xMdOGHmAG9ykxyz9KXuMJ3X8SL844B8Rqf8WD1sqtzNk3PSB+7zMR2qWs+ZaawpJtWMhL48Voj25GUWK55mnwD4A5GYAAwN5WNIz4ynDYTwuznuvDa277rracMMNE9Ncb711VWupCSn7O9/5dpKgYazgsHD+C12nrq5OM8cP6M0nvTkBTL6ru8t7wXMSIxb7yz11dS5cqFtvvU177LmHpkyZooVm0D31bt1ww//p/vvv0wc/9AGr9sfrvHP/bHOSIjLNnPmkPn7KR7XjDtvrqFcfqfXW20CrrLK69t33AL30kJfqdDPpe6ffrcjCfSLxvvs666yrdQ2rr7GGGJsEbL3NNrrkkkvMyBeoMK7Kdi+JmfBc9ovbXCRwj0Wm3P5TJk/R7DlzxIMwCS9JNS7/XCeXxdiaN2+uxo4d4zgtokwH6in5Op8lcZNuaWGZmfTSFry80hUe/PwlWLwQ94/6AnBU0MTH6MUDLWeYMG5Mbx4d+BSKiESUMEGIsFZr8aq/bglkgq6//nrBnK+44gpttdVWaYJJeZABlqWEiPCEMDYBTBiGNHPmzOSuWT3HpAEjQlrFDsP861//6olxoqZOnZqkgEmTJqU6Eo/wiEjSfhkfBkoYE87YsWNFvjBLAHuzrTVR/oQJE9KChLiUyecrYZrYiQtuyqZGRCqXOGW+xKMOkydPTm2gXOJHRJroqBPlkD8mdcCP9MSlrviRRxmHPCOCbNKiiXiER0TqH9ykoR5oI8iXPAHsKeGQ/NesQ8qqSP+n/8CfeYDYLJ40caLax7QLZtjw/m9u9XATchVmAgyXQQFpcimlsQmjIR8kvfETxnu8Nrx3Oi71HXgAf7Nmz0pfnkKlO9bMpu56tLRmGuN6/etf/9Tll1+madM20PYv3M6q6Yt14403qKUlE23o7ul2Xm0JHrj/fq2//gbq6bZq3JqCsR47jz46w+1r06abbqJVVpuqBx96UIX3fGmra2n3dK29zhrWOHXYmUlqMfPt0ga8zd3TpSeeeEy0ZdVVVnUZrdYeTVC7F6GcYqcPu11WLWtRhxcJjDvGHPGXGIwj8JPAfUTfAOACP2hl1qzZYmykPF33wmmkSLiMKJK2AC1FZPKvUDNuoYh+/e+Q5fmXil6WAiJiwAqDjGXJd6nTFgOnLOtDcOoQWzAHjl35rtgYGFzt09jweCAVxOsRLSa4iEjMZeLECZYY7tfPf/5zveMd79BHP/pR3XHHHeLTgLvvvntiTqSNcMpeWNwd8fQwCJ54TD4RkSaAyy67LL2F/Mtf/tLSyExPXOOFlHzttdeK/bqPfOQjSfV41113iThI27/+9a919dVXewJcoJ/+9Kf60Ic+lD5rOGvWrJQnaldU8l/5ylfEZ/1uvvnm1L777rtP3/3ud3XKKafoNKsakUbBBarNr371q+I9Z1TlMEby/9SnPqUf/OAHuuWWW1K+1J+6A11dXaIuHFz6/Oc/n6Sfbu+Pk++HveeIGpP8J5pxzZ49W7/4xS9EW37729+m+YP0p59+uvdWPynekE6SlKQ//OEPIj6T9m233ZbKIF/ebOYQ02c+85m0aKK/pk+frm9+85sJTyyiSEs/wZyp69///nczzK608HDWfX/UP2JR/0QsgV2OU0JvfMqICDOe5mSe1aQ11ljde8Nzk1+jVwIuzAlYdDwVZMZQQm77QFDYfxEwVnMz7poXcCzmvvLlL+v1r39D+tLUt771TfGEZi1rSXuqMDlOhYMLzA5L0hdccIE+/vGP66Mf+aiOO/54HXvMManfkDDpq4hQi6Vx9o0f9X70qqusoprdtJwx8e8bb9Q7T36npkyZooMPfInQ1iD1tnsBcL8lbPqUxQBmw4w9tyQLg8yymjKrrsmXvOjrL37xS3rTm96kN7zx/+nPf/5zamdEiLG7sGOhGfqTqR3kscQAnj3Js5hppilxl3tboUgL2yefeFKo0alXnb1p9yn9VHd9aTtjb8qUya5PnupcM65pS9/gGQZLNlRlRETKKuKpZvIcAf9FuF7+GwFVqaowgjAQ4UFhQi4sQ5s+mzWzF0SNJMZEgsoZRgajgVkRBiBpomIsSG8gcUQoogm4B4KI5kROGGlhOsD9llZe97rXCb9rrrlGP/vZzwTzYV+aOiCRwrCZWGF2TBgAkxySE2lgvC984QsFEzvNjBfJhGsz7FNSHhPziSeemKTOf/zjH+mk77Rp0/SJT3wiTdAw4GOPPVaUtdASDPn85z//0ac//WntsMMOSSp7y1veogcffFBM/NQPIO4555yjt7/97XrggQes2lxFMF32E/loA20jnLZ9//vfF3Y+a8m3kGG+LID+9Kc/6bnPfa7YSuAkMZM7EzZxqPv555+f1P/kz0IJXGyxxRY64YQTRDm0/WMf+5ilw8uTdgO8sWgBN/QX/Qe+qENEsw9wg3vyHzyEk5Sg1G8wQSb3hvdyYURrWeU9d85sL/bGOG6R8C6FcVf3xK9+UNjeBIbSwJA7Tn8oUpndljhbW9v0wu130MEHHawXv/jF2nHHnZKWJLM6eezYcSldYi6FS3eVGTN33HG7/mKccmgLvP3jolQNQ+QAABAASURBVIuSqnvO3DlNhmhGBbMGXw0z2E6rx2FkNWuV5s2d57hzzehW9QL2gTReIjJdc83VSaMzxlI79EF8xiBMjzaN9RZHV1e361NYem6zmSdc7LzzzlaF76cD9zvIkvlzxI+rVBO8qBtvjQ5ppMzt1RJD7gXMQEDeuds2ceIkq+470wlzYzLlSxjaAhy527xgwXxNtJaCviwhIog2bDBkTHrYajzUBXnQMj9XYMSORlz0Nruv/+3mr+5J9uKLL05SJl/suffee4V6bKzVfBBvRAgmgGT5hS98IUmdSJ5LAqVES9xTTz01pUVKhqmitoZJcnjm0EMPFSt5Fgsf/OAHdfjhh+uQQw5JjHudddbRnnvuKRYJRxxxhDbbbDO94AUvSIdudtllF+21116JkT755JMpPnmxAEB6ZbKBMeJHOeT5vOc9T0jbMD6YL/myl42m4LrrrrNEuIYnz01TmbT77rvvFvnMmzcvHXAjHbDpppsmaZj6gb+jjjoqPVu5jfcWYczTLe2Cy/e9733ii0mUwX4kDPq4447Tq171KtF+thSIzwICTQHlwYhpJ1IdiwK+qLTllltqzTXX1LnnnivaSt1POukkvexlL0sMn8XE/Pnzk7TNwoYFAJI6iw7wj9Rfag1wLzl81f32lV74ss0mkC/S/ee/8PmkEfnNb36tm7zIAU8RLAxkptSjCOyFeQGwGOMxc0FKXhy42pQ77KmQO6+a2lrbtftue2i//Q/U/vsfoG23faEzzcR1I14ki6hJZnJ1S4tjxoxTV2e3GaTcp5tp88230M47v0j773eADjKTb6m1aqzjkMbVdB1zj6GaoTX1eW7mdeONN+v22+/WT3/yM336k5/XT358umbPWqCLL/mbnnh8hhnbBOcxQXPnzLMmaKFaapkZf4cWLmyOl/Hjp1hKXjPVISK0004v0n777e/yD9KG3ldH2pdC8+fNNxPtcdpuu6TFcfJf3Z7PWBgsAnBduMwiLSTa28eoYXwsWLDA9WuRVPMiKne4FBHiehmn4MdPGKcaWwBWf7sGxkFN5Klh+o1yJl14bq5gNGNgcWoDFx4UghlHRCJDJIG2tjYTcD1BzSovJioAhjFjxowkkXL/dEmA+DAL4mKHuWCHgcEsKRsmB8NDSkWVCTNHejzzzDNdZc8+rhnlZ1nmSSW3VDMnSbmoumE0xEOqIxwm9vznP1/ktdFGG2nMmDF6+OGHLfVco/e///2JmVA2+W277bZiUXL22Wcnhn+jVZowb8JPO+20xOx23XXXpIaHUSLtAqSte2HDJxHJHz+kZ+7pooKG6W6//fYJfzBS2kYc6ke9SD9t2rS08EECo+4w2J122ikxYO7izp49Wy996UvTgxrgC03AGWecISRy3qcmn/XWWy8tKGDM+JPPH//4R8HoaTsLiUceeUTkxaE6+qHEP3kuC5AXQH+RPxI/5S20apmFTUSkvqKtSKeYCVCD9wOk1oEAtS3p+sDMMu9l2o0GYyJLDLG9bYxQERNWFGGm0uJyC8HkW1pahRQ8yVLkuuuup5132lmvf8P/0zGvPUYnnvhGM8ud0yEtpHMYZWGVMae+WeAstGals7NTSLVn/vastBj48Ic/qne/+706+eR3693vep/+c+u/00nvNbxw2t8LhksvvVwsErJaWOqerI6F83Xueefq+Vtto+dsurnr2eFx2eo8O13HPKnoG8YFZbe0tCStChqAyZOnqG7pdyC8PJMf0vJTAQacC8becBltba3iN3PmLBsh/AA7mAK8QJinGY/NENoQpOua6b7uPf0USKRhglHOpIcJy1UxIxYDTG0qCtNdE2zxXyEmI9SGSF3AIYe8xJNdk1xgLoXTIFmjJv7Wt76lb3/720sMxGcvmDQwX+xI0kceeaT+9a9/JUbFZA9jg2HxbXPUwe985zvTfjN74TC3KVOmpDqxX4vkSxwYE3VCXczkxjd/YbJIw6S5xmp0TNTKSHxI39QBtTETce6Jn4UC9UH642DaJptskhgf+aIaZSGw9dZbJ5X2pEmTkoaBurC46PY+NHVea621BNM94IADhLR6yimnmAmcmKRb4rFIIB64pD6Y7JXTNhjcGC8kqCNMn/rQNtoEM15//fVT2bjZJ2cRAO7oD/qNtORNnUjPogNJHOmadoJ3cM6eNmlxDwWU/Uq+4O973/ue8Ntjjz0Ss2HMQAgRZtZmEnkJxnney2ybZp4YVp78F9lJPxDw8lju9KiHkag7rU5umGl7iFKc8yosidZVt9QIw+zuqWuSmd5Blpo/8tGP6X3vfZ++9KUv693vfo8uvvgS1azOjsjMtBrpnEMty8QY4KAkGaIJueKKK8UXuCZOmJwk4rXWWEd77L6Xdtt1F513/rkC90cd9Rq1tbXr6KOP1cc//lG9810n67jjjtW61gKddNJbvc88y6RXpHLIl8UbC2LGEJC5DoyFNdZYI+WX8LUYTvL/6i7c9rwXeu3g3IjJja+G7TB/FtqUDb2AXymsgajrPu+rw5jRbvX0dFk93+qFTiPVOaK5gNcw/JqzzjAUNBKLcF8Z4arAnGq04oJx6eZ7ENiWLDb9hwSGFAQDmTZtI73tbW/Tqaeemg63wBDxRwJjDxcCR2U2WCD//oDUCFPhoBXMg4mKyQ71NVIoDAnGGuFJ3pMTDBiJEZUy0uLLX/5yXeR9xVNOOSXdlWVy6+rqSmpw9tbf9KY3Ceaxzz77CInz9a9/fTqYBfOHacI82f+FCb/3ve9N2gTK3W+//TwRr5qYLPvR4IHJk0nNqEp/ueuDWn7VVVe1VNTlyblNxIVJoX5+z3veI5gwTPQVr3iFUN9TPnUFB9SBPWPwTNu/+MUvCnV8mzUYxKOtr33ta1O+4IPFxRvf+EaRL8Dihj6bNm2a6BsA3LAfjnRMn22wwQZmVt2iPBYgHKwDP9gH23fPFJ8ykZoxZ86cqYhICxw0JoyTwpJpYWJD+svNKBZB/lRmYnzmiwH4TmBmm0wzGcw111xLJ530Fi9cVhOMGqbd2trmfujRxhtvqted8HozualW6bYKqZnnSh99ZIZ23XU3vePt7/BiaiP39XhLt1trE8dv1POUj6weL1zfvGg4n43SAhLtw6RJU3XSm9/iMbSBF7N1ZdFis0cTJkzRcccfrf323UczHp2hIs/03vd8IB1m23DDDaxan2Ym/dqkvZk4YYoQSseNH693vevdWn31NRSRqcPSekSoxQuF7p5u/fvGf2uHHXa0tN2S+m5xnPxvd2G8AuAX09CLN+gLjdVDDz1sXHUp/K9u3Na9iCGMsxgbb7yRCvcXYwuGbatqlvDToB+m/0YNk2YwQ7jgNcvCq8q6jH13i0YFWOulwUBIowIvkefKPBGFqS8DVChzy1GT1bKax0mu8GTa6Glo04030Stf+crErJHiYKAc6IIJlGMLgmbiwJR/mIuDvT30CpVjEjMiPMmukiQv1NUwSg6OwSBRV3PYiv1ODo2xBw4TgNngx0lmDovBfIl34oknpjqefPLJ4gAYqm+YM3HZ+4WpUccTTjghPR4BY+RkLgxtq622Evm/613vSmrvgw8+WKuttlqShj/wgQ8I5s1+MkwzIlI7aB8MmjIoE2YEcNDs9NNPV8lMkb4pdy/vl5911lmJUSNlw0Bf8pKXiENeJ3k/mYUI0icMNCKsVt0/HaIDx7QbiRk8ILGSN/vstH3HHXcUbWWhAE7bzODJg4kYBk8dI8KTdq4IMwJPttSn7A/asSxQ5oMJUP5CM50tnjtNcxc+oM6euWrkPWlM5Y1WKW9pQuHYHntGpsJjsSgyW58O8p5pCvMITXab1gBrlSmra7dd9tWUiWs4v1CN+c0MLitaNXnCKtpz9300YewEjWmdrN1etLf9VpMov96iXXfeW0cf9Xodf+yJOuJlr9aaq6+rIg/n4/Lrhfe6x2j+nA49d7Mddf89M3T6T3+r1VaZqkMPeZnznOwatSmvW7o046u7zK02e7HLOMB+Tt/IXKfVddB+h+uEY9+oE455i/bf53DVignq8hZAYS49bswE7b/3yzV10lpq8FwnHzcyc2/J2vTEjJl67NG52nfPw9XT2XC/hVL7nwE/i4cp4VVqmm5T7wSYqcVlFab7Vq2+ylpyl+iRBx93nQtZo63WtkxPzHxYHd1ztenmG3JbXC3tbSpqoUZWqKvoVs6zsBqeXzY8xVSlVBgYwRiAmJewekziqJePPvrodJIZ9SzS5xIm/6/RYCys2DlIBSPCzr4cq3rUgDAbwmA2ZASDgSEhIRIfPxg6TA8VHUyi5lmHfLDjP2HCBE92eTq8RJ7Uf8MNN0z71JQ1xmpm8th44429hzhVEWEpqVPERUpFOp8yZUqSbMAFZQKUQ72IF+HJzNwjy7KUDuZMvXHTFuKDw02sRqc+MDLaTl3wo020DUYPUCf8MCkTxks51JN95lJNTzh5lHUhLQfkKItFDOkoe7iBU8Tg9pFHHlbUMkupCxWuBNI0kJvBsSgEwEPTnWtZTdq/OICDzq5O93+3eE2M/uBxEq5rdXQsVFdnV1L1Uja4XjB/gRlXLS0gX/ziXYUGZe48Lzbcv7xYBtBXJXQ5bx5E6fG2B4Adv/kL5qujo6OZf70njUHyp5ynQyONG07rs9Wx9lprC21HGGtPjzt4PIFjo9+LpTqGkOYfpm88XruseQJ4jGWH7bcXY4tImfuN+mIfbhjlTNqzc5FLowBYoQ8GRgNOaGOONGLImQAAr7bzwkPClGjD//sv5BClH+razMTMZIXk9oY3vEGbb765IGAgRer9b3F3r/d/NZggmESQGLETOSLSpMaEiyqViRWmGxFpz5ByYEyEA0yYxAGwE16v19MkGRGi/gDMkXDMsl2YlI0JUBfyJh71waQMgHwjQhEhfsSLiIQL4pVAnYlPOAsG0lE38qdeEc00pR9xKRemSz1RLTPBEx4RqTzs1BuTsiMiqUPxw00aGDn72p/97GcTo8F/OIF2ggO2EV7wghfqlltuV3dX3QucNtW9Z5w3ZEYsa1QwM9t7waJdPiDA3JYcwtLe4uDSKMxoKGSB233VUMNMs9HosV/DuM0NhaFp1mqOnteThP/GN55odfUxamttUb3e7fr2qHBYYXU4IJspHzcsgjwKJ3b+zjsHUpvqLoe8Aauek1+Px/cicCIz5TnaYIN19drXvNoLik4zbcrsekq8ZcFR5vrV612ui1X5G22oRx5+ULPnzPR2Ss1jJTNdzdcmm2ys5uI3vB/dJvozwuPPqbDbGJa/bFhKGaGF5MpUD3f+aACreOqDgdGAE7exoZoaUVNuM4HthcIjtmbAtNHvD+bYsBSBdAYzwY06eCiIFoZEPhHhSaHVE1N7Kjm3Sh4gHIkME+YUEYLxweioS0TTHRGKaNqJT1riUFfqTlr1/ggnP5zkgUmeQOlPnUiHSTgQ0awj8QDCyZdyiBcRnlBzT+Z1T3xtqT6EAaQnDYCd+ECm3duxAAAQAElEQVREpPaU/tQHfxg7foD8oz02Eo6of+kmHDf1hkGzD4/0v+2226Z6lGWTdjiBk8q7vPjFah/Trun3TVebTdqGFN0EWQ1eQpj5mU01lh1QHy8OuVXYHk4uozBzzhPkXjCYv9pPdtvfauee7oYXFD2eIWvq5rqW6zNl8lStOnU1S9pmvN63bpCX/UmLnGPebDVyrobzww5gpw5F+mwkbSL/wnnkBquwnZ54iwMH3CaMn6TJk6aos6Nb1CczvS4eb2ncsjq97jaSlnzXXWd9rb7amrrjzls8D9S1sHO+xk8Y6z30TdVjFT5jqrXmrYlCyiJTCAgN1y8broJGbjnGfHPTwlWs7BqVuChb7f73nwfCM/7BECBaJGkYE4wPKQ9mUiaKWDoCJj/yJx/sMD3cMCnyr1sa7unpIVgRkSRHGFJEpFU+cUhXmsQFyAM/8iM8ZeD/yA/JEz/aRDmYDvLk1OPJ1pOoZ/T+ZZR24pCOfAH8YZKYhJV+5IkETlzCiEMYbuoF4B8RfeURhh9AfSIi1Yf6khZ/ysBdto805IWJH+UAtJnyS6mcdMsbIiL1D+VQ38I0NdbbCFs9bytx8KpzYWcKz80lFkGeFjU5qm/jnLYsK7gQLQ5hLVCT0YTKXwR219LlJj87iZPZn0UEfdjd3SXcublxi8Xrp9XTC1dwH84/ItT3L0L4Ofdm1oRl0bcYG6iNHsxeMDTHHn3X5v1g+Ud/DxR/sH4N45370c4yLd6oKwcp0fig3r7t9ts0ZerUtLikTNov15v4EU1ak0LD9RvlTNozcu+BDQbGSg2eKDQYGCV4yZUZKyY8E12RACxBgEU/GsReODRPjATCRZKGeLHDqNNkDM56Uy3u7vX+r0ZEWBXakibriFBEE5iESEh5MKiIwJkkScqJCJX+mPhhwqQwgTItfgBxqDdAOBNsCYSVzDGiWZb8Ix3tLetDvBIcnP4iItUbB2HEJS/KKN2ERURfnSOaaSKafsSlLqQtTcoGIhbFjWjayR+ICPEjHosP8qHd+MGsMZcn0D6gLAN7E3J1dnVoj71fZAmtXXl0q9aaG4pF0GI70CozsLYhgbB2aHFQkSn3lo487kV41IRZ4LY9Sr+ANdQE385qrR5rY9yGuk3XP3eslla11No8XttUs504taxVDjEBUYaUFxLlhWpNf5u4gcJ1AGrOY3FQtFiLNE6Fy6EM4mf2I5/F4y6Nm3xaWtrU2tKu1tZ2t6tb6627gSZOGat/Xn2FZjz2kDbaaAOxj16rZYJGCjeGhUu4TYWR0jvUNBw/emJIy2FQDmmGQ5AZdWpvb/eAkTKv9CB+TPYlaqprNEBLUddAEN6Xac+KFIa95j0i4mWFVV0DwMqGK3lPLYpcNVNCZnbNCVXhtrQAIXq4iPGCXQpFNIExBUREb3jTX72/iKe6e72XyqCczBVp1iNUuskMO2ZEYKSwiKYdj4hIdSZeROCV4pT54Z88/V9EM9zWFCcinpKWuBFNP+IA+AGL2yMWxSvDI5p+EUH0Prz1D6eNuCMi0ar8w20j/UU00yaH/4to4qOME9EMp30A/kBEpLY4yXL7i3hqGRFNd6GG6o2FmjhpnJ6z+Ya69PIL9cjj0/XgI3cmeOiRu2yWcHc/e+m3lOajzmsAeKjXL5mPOI7Lf+jRe5RgRq+J2/ZHHpuu+x68Qw86zcN23//QnXrI5kMOf9B+Dzx8l4AHycdu/Ah/eMa9ArDjB6TyeuOk+KRx2Q8OBL3xSH//w3fqAcfBPmBchw3Gn3wA6vSg60A973voDuXq0mk/+5HWWnd1rbr6Kh6f3gxrqXkh0qJasNDIFF7MtFr1DbPWMP2y5VUOhLG88v7f+RaOAtjwXy2rCbVJTzog0VBLa6s7IG9CUSgfxVAzMwI39FfCi3HRbZUq7sK4A2ykP+wrG65of5LWrGZsbfPq2mOj/+SeGu7/aDs4sbX6qzAwKAwwxlosbXJQjpP0rbbz4Q8eWFkE9+juu+/RPXffXcFyxsEinN9tnC8C1N0vetHO2nijjS1ht6aFKtsk0H0feCFfJBjUEFimyEPGpGlEWZPSjjncQB3ShGpL/7KZiGHWEaHuLk4J5l7fZupWy6iAHrdzIOgqaH+reqJV3XlNdZvRNl7d0Zb8euzuyWwHbF/Z8JXlbhEaA5sNqyTrBqTr3BJ2YYnawyitnuX/G1Z5FV7EVFCkCazCw5LhoaenW0VYTuvp1Drrrak3nfQGveH/Ha3XHPOKXni5XnvsyxK85piX69XHHVLBs4CDo177Cr3jnW/Vlls9Rz3uqywL8RWvcpzLtC/PAQlsL/2XxNQy/AbDpAcspqwggf3tuJ8NMNlIJZfurUBEeI+jvXkFxX71RkPtlpoKT8K1TBoN0BLSgGBV94Rx7Wq3WicKq3ccr+YJBWA7IIEVQcm0jmdlw5W6O9Se5RrbIrVhtmbGk9X/8s/jozAxmj97SIWxwMCyf/VXYWAQGGix5Mwp4iyriYVe+5h2jR3brvETSmjVuAltCcZPaNXYie0VLE8cGNdjB4Dx49utZQ2F57/WthZNnTpFjUZdz/YvW14VSJPb8sr8v+Wb5lH+A5oRe6y+zbJMEEfY5HRiRAi1U2ZzNEBEePA9Heinjo4OdXu139LSolotk2Ol/cASLxH4SKV7ZTI5FJJ5TMCL08EQD5mGF3FZrZbwAH4IMwoUEQ6t/ioMDA4DDW+lePCIsZTnDTGKxo0blz5SwgMwPKYxHrehaR+v8eMqWF44APcDwZQpUxKP4F47au729nZF0FuD6++hjp0NdYbkx2DEfLYA9gxQfuEZlkmY054gHvvUqavo5ltu0c3XXaF7rrtoVMC9/3eRBoLrLvydTvvqKTrr+1/WP8//tf598Z9021V/0f03XKr7gOsvcbqLE6yMuLrlpht043VX66YbrtP1112jG6+/To3uLi/gamlRgmqLffiigFgzhlQFFQYGiYHMi9421bxlVMu816kQp+SzLJSgZrMfqNamCpYfDqLWroGg8AYoGo6Wlkxtba3iRgAHGeX+aoKeld8yzzoRoYhIlY+IZI9omslzmP/Lo6bMykkgFR2ZXCnVajUt7G5otVVX1Zc//2l98NiD9PrD9tQrD9x9VMARB+2hlx+wmzBf4TYDR710H229ydrqfPIBdc58QFdfdK7O/e1Pdcf1V2jtiTW9fL9ddczLDtCrD9lbr3L6I5z+yIP31Cv2f3EC/ICjXrJXn5uw1zjfFQWvR+6/k177khfrmAN30GsP3kWvPnBnHXf0q7TqmmupXhSKWqaatwTyvMfDqFD1qzAwWAyEE3gISYVVp4XHkXo8Q9kuQgxFi921XpCIW8Hw40HuB7TbtVqbtR7uLtN/lpl/uGfsci8+O3/U4Nkp+VkoNSJSqaWkj3oX6XoEgoarTixeON194IEHiq8sveY1r0nv9J5zzjn6xCc+Ib549M9//lOcfCzVQKjouPSPqph7qJiohgDUSPhhH642LEs51HUgAC8QKCtpIKI5dtIAqv6rMFBhoMLAMGFg1DDpiKdPskzufCVotMAU77ks3lYYLlsBEyZMEJ9KfPe73y2+wsQXhvgCE2q5r33tazrppJOE3z333CPS8CGDNddcU5jgkQ8g8GUkyoCB8+bt4mWNRPfUqVM1ENAOcAIDh1lHPH38DBONVsVUGKgwMIoxMGqYNH0cEVZjFAlwI1EjJY02KNtdmmgUwAeAxMxBMhjxq1/96vRNYL7ny0f8zz//fH3pS18STPuGG25I+2owMZhZRKizs1MwNPCJP+ZIBw4VDgRI0kBExZwZFxVUGKgw8OxgYFQx6RLFMKf+dtyjFSJCMCOYqfzjZDNMGwmaxxeQlF/5ylcmxgxzPuyww4T/Jz/5Sb3xjW/Uxz/+cf3pT39K6vCSMZMe6XxFwCmLioGAQyPgAAA3Ec0FnlFU/VUYqDBQYWDYMDCqmHTEU6WiiFDE6IDFR1REJC8YKYw5OfwfDAvGZKvwh0Hhh/qXb/Iee+yx+sAHPqBPf/rT2mSTTXT55Zenvey3vOUt+uUvf5mka5h0KV1HxIjGcVEUAgeLQ0SkxQttjwjxIw5mBRUGKgxUGBguDIwqJj2aJ9mIeAqzZIBFBEafP/iBKWESENEML90w7AULFgiJecstt9Sb3/zmpP5GoiYdTPo973mPvvnNb+rGG29MzI+4AGkB8sUkfkQIO4A0z6KAcIBw/DFxLy+IiL72RzzVTvllueBgedelLKsyKwxUGKgwUGJgVDHpstGVuXQYgFEBMFOYNae9t9pqK51wwgn6+te/rlNOOSUdJLvyyiv1kY98RO94xzsSw7711ltTgRww4yQ4TJs8yAvmDMAQkcCJSFjpZr8YvwoWw0DlrDBQYWBUYKBi0qOim4eukTBWGCg5YmfvlitcnObmdPj73/9+/eQnP0kq8Y033ljXXnttOnz2vve9T9///vf173//Ox0uQyqFOWOSH4yZ/MgXZl26Yer4VVBhoMJAhYHRiIGKSY/GXl/KNsNUgTI5DDaiqSKGWcNYYbAw1l133VXvete70l3ro446Snz159vf/ra+8IUvJCY+Y8YMEQ8GTZ5I1+QLoy7d5AfgX8FKgYGqERUGKgwMEgPZIONX0UcxBmCYJRONiHSwLCISRmC4hHPoDBU10jVMHGn6+OOP1/e+972k+kY9fskll+ijH/2oPvvZz6aT4XfeeWffE3zkQ/qISHvF5JEKqP6rMFBhoMLAKMRAxaRHYacvS5ORfGHEMGsYKCaA9IsUzUtjhEdE+uoYV7Eob5111tEee+yR9qpPO+00vfWtb9XDDz+sb33rW3rb296m4447Tr/+9a/12GOPpVPV5EOepK2gwsCzioGq8AoDzyIGhoxJM3kDtIVJu4IinW4eSXigf6hPf7Psr4jAmuocEckkbn8gQkSkPWX5V+Zja58kjAQNc0WqRoUdsShfwngoBSa+zTbb6POf/7xg2P/v//2/dJ3r4osvFnvaX/ziF3XWWWfp9ttvT3eyWQxERDoJTn0oj7IxI5oSfekmvIKRN/aqPqn6ZDSPAeYq5sSISHMr7iWFIWPSS1pgFe/Zw0BEk2E+ezVolgzTZQ8bol133XXFy2Ylwz7xxBM1b948/fCHPxQvnb33ve8VL53BhLmrjTqcdOSEH3YWBSwI8IMQMCuoMDDKMVA1fyXBQMWkV5KOHEwzIprMOqJpDibtUMRlzxmminq8lK5hthGhXXbZRbwfzh3snXfeOd23PvXUU9N+Nsya1844SQ6zhtmTDpM8Ydow7KGoY5VHhYEKAxUGRgIGlhuTjoh08CeiMiOefRwsPtgiYnGvp7gjYrn1H8wZlTdSL3YYK8wXhg2z5UMcBxxwgD7zmc+kk+Dct2avGtX4G97wBn3oQx/Sr371K917771p/zqiWVeY9VMasZgjohkvojIjKhxEVDiIGGE4WEnrs9hUNCjncmPSg6pFFXm5YyBi0YIAHgAAEABJREFUETEu98L+RwEwZyTh8rOWRIdRw6Qjmns2JfN+3vOep0MPPVTf+MY30mczDznkEN1yyy3pLXHuXn/lK1/RXXfdJRg7+SFZk18FFQYqDFQYWBkwUDHplaEXB9mGiEgpIppmcgzjfzBkGHUpPWOHufIiGZI0diRtJOPZs2cL5j1z5kyxJ33kkUeml83Yw95ggw100UUXpQNo3L/+xz/+IdIPY1OqoioMVBioMLBcMbDMTHr8+PEC2C/8xS9+oTPOOEOnnXaasFfwixGDh9NPPz19AOPnP/+5APoG84orrhASKC+D4ab/iEv48oIyf976Rm0NUBb+lI8/dvzOPPPMVG+uZ/30pz/Vz372M11zzTV69NFHte2224pHU2DMf/vb3xKz5rDZ5z73OX3nO99J45D0pAXIDyBvoCwHO/64MUs39gpGzhiu+qLqixV1DPzoRz/SpZdeKq6WRjS1hUvK2ZeZSaOKBJgcDzrooHQXFpUke4r77ruvKhgZONhnn3209957P60/eFwESZVHRw488EARb//9939avGezH6nPfvvtJ4D67bXXXtpzzz2T+/jjjxcqbx5L4XEU4t599906++yzde6554qHUvgiFwfSGJPkgUlbd999dzFm8duzN7+DDz5Y5PFstrcqe2TQTNUPVT8M1Rh48YtfrNe+9rVJsOCAK4LFsDFpVJTA1KlTteaaayaV5MSJE4V0zT5hBZPTfumzjYcpU6aIPuoPU+yHFB0R4sQ0fcZHM/B/tuvbv3zq1h8YXwBtwZ/VKfbNN99cr3jFK3TyySenL3StvfbaOu+888QqFgn9oYce0hprrJH6g/SEk5Y8Vl99deHHXjl46F9+ZR8ZY7jqh6ofVtQxAG9kjmKLj+unS8qgibfMknREpFPA5R4iSGTSG2kTPfUazUCf0H5MAIaEhMkCi5UdzInwVVZZJam/sY8UoL7UhTHFQC+B+mPHn8UGbVp11VW144476phjjkmnw1F7H3XUUXrkkUfSNS5OhrM1g7SNBoH4U7xYIS/KwQ4OKK+CyWlBU+GhwkM1BpZtDCAMsPhHSOD1ReYdGPCSwDIzaQ75ABEhTuQyWXIHlkrBAFYsGKOVtb5IyP37BDuMGRPVC0D/EY+DXSMJD4wn6loCboC6YpZ1jYh0JYsDZyw8eChlt9120xvf+Eaxn/3Vr35Vz33uc3Xaaafpda97XfJnH5rT4uRNfoxf7GWelbny0kTVt1XfDtcYYF5hfmVuZc7CrSX8LTOTZkIEKHzxMmHeFYyM5wAX75vSDTOj7xis2AHsy9Jv5Wnt/nmQb383dvxKwL04EIYf9WOMRTS1NhFNs2wDcbATByA+jBY/wkpYb731xBOkMGzeDN9hhx10ySWX6FOf+lR6jpTDZVdddZWefPLJ9MxpmQ6zrEt/s7QTPhAMhIeB4lV+RXoqscJDhYeVeQwwJzE3oXVmblpSWGYm3b8gJkjcmBHNiTSiMiOWLw4i/nf+9Et/iIjkLPsKhhIRfe9yR0Taxoj436b8i1j0hnZEiIEYsegUI+WUBBgR6Qta+AFO3ldWWY+ISG91RwTBT4GISPHxjBjY3j8sohknIpKkveGGG6YDch/+8IfTafEf//jHaa+a0+28dMY1rz/84Q9JRS7/IiLhBW0D9Y1o5lfa5V9E0y8iEsOJiFRWxCL/iMoeUeEgosJBxOjDgXp/SNS91iUyhpRJL1GJVaQRhYGScWIubcUiIiVllQjAzBiI/RkuEWBqAHvBhHOAgrj4caCCOKQv64Idv6GAgfKkXKRh9qD5KhdMm3fEKe8jH/mIuHuNpM1rZ/ixEiafcgFC+4CIJmMmjPwimvgovwBG2goqDFQYqDCwNBiomPTSYG0lSgPDgRnCgCKazGWwzYNRkQYGBbDnAsOKiKQ25kUwmB13mTltfeWVV+qiiy7Sgw8+mB4qIQ0qdkzyIS15RjSZH35DBeRNOZjkCaMGB+zN81b4O9/5znSP/Ac/+EGfdA0DR8LmzvV1112nBQsWJGm5TE9+2IGIZp3xY48bvwoqDFQYqDCwtBiomPTSYm4lSYdUC1Ptz1BKBrakTYTJ8wlKTNLC+Ej773//W7/73e/0m9/8Rvfdd19iyByY4CtXuNkD5mtX119/PdGTShnmRnryKhl1ClzG/yKaC5CISOXIPyR5AKk+IpJ6GjtXs/bYY4/0RjgPo7zlLW8R+Pn4xz8uTop/7GMfE3vXMOuISPlFNJlzxCK3ql+FgQoDFQaWEQPZMqavkq/gGIApwhABGCzNiWgyNOxLAuQB8y1V16S5+OKLdfXVVyfmdtxxx+nYY49ND4dw2prHRI4//vj0KUoeU4GZ86Tn448/nhge+ZFHxODqQZolhYgQ2gMWBDBqTNqPCZQLBO43lgybA2Z84OPWW28VqvEvfvGL4lnSBx54oG+PHRyQD0AeS1qfKl6FgQoDFQYGwkA2kGflN3owADOBKQ1Fi8nn4Ycf1llnnSWkc17Y4TU67gWiUi6ZL9IqDIwHRHgF7YgjjkgHwVCHw/DKukQMHZOmnWW+2KkLJvWEWeMuwzFpC+HYCVtttdX08pe/XO95z3vSdS4eTJk7d27at2bBgXR94YUXioUG8UkPkB4o8yrtxAH6u/vHwb+CCgMVBioMVEy6GgPLjIGSGT3xxBPiVPS0adPSgyJc3i8ZD4wZaR3mXJowbtKiSuapT57j5H1bDlwRj7TYl7mCziBiEcOPiCSxRyzyox4RTXdEpEVDRIgfYZgRzbcAuH992GGH6Utf+pK4e80hMz4Ewqc1ORn+0Y9+VOy7s2BBskZSpy39gTyBMt/SjnvoocqxwkCFgRUVAxWTXlF7boTVGwbEAbHtt99e2223XdrfLRkUTAqpMSISc2QvF6YEs45o7uVyuptXeNZaay3xIhhh5AkD1wj7sYCgPRw223LLLcW7vJwE59AZr52h6n/b296md7zjHfr73/+erqPR3oinMn3ax0IFkyZGNMOxV1BhoMJAhQEwUDFpsFDBMmEAJsM1JZ7ahEnDnMkwIpJECoOCqc2ZM0dIxsQnHBPmHBE402cmYXJ8lvLyyy9P96RJlwJHyH/UmQVE2SaqhRutAR+W+cQnPqFvf/vb6UWzTTbZRD/5yU/0pje9STyewmGze++9Nx2go11lXuSBHcBeQRMD1f8VBioMSBWTrkbBMmMAaZCrVXzgAuYTEYnBouJmzxdJmpPRfHGKQ2O8+jV9+nTBlCIiMeeIZhre0H7Ri14kmDTqYpjhMldwCDOIaD7EQjupW0T05Q6zpv4chuNEONI1H/fgRDifBOXjH0cffXR6U5xPg0ZEwgH4iYi0oOnLrLJUGKgwUGHAGKiYtJFQ/S0bBubPn68ZM2aIvWhUwTArGDDXu2DghN90003p85eogF/1qleJQ2MloyM+DA8ThsX72jB4JHPyW7baDX1q6kl9qT/tLO24aS91x07JMG0WJ1//+tfFPWsOmXE/nM9rnnDCCUnqvuGGG3T//fcLrQJpKliRMVDVvcLA0GKgYtJDi88RnRsMpKwgzAU7DAYTZlj6YcdvSQEmzP4sL3ehzoZBRSySOMmXL0xts802Ovjgg/Wyl71MxEfKJn5EpH1byiUuTHDbbbfVo48+mtTj+FMX8sUkDuazDeAuIlI1qDNuGHREpL13+YdfRKSHUXbddVedeOKJSQXOgbPDDz9cl112WXpPHAkbVTn7+ixUnDT9lW3GUfZfiQ/cpZ3w/lD6909POLgrAXcFFQYqDIxsDFRMemT3z5DWDgZChuUEjh1pF4DJRERSU2MnbEmB9HzKLiLSV8TYk4YRwIi53hQR4roS94rf/va3CwmZMNKxlwtTom4wFJgaZvkCGXUlL/kX0WSItq7Qf7SnPCF+yimn6DWveY34ROZf//pXHX/88emE/KxZs9ICBXyU+ARHpC0bj3ugvgJnpT/pcZdpIlYOHJbtqcyhwUCVy8jFQMWkR27fDGnNYHxM8JhM3GSOe9NNNxUHnvjoBGERTamW8CUFmACSMpIdjIP8yRvmAhDGtSRUvNw1PsFqXlS/xCUeEjVlUx5uYOLEiUm6Jk/yIKw/EKe/e0WyRzQXQ7QB1T53rvnIB0+R8llNToSzb89TpOCMx17QKpR4gAGXdvIoocQB+AefAGHEL8MwI6La/wYRFVQYWAEwkK0AdayqOAQYYOImG8yISAeWIkKooDnktPXWWycVbUQkU4P4wWSR/GAGSMcwXxhERKS8cPNZSE5uv+QlL9ELXvAC8WgJdYHZwIjlH+lh+PgjXWPaOzFrzJUJaFtEc0EEfngshZPxPABz6qmniitcnA7ngRfuXvN++H333Zf6DdyCc/AR0WS4EYEzQcQiOx7gGLOCCgMrFwZGR2sqJj06+jm1MqI5eTPJJw//B2OEIbI3bGdiAjAQ7EsKMBke8yA+TLZkuqVJ3hyOioj0+Uf2YXluE+ZBWuJFRJ90R/2QHFGFYydfAKkQwL4yQETzcRRwQHvAXUSk/XruXqN9AFCHR0Tao2fbAHwSlzT/DcBdRKTX34iHe2XCH22qoMLAyo6BbGVvYNW+JgaYnIGmS4kZ33zzzfrLX/4i3t0mDGZZhg/GRDUNo+dJTPaayadk9BEh7j1/73vfS/eFOd3NISlOPJdlIhXCQEqmTV633HKLkC6xR0SqDvGBiKY7ea6A/9EGgDYDZRMimu0ijMUT5k477ST2rbl7jdaDuOAEZg3wYRPwTVzCAOzgH60GV8CIjx9lAdiJV0GFgQoDw4+BwZZYMenBYmyExWfSpUpc3yknX5gd/rgBwvGLiL4PQcAEYM4c+GLPmA9c/PKXv0zSbJmWdABMABMgH0zilNIc6VHN3n777UIqLOOXjIK3uznN/KEPfSg96vGud72rb2FA/YhPXuRNvThYRhmkww3gxiRP7BFNhoZ9RYOISHimLQD1j4i0NRDRNOVfRKSX24jDyXk0Cxwwo8+mTp2aJGSkavoeHMKUMSNC/Fgw8UUv8BYRYs8bO3gmnLiY9AFm6cZe+tEvAH70OWYFFQYqDAwfBiomPXy4HtKSmEQBJnAyjghNnz49MWEkLK7yMLkCfLUJaZa3tbnPfM011wj1M89wPuc5z0nfdeZrTjzHyV4xaZiQ//Wvf+mcc84RUi1lMLnzshjqat7YpnyYBHV44QtfmPaZYQKczC7zQErGzinvadOmpatIXNnCD6ZAOcQhD54ApQy+2bzeeuuJ+hGPMMofrQAOwNF//vOfvodfwBGaC7QY4JP+eOihh9Kb4fQ3H/tgwbTFFlukBQELKOJwCI1HYsA7zJ3+Zd8b3BIfyZxy0LCwB05/lvgvTeJWUGGgwsDwYGBkMOnhaetKVwpMDkaJBMWeME9P0sjf//734mMVTL4wZz78cM899+hPf/qT+NTiL37xi8SYL7jgAp1++unpIQ2YM3GZ3Mnjz3/+s371q1+lq1PE5/TxnXfeKU4fc5Jbl8MAABAASURBVFWISR+JF4ZMHTbeeOOknr7jjjsSU2BChxEAMBnqiNp13rx5SQKkDBhARKSDYcQDYDDE22WXXRJDIn+YB/EBysIcTRARafGFpoO9epjnS1/6Un3qU59KuPv5z3+u73//+6kfOTmP1gI80udoL2DeLMo43EffsYC78cYbxYFBwnj9jLwI52U4PhgCo4ahl3hm8cR4K92VWWGgwsDwYKBi0sOD5yEvJSKSKlT+odbkIBYSFZMpEhaq4ttuu01IXDDDnXfeOTG9ffbZR5we5tqVkyaGyanrPffcUzDG173udXjrN7/5jXieMyISI/j85z8vmANSNNIb+8obbbRRYsgwV8rgsNMf//jHJH1HNA8swaBLho3khp16wmxhvqTDDzsMiPxhQJRBW1DrEidVapT+B37AF/3xwx/+UGhE1l9//dQfnCvg06DbbrttOnCG9oH+5TQ42gsYL3EPP/xwbbbZZnrve9+bXn5j4UXfoA5Hlf7Zz35WLMJ4+QygDwBQTtlI8tQDdwUVBioMDB8GKia99Lh+VlMywUY09x6pCIySL0jBXNm3ROJFrY1EhSqaiRZGyN4xaXGjqoYRMvnihx1/JFnsAM9a8lUr3qHmxSzypyzu8CJNk65MT9wjjjhC7JnyVjXSPXkRHhGCaURE2o/Gj7SUx6Liyiuv1CWXXJIYCH6kIz/Kwg3QTqC/HffKDkiwESEYKowUCRdpF+0Fmg/C99hjj7SY4nxAuahh8YYmgn7GD7xh5ytkbImwEAK/mDxbOs3bEdzLft/73qdvfOMb6fwA2xukW9lxXLWvwsBIxUA2UitW1eu/Y4BJN6LJpJlEYXpM1EhKqJSPOeYYcdCIfWY+akF8JFnUzjBrJmeYJqWQlokeP4CJnY9l8L72oYceqle+8pXCZHLntPHJJ58sXsyCqZK+hIhI73cjrcMsvva1r6X3qtkHL8vAhDmTBgbAhzlg/DBl6olUh9RGOEyaumKnjZijEcAB7efhGRY0bEMg5dIn2HlqFCkbHJb4iYj0ehy4pj/JAzv9z94/e9XsTe+7777iwx/HHnusYNZ8pYsHZ7j29c1vflNI6vQZ6SKa460sozIrDFQYWP4YqJj08sfxcimBSZuMMSOakyeHrZjEubrExArD4yAQKlCYL/F7enowEjCpM/mSx/Oe97zEUN///vcLf1TXH/7wh8UeJ6pT1KzXX399ukZFnKuuukpbbrllUrlTFouAiGY9YLI8XgIjoVwm+9NOO00cTrv66quTxAxzwZ88YTCUFxFp75X6oOaGsVDRiEgnn+VfRCQVu62j5g98gAvwipai3C7ga1vgHU0HcegH+hs/GDKAfwmEoelg/5qFFAcNX//616e3wzmrANNmWwMmjeaE/uPhGdJTdkSkq3sl4skfbQtAnNK/MisMVBgYOgxUTHrocDmsOZWTYkT0SUw87cmBH/YfmUDf/e53i8NGMO2I0FFHHSUmXhgn6YnHHvScOXPEpE1cvlCFhL333nvrZz/7mQjniUom9912203vfOc70wcyYNp77bVXmrTJb6DGw3jZu0bSg5EgqTGhkz8MvmQQSIioXyNCSOCo65H+yJN6Yo5miIjUfPCHWvqMM85Ii5kNNtggLazALYyZhRF7zeAMpo4mhMOEEc30HA7jIBnS8/Of//z0Rjgvmx1//PHiwBiLOt5Xp49ZoH3iE59I2hgKj1j0SVHyZ3zhz8IAwA93BRUGKgwMLQYqJj20+By23JgYKYzJsbTD/DgchOSMH5M0h4ZgohGRPuIAE4yIdJ8ZtScTM4wTVTaHyzhERnwmfa5n7bnnnsKPvFA/EwfmSxjxIqJPytViP+pGecSFKcBMeJAD6QzGTD2R0MiHvJESMfGLiLQAiEgMZrGcR5cT/NBiGCMHAtk7jgihBaG/I5o44t47h/nAH/EjQrjRjERE2qJgYUV/RIRY1NG/LMg4q8AiAMbPGQb6h/5j8TR9+vSnaC+oD8AYKSGiWQfKraDCQIWBocNAxaSHDpfDmhN7yEyiTJYUzGSJyQSNX0Skg0QR8TQmGtGcUCOajJDJn0NGTOYAeZAffvIPJm4jSeyEE9a/bMIGgohmOSwYYCAwYQA7eZeLhDXWWEPY8SNumVdEM33pHq0m/UnbwQ2AnT4AX/QddkzCIiIxVNIgTdNPxCNNGU5YRKRtDfyJAxCffig1GWgzOOnNOYcvf/nL4rYAB88oD6BM0gMRgVFBhYEKA0OMgYpJDzFChyu7csJlsmTSBSgbM2LRhBnRZMT4E85kDOAmDyZdrvSUzBdpnHiElyZMG0Yd0ZTAIyIxbOIyUZMfcRcHFhLkU4ZHRLryRX4wAqRsGAhtAMp4ZT64SV+6VzhziCrcHzfghGzBO2ZEs6/BNW7wBWAnLoAdP+z0c0QkLQW4p1/xpwzyhFGTFxoNTA4Q8lEU7lLzUhx3qzn5zb1rJHnSAqSlnAoqDFQYGFoMVEx6aPE5bLnBYJlgKRA7UNqZkAEmXCbQiOZEjp04EZH2NCMiHebiOs/FF1/cJ3GX+ZZxmaxhrBHNyT0ikrTGxMzkHhFEfRpQfkQkhh4RKU1Ek1GXkSMilRsR6v+j/rjLdmEfrRARfVqRiEgMFryDD/BDf8Fw6V/cQMRT45VxSRcRqU/Acdmv2IkD0G/khSSNncODHPRj3xpVOS/R8QY7Bwh5OAXgERvSVlBhoMLA0GKgYtJDi89hza2cYMtCI5qMjomYiRr//mZ/f9ISzuSMJA0jZmLGTViZLiLS/jVxIyKd5pZ/hJOfrf/1LyL60si/iGYdI5qmvfr+Ihb5kX/EIndfpFFqoU8imvgAN/3RQBjuiGZ4ae8fr7SXfQbzLf0iIi2UesPEL6KZF9qSiEjhnEVAmj711FPFlS2kaz6cAqASh1nfdNNNaQEo/xhPgK1pYcHYwg7gz5jDzmIPEz/MCioMVBhYhIGKSS/Cxai0IYUxySM1gQAm7mqyBBMVDIQBmDaHCGHSv/3tb/WTn/wkAQcKUYFzghyGzQl0HtLh5kCZD2MLe8mUWRTAuPGvxhyYqaDCwNMxUDHpp+NkVPnApGHQHOaKaEpPowoBVWMHhYGSwaJe5+YA1/IArmzxhjhXuLivz5vwPILDy3eoyh988MGnlBPRHGsR0bcNEhFPiTMoRxW5wsBKioGKSa+kHbukzWLSRaKJqCbIJcXZaI7HWKH9SL6MHSRhAD/cXOt6+9vfLlTgn/zkJ8WVrjPPPFM8NfrpT386vQnPXX4kbOKX6ciDPHFXUGGgwsAiDFRMehEuRqUNVSMNZ8KMaB4oiqgYNjip4OkYiGiODRgqYwYTiIh09oDT4zBy3hl/2ctepi996Us6++yz04c9eJb2u9/9rng8Bab9ox/9KH0khPgRkT4Ao9H1q1pbYeB/YqBi0v8TRSt/BCZZJlxaikSDWUGFgYEwUI6PiEgfTIHBAsTlIBhqcOycc2ABSHz8t912WyFhI03vvvvu4jYBr6cB5557rrgKyH43aSuoMFBhYBEGskXWyjYaMQCDpt2c9sVeTrj4VVBhYHEMwHjxi2hK1NhLYAxhj1gURnz8I0IcOOOEOIya75XztCyfWOWQGdI1T5ayf33LLbckqZrzEjB5FpCMzcWBsvAjHDtxAfxwV7CcMFBlO6wYqJj0sKK7KqzCwOjDAMw2ItIBMVrPQynct4Zhf+ADHxBXujhkxqdPP/e5z+mkk04SjJzPl5bqc9JFNPOICJzpWld/hsyCICL6roClSNV/FQZWcAxUTHoF78Cq+hUGRjoGUH33ryOMFekX5g3wfjz71zBmTodvu+22+vvf/67PfOYzOuWUU8S3yWfOnJmYMpIy6nPyi4h0f7vU/hAWsehev6pfhYFFGFhhbRWTXmG7rqp4hYEVAwMwZQAmiglERHoitlSFIwXzZbQDDzxQfCaTz2nyhS4+r4kanOdIYeAw79mzZ6cX08gHDJBvybjxA/CvoMLAyoCBikmvDL1YtaHCwAjGQEQkVTeMOCKS9IsdVbb8iwj/3/yDwcK4+b45n1XldDj71Hyp6+abbxbXuvh0KqfEL7vsMs2aNSvlR5qISOU0c6r+rzCwEmDATaiYtJFQ/VUYqDCwfDGAWhsGTCkRgZFOhyMFAxFNv4hITBc/+YeqnK+kwZhRf3N1i8d3vva1r4kHVPg6Fy+dlfGdpPqrMLBSYaBi0itVd1aNqTAwMjEAs41oMuL+NWQ/Gak6ohkWEUkaxo94mKTFzgtnBx98sLi2xXOkRx11lGbMmCHU4JwO/853vqPLL788+bEoYN+bhQEMvL+JHSDP0sReQYWBkYiBbCRW6r/XqQqtMFBhYLRhAGYKs6Xdq622mvbYYw+xT83eNRI2DBv1Nx8AecMb3iAY9r333pvuX8PoIxY91BMRZNN3EI28k0f1X4WBEYiBikmPwE6pqlRhoMLAUzEQEUkNjuQd0WSy8g8GXErY3/rWt4T6+0UvepH4Qhcf+kAl/stf/lJXXXWVHn/88cSYnSyZSNqkr5g0GKlgpGKgYtLD1DNVMRUGKgwMDQYimky6ZK4Roa6uLiFh77jjjmmv+mc/+5m++c1vapNNNknPkh599NE65phj9Otf/1r/+te/xBOl5WEzVONDU7MqlwoDQ4+BikkPPU6rHCsMVBgYYgxERJJ+YcwA2Uc0/ZCueVIUfw6VoRZHQuZrXBw4Q/2NSRxU4zyY8oc//EFPPvlkyhN/8qugwsBIxEDFpEdir4yYOlUVqTAwcjAQEelQWUT0VQpmjNo6IlJYX4At3J2GAXP3mlPhSNY8jsJ1rksuuSS9bPbxj39cf/rTn5J0PX/+fKeSYPYwekwAT/Lqb2LvH6eMh38FFQaGEgMVkx5KbFZ5VRioMDDsGECS7l8ojBt3qc7Gjh+q7yOOOEJvfetb04nwk08+WXPnzk1f6HrjG9+Y1OR8sWvBggWJ4Uc0JXXSkxdqcUwYMkybPCOacfAjXgUVBoYaAxWTHmqMVvk96xioKlBh4JkwADOFwU6cOFEcMINhf+ITnxDSNtL1T3/6UyFdX3DBBekjHzDiUsLGjtRO3iwMYNq4IyIdalP1qzCwHDBQMenlgNQqywoDFQZGLgZQgVM7GDbS9ZFHHpleMvvjH/+oE088Uauuuqq42sV74jxJyknx+++/P324A+ZMWgB7RGBNz5Si/k6O6r8KA0OIgYpJDyEyq6wqDCw9BqqUw4GBiEVMNaJpp9yIEFe5DjnkELF//eMf/1g8nDJ9+nR98IMf1Gte8xpxxYsvdc2bN48kSXpGuo6IPruqX4WBIcZAxaSHGKFVdhUGKgyMXAyU0i5ScFlLJGpeNcPkKhf7zqjD+WTmV77yFb3zne/U7rvvnq5ywayRrs877zzNmTMnZVGqvZOj+q/CwBBjoGLSQ4zQFTE79tWQCJikyvpjB3CXE1vpxq+CCgNgYEWDiKb03H8sM/bLdrS3t6fT3TBx4qy99toUCfUzAAAQAElEQVTisBn71JwOf/3rX5/CscPE+eDHlVdeqZkzZyZ1eJkPaRe39/dbPAw3dAZgHwig0zIPTGCgeJXfyoWBikmvXP35X1vDgRkIG2JnMsCOyYREQiYr/Pg6UUSkE66lnfCIwKigwsAKi4GI5hiOeKpJgxj/mBGRxn5EpL1m/KGRrbfeOl3bgkFzwOzlL395kqY/8IEP6NhjjxXXu+64447ErKEr8oJ+MKE96A47NFaGRwReifHjT1nJY4D/qENEM35EpDoOEK3yWskwUDHplaxDn6k5TAAQOZMFZhmPSYEJo7+Juq+cUFADEpc4APYKKgys2BhY8tpHRGK60EREJGYaEVpzzTV1+OGHi5PhHDLbf//9dc899yQmzjvifADkP//5jzgZDi1Bc+QBDUGL0Bu1wA5EhIhDuJ7hR7z+4eSL3zNEr7xXEgxUTHol6cj/1YyISFLBTTfdpEsvvVSs8CNCY8eOTf4RIRg4zyXefPPN4oAME0BEMx2TSkT8r2Kq8AoDKxUGIiIxT/kHPdhIEiz0AFOdMGGCnv/856d969NOO00/+tGP9KpXvUp87IP968MOO0xf+tKX0lvi7GGTDiAf9rIjIuUHw8VdlkH44gCD7h9O+RGxeLTKvZJhoGLSK1mH/rfmcCjmn//8Z3rI4ZxzztFdd92VPjoAsfPJv+nTp+tXv/qVPvrRjyapgLyYOMpJBXcFFQZGEwZYzNJemCOAHYaKWUJEk1GidZo2bZpe+cpXprvW7GVznes3v/mNPv3pT+uHP/yhbrvttpQMhkt8HOQLDeLGxG8gIAxaJH4ZTj6lvTJXTgxUTHrl7NentQopGan50EMPTY84fPvb306quXPPPTc92oDKjoMwXD1houGhBzJhUohoTkK4K6gwMJowgIq6bC+0gB2zZJSYMG1MADtxNtpoo7TYRe196qmniqdIuWv92c9+Nn1i82c/+5luvPFGPfjgg0mdThrSkgf2gQAGj/qcsDIudcFdwcqLgYpJr7x9+5SWMdmw6l5nnXX09re/XWussUZSc6PeRsJmlY7UMG7cOL3nPe9JDzpERJ+qT/5FVMzaaKj+RhEGSiYYEUktHbHIBA0RkWgkoukPHck/0kWEVlllFe222256xzveoW984xuJcW+xxRbpa1zHHXec3vzmN4tPaT7xxBPprnVEc3sJZg0jdlbpb+HCheKw2hVXXJHqAS1HRArDniz+j3Q20nYW5rMPVQ2WFQMVk15WDK4g6ZGkmUCYPLgDuu6666bP9eGOCM2ePTvtSTOh8Mm/FaRZVTUrDIx4DEB3MFy2jp7znOfoda97nd797ncnjRZ+7GPzZS6Y9UMPPdTHrMt0pOWVtPHjxwvNF9e9UI3jD0Q0mTWIKJk08XFXsOJjoGLSK34fLlELYMYQMADD3m+//VK6ksiZAKZOnapXv/rVYgJIgdV/FQYqDCwzBpB0YbjQFXa0VdDf1772tSRRw6CRuP/+978nBs7HPjgbcvfdd/dJxNApmi6+hc3jKn/729+SRB2xiEGXFYXGKad0V+bgMTCSUlRMeiT1xnKsS8mkI0Kovrfffnuh+oagAdTevKrEXhoTynKsSpV1hYFRhQFor2ww9ohIV7mQdqdMmaKddtpJ3LX+wQ9+kL7IBf2xj81XuvBHxf3vf/9b06dPF4+tcLXrq1/9qriTTX7QLxI5Ju6ISNK4qt9KgYGKSa8U3fi/G8HKGiIuY3Lq9IADDkiTBYTNKn3PPfcsgyuzwkCFgeWAASRiICISI4UmkbBhzBGhffbZJ13Zgkk/97nPTVchP/axj+kLX/iCZs2alc6R8AoadvaoUX1Dv6QnL/lXmrZWfysBBpacSa8EjR3NTYhoqsUgYABpmvuc6623nhYsWKBtttlGz3ve89IhGCaR0Yyrqu0VBoYSA9AbwEIZhgrgBigHf+z4Y+cWBtI1T5GyX33CCSeIg2WcG0GShl7HjBmjyy+/XNzSmDt3bh/DJx/yrGgYLKwcsFyZdDlgMBl81cB59gZNRCQGHBFpL4sJgQNku+66q9iP5jALk0NEUxWn6vesYICT9tAKQAVKE/uzAdAu5aJOxaxg8BiIWERzEc9shyaRiJknMXGziOZzmiVjLsdDRCR6Pv/88/Xd7343SdikiWjmj13V71nDQEk3VKDsM+xLA8uNSVOxiOaEj53DSlQccxghnViuyqs/Ix44zQ2DRoqmn7jqwUCqcPbMOFueuGFyJX9oBaAvng2gbMZDRKR7vNQLRk3dKli+Y4P+ZvsJNfjDDz+cvr6FHT9wTz9gJx7+l1xyiX73u9+l2xqcLYHJE4e4FSzfvlocv+C97IPSjAi6aqlhuTFpVoElkXPw4ayzztKZZ54pzArOGjF44IEEJGg+vUe/cMXjjDPOGDH1o06jBX7729/qD3/4Q8I9p3t5/AI6WmrqXsaEMOoyiwsvvDCdRB4tffFstpN58pxzzhEPofD63y233JK+db3FFlto22231S677CLOjxx00EF62cteJkz2qP/0pz+l8QPDZiw9m20YrWWD+7PPPjvRCi/N/frXv9ajjz5aktFSmcuNSVMbiBxgdbH55punU4zbbbedKvgfOBhGHL3whS9MhM+eNP3CO8Q777xz1UfD2AfgHaAvMNFqQNjcmYWOng2IiKROhXaR2ubNm1eNiWEaEzvssEMfTfKlLd7+/vznP58eGXrXu96lt73tbXrTm96k448/XrwPzjOkBx54oEom/oIXvKDqq2HqK+i1P2y77bZi/nzxi1+sHXfcMb3myKtyWobfcmPSSNGoyKjb5MmTxQQ0bdo0bbbZZhWMIBxsuumm2mijjcQjCyyk6B/smBUM/1hdf/31xR4kB4NKdRk0NNyAGo8yUadGhLguxFipxsTyHxMbb7xxokeuSR588MHacsstteGGG6Z5kzDGCHvVa621llZfffX0euAGG2ygrbbaKsWBfklT9dXy76vFccxCifmUPqIfoGMWutDS0kK2tAn/V7pSTRcRffuh+CFZV1Ckq08jBQ8spgAWVhHN/ZOlqNuIatOKWn9O3Uc0aeZ/0djyDKceSNCUAd1GRDqctKLidUWqd0QkWopojgNok4k+ItL5ABZQ/Wk1okmzZRzaSjhmBcM/10Iz9Bn9FNHsG/yWFpYbk+5fIYicSjNg+vsvib1Mw2GIiOYgjWgOYgZiRKTJI6KJjIhFZpmmHLwRkU42g7wyjPwjIlUlYlFenLKNaLqJU5YVsagOi+dBHPKOiFQOmUZEIjjCIiLVFf8yHnlHNOMjOUVEih/R9CMucUhflhcRKZ+IILivLOIBEZH8IiLlRaSIph/54C7jlfbSjQngP5ohYlE/84lB9mRRW9EH4CciEnq4FjN9+vR0hzUi+vqFT33yKtTjjz8uxhKRwX1EJBVYRNPEPyL6+gs3+UMzjBFM/J4NQHouy42IZC3HKHigfhGR6k6diYAfZkSzfRFNnNB2wiKa7ohIYzOiaZJm8XDS4A9ERMItdsqKiLT4x12mwx4RGH11iohkj4jE4AiMaNpZhEREXz0iIh2+iljkRzsjmnlQLnWKiFSXiCC7lB5/HGV84pbzDnbCIyLVhfoSF4ho+kVEXz4RQVCKy7xJWjQa5MN4wC+iGT9F9H+ElXHsTGkxRzNENMcgOIiI9DET9sqvvvrqPhokDPwyFjik19HR0Ye7iBDX2/i0L/fRwXEJZT+TFr+ISOkiIo0N+hgpmjCAcpYWhoVJL23lSBcRafAyOMsJAv9HHnlE7NmVhIAfCOuPvIgmMZK2DAdhDHL8sJcm4aTFJB8QjBkR6Q5iRCTky7+ISHWKaJrkUaZlQufAD2mpG51FOGXhF9FMA0ERHhHOUWkCwQ8HcUmHnTSkx069CSv9KBM3YeRFvIhmm4lDWESkumInPnkQHzdxsI9qeIbGg3/wCY6uu+463XzzzYLpwqj/+Mc/6t577xUHQ7jLynOOjEW+IHbDDTeke+f4MRlwoIfDJNgvvvhinXbaaSmve+65J70YxSGTO++8U7j/8pe/JCZB3wBl+c9QxWfFG7ooFx0RzbHGuKIy4OrJJ59MuMGP8VyOS9pTusu4tA88E4YfY5N0EZGew8QfIA55E780yZf8SIfUjxs76YmPSXzshNFf0GWZH3HL8NIkDYcoaV/EIrohLuViEpd4Ec1w/MiTumMvgfjUj/LxIx0mdcGfNLiJR37Ewy8i0mRPWAkRi8oq/Srzf2MAnIJrYmLnhTbGJ/fLWUTzGAx+0Of73/9+/eMf/9ADDzyQ6Bo6Js1NN92ku+66Ky20OdDHl8sADnbeeuutyf/666/X9773vTQ/XHPNNfr973+fFgEw/ohl77sVgkmzkuHVnQ9/+MMJkTT+O9/5jpgs6YSIoB/SQReIpf9gB9ElEeNfQkk0JIxYlP7//u//0gGNt771rfrKV76SHhGgPOKTlvwoA7+I6CMowvC/6qqrxGfoiP/JT35STAyUAUREYvjkIf+oO+kYMEz2tI8TmoRTZ65DkQ+ETd5OkqQH/LBD4BGBNe0Zki4iUhnyDzdxiB8RCT+UF9EcOPir+g2IAfBPH4OjCRMmpAUhXw5jLMJYIUr6hf0npGUIlsNV9913X7p3vv/++6f9QZgyRMt9Vhg3TIAnHmHanKJnrODPxAFz4LEKKkS5mBHN/sU+EiAi0ljjDen3vve9et/73peAcc8Y/fOf/yzGMHbGH2McM6LZDtwRIT65CP7AM3Gx02bsmPjTXsYrbq4Z8Wb1hz70ofQiF3guwyMiLaCJS/qyDMJxkzen5ukz/L71rW8JzQhhEZFoivKoJ+FlHzDhQpd8FQ4JjPEQEYmOqFMpNEQ0y5d/+NtIcSKa/vhRh5IWS7qmvkBEpPjUB4Yt/yKaaW3tm2OwV7DkGKBPwWdEJEEFKRmmC/4vuugiXXDBBeIpVvqAT/PCwFkwYyJskZ5zAWiUeFSGcc3tF8Y4b0swJjlFf/rpp+uyyy4TbuYHwqDziEhzcURz7Gspf9lSphu2ZKgZPv3pT6d3pjlFd+2116ZJggowqWEy+DEBiCEi0sCGOCA4OgfChQjoEEwIknR0IoA/6ZlAeRuXQzIQKZ+TYwIuy6LjSEe+mKQBKAszItKEgX3bbbcVj+mTP2VGRBos2PHjgQImdiY6Dtdx+IOrULwuRDgdTRnUnfzww07dAeyEl3WjDrSDeNgJx2RyKdOjviEN/vhVMDAGwBl9DG4ZP4cffrhmzJiR+pZDIZzchDkz3mDiU6ZMSdqQ6VZ9g2NW3wAHe4jPBxQYUxygpET6mKsz06ZN0zQDD8vwDGREc+zSh/TlM/QTWTwrwLhjAmMBWp5gBRdc5aNCjO2yztAK7WAc0hbCMSNCkyZNSh9yAX/4MxEyLrGThjxIjx95osVgYgXXzAFvectbkvqS+GVfkTfuknmST0QkGiQdeRHOF+DAOWUAlIM/daC/AU7Xc3KadCzEuEbK5F2WhrPe6QAAEABJREFUgYlWgXTkSz74YULT2GkbeVI/TPwA6Bo8Epe2RUQaV+RFXQjDTtyIwFrBUmAA/JGsHAfQ4kc+8pF0+po+Y9ENE+ZDJsz59BFfAORDQ9An6ZGaoXvom+dYoWMO7W299dZJY3axtWOcpqffOMgHrXMAlzJJTzn0M/VYWhjxTBpigVBe//rX68gjjxRXEBjEDG4AO2pCvijz5S9/WaywmUSQYEA+hMK+IdIPKygYLo/Ts5oGwaQnn4hIDDQi9IY3vEFMAqzakXJYcTHRoOrkGb5vfvObwp8OoCNQmeCPZITkXHYQDJpOZ9JgJU65rOiZBOg4wmkfaY4++mi9+c1v1he/+MV0WhMGzsqMsn74wx8KlQplIQEglSEVsIhg4qIeDADyYlUHU0F1Az5YKcI4iIMqB9UtYah4aDvpKng6Buhvxg6MGoJkgchJ21e84hXpbuqee+4ppGWuvhx11FEiDvdXGaP0K0yApx2PP/54HW8gLkwZQn7JS16iQw89VDC5//f//p8gaj5uwgdP6KeI5likVrgxRwpAK2gBePv9pS99qbj+A7z2ta9NVYyIxHCoN4wVOuMKEZI29Me9UVT7RGb8QVtI1fh9/etf16mnnirGN+kJZ/IjbkSk+8BI75/4xCfEogAgDFU2GgloBTqHTkiPP9ow1JTkT18SxnxCO+hfpCLi/PznP09bDZTHZA0tEQ+6pI8+85nPCFqmTjBs6skcgxaMvJiDShqnDrQdf+Kz5YF6lLKhQeYBJDP2QAmf7oXdOeeck7SE3I0GT7QLIA2AvYLBYQC8RTQXOdg58b7mmmuKK27QLIswvkbGNwy4b844ZgHHqWxomfGBHTrlwSe+EEh85gEYNnMBH0A54ogjxJfLyHevvfYSTDwikqBIucDgav7U2COeSXPlgEmPiQ11A4MaBgcRYsLwaBLExB1f1FOoG2BgEAKTLQQEobCChQmCyBNOOEHsScAIyaNEJCYMmLIgmOM9wdIJEC12Oo7OgbCJA9Okbqy0IGJU8BGR9iRg3OTHXiVqEDqZ1RxMOyKS5MV1G/JHUqOetJW2sUhAvceggOmfcsopYiXPxMBkBF5YtaF+YT+U1Tp22sPig/rtvffe6frGO97xDqHGYYHCYKQcpAPwVsEzY4BJllAYEhM8K2/GEAwbP5grzJmVN/2KygwmHBFJ1Q3+CeMOOlczIGzGA2nRmpA3VzjoCyRLmAJjmjGOlMY4ID7xRgpEhPbYYw+h+TnwwAPFN5AB6gxENCcnxjjjFVrZyxMXY7atrU08zAHN0B40DSxsYYpok9A8sUBGm/TPf/4zfa2tbD9x2CdkkUt50ByTJ2dTSAMTPuyww9ITmTB5Fr7QD3QCLskPGmFBwEKWerDwRW3P4pg+YmFMn0PjaDWYdKFL4tHvjAEkMTR7TPIs/plHoC3OJ3zuc59L16DQlkBjLIRh+jBsAPywYNl3333Too76ggMYPXMAz3tSj3I+imjiEhxEBCirYBAYgH6gp4hIWhv4Am7GLnM1UjS0SH8hDeMHXTIOoXXGHHG59wxt4g/TRppmPEyzBgy6ZnwRh/FCHlQxojm/0//M3/gtLWRLm3BJ05UDDIQtaZr+8SAM9oQgeogJxgqi8YeYQDwrGyZJEAhCCIe42H8gLyRdEEgdYIIAq1gmUFbFECZpIpqEAJFDyEwWrNyZRIlP3kzMSOowSA4TsVqPiPQKEMSHJBURaRVFHSmfjkI1yiTNCo1OhhDLck866aS0Smc1hoTMgoJJhMmNOsMUULkw6aEW5YGDUipjgF155ZVpCwBJHyYMMyYN7aOtqN9g3NSD8pkQSUf51G9FBcYWENFcFIGroWwLY4L8AewRkfYO5R9+4BMTPBKOHbME3BHNseAk6Y/+i2jWFw/yYFyxmGQSJw35wVCYJMiLeCMJGNc8pgFNvPvd7xYA86SutCcikooZyQSpgokMOiWchSqqRNoDc2ILgLFNm6EPFpwseFEzEgcAP/QtkvP3v/99QZtINkyO0Ap443lbcMYcAOOGccJ0WSgh8TNHUD75gWuAdlAX8i4XW4TTBsJ47Qt6p6zPfvazor0wbOrMHICJH5Iw9ecdfGiW9pJ/2QbCDznkkPSpSRYTTPyE027mGspn/mIegC5hHBGLxk1EUK2VEmg7wLgvzYhIWk36FX+AMGAwSKBPiB/RzA83eQHYy/GAm3gAdsIA7GUcwko7fUc445I4AGHwI+IxfjDxo87Exb20sNyZ9NJWrEwHAlhdog6CgSG9wrDLxqPaRaUG82aiAIGEoWqEkULYMC+kbFRNMEeYGAyWfCEqkEo5pIuINOmgkmKFjqqZ9JQJs2MCIE/yZwKASbPqYqVFHpRJ51B/8mOgwbj3tHoU9TkH4CBsJgHiR4SYlH7xi18kVTd7fRxCYMVP26jrfffdJ6R4JjHqARFTBoMEFQ4Hk1iREx8phwUBq3wWKUwQqHWQ8ojPapD6UjfKp54rMtAOcAxDgxhGWpuoz+JAnRlzmITRlyWBrwh9Qb1haiwOUV8D0CX9QP0jQqhsoSFoFlUvbtoKE2VssxWFdFmOV8IZw0jLMDnGK/lFRFrwUiaSO7TO1hfqbfb+YbJoIaBLaAWaRsJm3xoaY5EK84YxRjQlqoimlIO0TDmo2dFUoS2jjhHNRRQLjO9///s6+eSTxfzC1hILZfJjD5M6o6WCkUNbLEQYgwDzCho52ghjpp0wZeiXLSf8OChKXYmPBDfNkhn4G21A+2lzadLX0ARzeUSz/wnDj3jDDYyJxaGsI3WhbtAv9cUfv6GEYWfSizf2f7lhrDAcCJGVKh1FmogmwUGMEA5qJ1a8JTEisfC8Iit3XuIBaTA3CBcpG4DxwTwJg3lHRJKUkEAhUKRSJh/2zZB+6QRUJOwnUhbSOUwPpot6jXqi5oIQI5oTAcRLOuIfc8wx6W1dVtiUR1tIV0oPMNyIEHVEbcLigDogkSC5UC8GBHkyGLAz6TFpIB0TTrsBJjgke9rJnhqTKgMJ6UL+UTZ4XJEBPEQ0idhNEtINkz9S1EAAExgJwMKOSZpDkeCfPmGM0Ce0YyQDYw3cPvbYY4Im0NgAEU16hHHRDsY0+9AnnniiAPYC6S/aCR2iioYOoCFU0oxNFr4saNnfhq5YyIAf8iMck0UwhzlZIKCqZh8fGmLhicRMWdA94x06ZIELI2fvmbqx0CYv8sbOAhZmCZNHqxYR6bQ3cwr9AuOF8ZMWO1o1Fgdos5gHaAdtI4y6RkTqPpg/kv7b3/72dDCQNiMtM4+Rls/Eojmj/SyuWWSSELomn9EC9Cn9EdFcGNFu8IuWhUVXSc+4sY8E+qUO1AWAlpn3GdfUPaLZ//TlUEE2VBktr3xgNqyeOTDG+7UwLAY0G/wQKAQZEem6FKtdCAbmRTpUu0ifSLxMEBASajEkWvaP2DNGFQ5hkCdtgJDIF6SzumXSYMJhIkH1zSGUL3zhCyI9EwB5o+5jb43VPWUwQTD4mHSYDNiPJg3SMmovJqCyjoQjibAHTXryoo4cVKH+lENa9rWZKFj900bqyqCgPAie+qMqoy0sTJgU2DsjLftlTATgjAkVXBCPOpLPigrUP6JJFEgpSC0sbGDWAwHENFIAqYy9VaQ3pD36EhjpfcF4BYec14BZIoECjEHGFHQCzbE3z+KYPVj2Wlk8M+ZpI3RBXGiB8Uv72Z8lLmplpG/6kbj0MeMVaZX9exag0CdnUGDSlMMilIU0tMJhSdLus88+Ig4HvFCPM+6pD/UoTTROnFFBrQ29QHcsnqF9yiQtUjR7y2jAoEcWw0j6tPkb3/iG0BLAZKgT50simkweZoyUzfyEcEG/sqA+9thjRV7UlXqxgGCegVmDB+INCaxAmTAW6GvGVkQIwYu+Yb5jsQQts6DCztgbKcAiDm0lGlzqx1ilHUON+hHPpCF6mCoMmsNQTAwQOyovpEyICyLDH4JiVQyiIDQOA0BgXBGB6EAeTJ6JgLjscUP4+JcI5qQfqiokBhgfxEj+5MdE8qlPfUrcof7gBz8o6sYKHikeZghRcvKUMiBc6hIRgpFD3JwEhPnCZBmQAJMMe+5MLgALAdTfqMeITxj5IvVDxDBxwqgvbYoIEQajZ2Ki7UwGMGjqyEqfCZT6szggLvgjHsRB21dUAAfUHZO9QjQJaEbQdiwOLGBGCiCNMQaYwJEQqD8TUkRzwUGbRipQV5gs45JFLowMgDYYV4xNDnWx/cMhKzRA0BnbOIw3xh0n2dFQkUdEpLukjEuYF/GRMNFkyT/iky/h0CxMNCLEuCZ/mDZ25gbCyROmx8Ee5ghuffBQBQdK2b5CuoUukHTZU4aeoDOYJrSMFosyWWhAszBxaJs2oN1iLiE/wkjLATLoEj+keFc5qeehTbRYLJChf9zQIHMWcwR1RbOGNoJ5CpU7YyJi5I8B2jhUwJgA5+QH3pFSGTssbFhYsXgBoGfMkULD1I0xSt8zPjmYyNiEPmjLUMKIZ9IRkU550nEMdJCAlEznAnQsAAHhTzjxQBJuiBUThhsR6ZQf6fAHucSLiHRtBDvpAeKTL37EJy5+uFkl4weTJQ4dRZqISCe2sTPwyjiEQ6BIDRGRiJh86FTyxc7kUdpJFxHp1SXSUi5htKsMo02UT1ryYVGBm3jEoV5MYKQFKD8iiJ5Onpdxk8cK+h/tpOrsccLk+AgBOAIXiwOLJnA2EgBVcUSk+5pIDLSB/scc6QAeGVuMM2iyf33pj4hIhxhRNTPuGIPEIR1poA36in7AXuZFGPmx0MKfNBGRDhBhJz0m45i4pMcNREQa09BXf3/ognHOmCAeZQHYAfIhnHT4Uy5mRJNOoGHCiQsQTl70FWlIT3z8sUc09+KxgwvqHBFpbiEOeRCGyfxTpiUuftS9jId7NAA4oJ2Yc+fOTa/wIXiBC7R/4BBapi+x4z8SgDqz7YPWhsU22la2r8q+JHyoIBuqjBbPB6SXflQcN1D6LamZE9EDHYMBHhGJaeMuZGKyO49MPfbIay1q2IyWppm1tj7FTVju+EWWiTjegE7hpR/+2AHiEgcTf8wScAO4y7jkhb00CcMOYCc+gJ14mC3t7al87HKdCtcdyGo1YbYRnhsDrrP/l8L1drzcgeBC/kVE2sNmQgS/AIQeYdw4vP8kE9H0Y6JzUPqjb4gPkDZ59v4HUWCNiLRPFxF9kyZxSUs49ohm3hFNEz8mNMIjIi1eIhalx39JoXB7RV8nUPpFhCLC9Wro7rvu0YTxk63Z2ETdXbnyegwIDQ+S4YZ6t1Tvdp16chUNN6QI3XbLXXr+c1+gCWMnaJ0119UD99/vttQVyp+CJ3AYEam9I+W/cjxFPLVejJ8SqCuMDBM/TMZcRDMNDAp3wx1b2I/xnNVa0piX3eExThqgTF/rpeWShqKXxktagtax41/GaWlvF379aRA39FbGIT5u/EvAXYaTL+4SyryIix/u0o67bezYRNO1tswaa7QAABAASURBVDaRlrDUpmbrEsOmXf2BNkJLmPR5/zDsA/nh/7+AdDA0TCAiEv1GRBpnpCccOo1o9g32/nXBHbEoHfkQTtrBAGlISxpM2opf5rzFADBp/N+1N2jWE3O15mrrKO/JlBWtNqUG9FPPTdOFhpt++8ozHec94ToYbC6ct1C3/vsWbfO8F2irLbdWWzZO1197o8LtCMY1HAmH0sxNs5casqVOOUwJ3d40sOjY/sDg6erq0s233KqeesODTo634gK8eCAIM+a6B2jhvqb9oP2BBx9Mb8YyyEs/TCAiFBHGhQd0A7wwdYCXIvkRpz8w6SKJwpAjQlmWiXzlH4wft63Jn3QsDvDDJC1ETvyIZrmseolPXCZiwugr4kdEyieiGTdiyUwVoUbq42ZbyDOi2ca2tlbdO/0+sd/e0+02E28EgUy04LanXvfislWPPfqE6j11rbfeusaztNbaa+u6a//P7culGPHk2DeG5B99vEzgJheeoLt7esSYttW5KuGlYUd/yO1uzgVyHVYsyF3xHo9JGge+IiI9nMLBKGgvIgRNRYTbnvfRL3GBiGa4BvmD7qBhaC/35IJ2g3LIE9qMiKT1wC+NUfcD/riZWzFxR0Rf/Ugr/yKWjHYjmvHIizwjIuUl/5g/sqzmhXbd81l3er+eg4GtrW1JM9Jjmqkbb3XPY3XPgY0EntPs1xhmqKe61E27jdQ/M2fO0hgvyDbffAvV3AbU3zNmPOZ2WBKQ22woPGmTzk1dpr9smVIPQ2KP716iLGwuAgYPpwCvveZazZ+/QI1GLv+ZYfeskFCv93iwDgQND9hutz2XPMA7OhbqqiuvdNx6ImiIrzCSSmBQ9Pcr7XqGH4TcJ9mYGHBzPY09lohw2T2pHAiKsDKbkhm3WWIgjPLxQ0UYEWZILSkq9alZM5D1Mn/yGCzkHuyRRVL/M9FQHipTyqSQhgmI/TzCaO9IAiY/2kudIkLz5s1NT2Laqjlz5lkDMD49N/rkk0/InUxzVggA98sK9GnDzIMxctNN/3HzC4/r3NBj8ITofiWshB7TyIoIZf+Dr7ItHDri9PuTTz6Z6At/Oj7CE7yhpBnoBn/GD+ZggEOxlFEyR+bMiDAj6UrZkCd1oyzoGNplvFImdsIBImOSD7RHmsEC6dm6iwjNnDlTHR0dzf72wiD1aXePWmot1oZtnPBB/rnnI9KxkCs8TrA/WwB/aZbdAB2m3TlJMBgzZowXXN1afbXV01bq/PnzFbWhZatDm1uq/n//j4E6GPDMlTpz8TQM6nBRc+bOdec2m8FkXbDiXgEhN6MdCBp5A2HMCxAmr4Yiq9lepHuoMEUAhgUBARAZAH4YVOCNOIT9NyAuwJU3DvWwb4qdhdCjjz6aPjDBlRneNieMu564KQuC4wQ7kgHXYebNmyfuknNalydIiQPRubu8mGpgDBIKFSZSFg/cvb2h90tTZPLQg49Y3T9G48dP9OTTo9wq5dz9P1Kg4fpI4forLSYffXSG1llnXdu7Un3HjBknOfw/N92cJietID/G1bICk3Aty5QZerq7ZRLw2M7l7usD0AfgV/i/FRFySw/gCprEpIuxQ5fQLotL3CV9Qk/4E14CYdDRYIDT75we55oQJvT8oLVwMG+umz1quubDLlxng2ahUZ58hXa5VsqpavZdeSuCmxM1L7YpP4KZl1YsOdBu2pCbjlk4cCCX9yBmzZ6tsWPHpdcUVzOjW3OttS0Y1D1P5IZCjm7ob2IfXmh43OUGaLkwrXZbE/bQw49o8822UMeChal+Y8aMtXZsPYFrsJK74rWspqyW4VwmWPYcBix++XtGhLKM6hcm7EKyO3CH/VYyqHmFycCoeR8OePyJJ9Ln0Hgj+Pe//714M5hT7NjPPPNMcdWL61xc8SiB6z4DAWk5gXraaaeJazUwYU6Jc6WJMJ5W5eQ4TJinVmGSnEKHYcKUIXiYNRIBD6eQB2EXX3yxmaf33L0avvbaa9PzkdSNV9yo62DgD3/4o/74pz/qgQfuT1+a4WoNz03+5S8X6MEHH9Yaa6ylBQs6FMrSWKhbLTZSAKbScH3CY/LJJ2d6sfOIJk6crJ7uurUNbYqoac0119Y9905Xx8KFWlF+EYOfqBdvW61W8wK0EEyppbVFESH8bFFhfAGy2QSX12dfsWg8d72j1qoerzZyj1EgM00/8MADglnyUNNZZ50lrnHyVSXs0CR0DP1iEoY5GEC7xKKZV82g71/96leCCUPH2LkaB9PmKuldd90lykbK5REWymMxzAl+Fgr0C4ya+vD08WDol7jMVbSTfCmTxTun8k84/nhde811lq5ni6tthXHUYyZo2cTMT4bCzFrWrBS9kNscXshdp4YXWnWr2D0wtWB+R4JJkyanhXZXZ7fqDmfx/agX4fIv3Ofwp1DYtWx/Hu3LlsFwpA63MyIUsQgYNHUzAMqv1Zr+davHcqtGV0jwyovV1+LQcBvDi49wQ2kfbk7AchWkhPJ6QunmSgcvrAFcu+IxBuwDAYTBvVGubfH+LGovVtBMnNwp5dQiTy+Cbx58QN3FtZFHvQqHoKkvajSka1b/qM6ZCFiZT5w4Uay8GaxcV1hrrbXMoCaKu+iDAdpL/DFWLaGGAw/UB7PRgNm1pHJqLTXhR51GCjTcf9RJCnV3dQs1Z60G2RWefNiyaKR3sDsWdGihtzI0wn8RjMQhrGQhS1JjU795mIv9afquMD0A2PtgBaVtqVDmxpXtYGuLcQE9cLea/UxomHvY0CDXw3AvTrfQ6WCAXoJ+J02alMYdbmiV19LmWy2LGzqG1qkf9YHGUUtzwpotL07cQ8eM29VWW03EIQx6HAyQBuAGBnMMZUAXALjo7urSGNP3gqQGl5jDkb4LS7Al3nJz7kX2XM+GHZwxp1HnLtMzZ2KYn2tZlhaYzIE5zNwRI0K0w9Zl+mO2WKYMnilxRJOYI5om8UA65mABNRhp+wMdVMuMmKwm7HXvbbTUbDfRu1+1NPBspmm2UUnl198uT+51r9KQKqgfhylaWtvS3g2MlbuePHCCHeDeN4wZhg2hw7C5W4j9mYD7hzxPyCMsTBQQI/ddecHpuOOOE/c5+dAHd2F5QYl7sjBOHn+gPB6aAFgE8FgD+fBQxZ577imIknLJjzLwwz442F3cm+RwGJMYj9vwhjNflpox43FP8uM8CbZowfyF8jyuhiXXBF4BswoGcCfTfkjZuBu248fKvSg8Tg3mDUllXngckVdnZ1fKMzfyu71vRhrS1k2IDZdDWswGfeT0DedZdxjpGw7HnWUtIu0DDzxk7cIYE3Or3fVUT+qy6iqrKiLz3lanw2pinMu/3JUBbB32v7IOFIwdwE59sAO4lwXqXlTLaHeDTa+FjDZFhO1aBLK7BPeJu2FR2Ark7uyuS56roOPweCjczjarSDfcaGOxUAagXwDGDU3DvKFNABrGHAyss8466cuBfLyDV9wwoV0eaOI+OosBGCO0y5sPhLEI4J2Iww8/PH2PgIeR+E4A9aIOvCMxONrdI32QpUxT0jFlcV8caX777XcQ25bQjIpQ3QMBumzUPSagIZu4zaMdlntBXldEZntDDdMdaWCYKY4HSG5oJDrMEy3jJqze00junl6zyxJw6d9wPoQXLr/bfQXtk66Rync+/fKcOXOW6bS1Ly8W3wsXdmnc2PHq8nwxb/48RYS6e7qVuZ7LQiOkXW5MmsyHBEyIz5QPQQn8XwE4og2t1OBBlNpHg2lvPzP3pM7kORggjbNJg6phqY+V8/bbby8mCFbQECZEPGXKFGGHAUNgPOACU46IdBAK5svEwiMQEDmTDo92kIYyal5AsSdF3ShvMMDiC8kchs9jL3vttbeYNJjcZ82c3Usc3YloCnlSLySjQg0Tew9gomRfqdMEJIdDVK2t7erpZbqZJ02Iq8OSbJcJF5R2d9VVN+G21DhpWnfcuiZMmKSa4+YmWIi4ta1dcn/0EbXjQ5QNTxANTywLXR5xmRQ6ne/D3sdiDzqLmuvnSioTcSdNmmoNw2TvUy/Q4r+IWNxrpXGHCveGUUiLiqYJ7gv75r1QGL+58YS7cLwVEag7ULhNRUE7ablNO/znVpX2wkN66IAFOtI4d7qhRxgxD7bAnFnsQqc8wMLiGVqnIizSeQwGLRqPzkDj0D5PFiNNR4TqLK6IPEhAC0cS5gQeiWEhsJEXKdDjnNlz02IbekmM08yxnqBweU3oho7tV8taNX/eAhW58ZjLi9tutbeNFXQYqplWzbxN9xGZwG+nGWhLS6vCdActtplumQ/YdspMz1Ko5jyhxTzRcC3RJ4y3YXfD9NzV2SPolrwem/GExo4ZZ9rNhbvwGO2xir7mLQzKmTNnrsstHD9kdCW7luE34pm0h6yb55Ht/wf8KxzDwagVCs/MdhopWiHBc78GAhgbQKMwgTy11Q0XbQUHSwfgtGHm3N3dLRgpbvKGENva2lTacRMPwB/A3uJ9ctISj3qV8TBL/4jwgG6IuOQ/WOD0J4sHJpLWVohN6SoEaifUS1mt5vxz0GP/uhom0NzL7oYJDKIrXCDj4r77H/D+17UmnEwLOztdn1aHSKiaa70EhgdxAZNYyrM7MfNc//j7RWIv7YEHHtSTXk3fcP0Nmj79PlEniTYWnih6vFjIxYJk3NgmIbMYoB6zZ832gmKccVo4XrfK+tWyLH01ijTgUL2/iOi1rfwG7QZyIx6zBPeq+6Ac27J9BQV3YaLtZNIepXGQF26h21zST9nuoTChQSDz+MKEvrtN59iBMVYv4wcdAWxV4U9dcJcmdAuto6Imr4jBj0va46ab4dbT9g5u6pK77caGaaGR8AE9e+2W7JS/CEzF/qO+t91+e7p6O98q+9xIxa/T9Ezdurq7TFtdLsp1dHxorL19jGgPbYgI3XLzrfrnVf8UZ2dQ99966+269rprPR+0OF5DWRbqMs0jHDh71yU3FL11zMX2X5bVhABAnnXPN3UvXLDTLuYTVyD90b5kWYb/hp1J04jBAG1zP5o43ZW29E+bwtyj+DmC/9wrjmOLVjQo2zBQvWmSm9kMajbadrfV9pTO5rL8kUctMbpGYi7lgMYfe0R44GZpkBJP/hEGQBwQMYPU3mmgQ3wRkdJAdDAxBjBmlmWp7qRdUpB/EZHyzr04kVeuWa1mYuwxg2wTTDlgkg5jRUtZDa9+iZuIxKhCEv/xj35sIqynV42m3ztdM2fO1PT77tME751ziOcqE+5FF1+suXPnicM0HKDhAF27JzOkiNNO+6mIR54zHp2h6dOnJ+kXHHEAiAMx48dPEOVHhObNm297LhevuhdCDdevxSv6OkRtqaBuwm76F+L6Sd3+4MTNTX8RkcyR9B/1GyqI6G2fBzg48sBIdIu9D2xxsP2NBSwrIDTx1WxCGgy9TbGR/ghPFv/X327nMv0xDsmvNLFDv9BF3WOPzKFVICJMT90er41EZy1efJe0SryIMO30CHpH+tvxAAAQAElEQVSOCHdVMSigXMokz4hF6RkBXd7bJZz6Ye/yQiI3dxwIKP+Xv/hlohcY7L33QoPzBR0jwT424zHdc8+9uvLKq1w/JUb8179eoGuuuc7zUc1t7BEfQZrheAgaDz/ySKLpxx97PJ0w50T8nXfebSk4U2Q1FabZhhf7EeH21xURltw7nVeWOpTFPX0akYn6F0ZWiU/mCXvaZ9n+XNKyZbDcU9Pq/1ZIb3gf7TouXisTuEmMgwSlHROICEUE1qUGmAyJIUxW1xzOYgDjB2Nl8GGHwCD43AM3Ijz+ilQ2fsTHhGmTB/FrZqTkCXGWUOZF+JICacgLRkkZWS0UTkyezXLztNKFQVswSfbcRA5xwcAxkWTZoyP9hAkTdcEFF+rf//6P7rzjLv3npv/oUTPdWbNm6/zzztcNN9yoiy++RJdddoX++te/uqxQRM0lhh555FEhESNNt7ePNSOep/PP/6v++Mc/i6slHR0dihQ3SwdhKK+W1YQ0XbhOEG5u/BlznhBdby8mYNAZcXp6XEbzjzY3bSv5/0XZPk/6tian/ysUHu8lpPnQ7hXcLBbV302Vmyg1/1P5o8WlfVlNaDciEtONgMn0mDZyL2xbhdSM5ibLmlocxhv2kl6ZE/CDvoiHPSJS2qWpF2O+TEdelFXz/ICdsgiDVqhzzVot6DU3bfQH/Fu8yJ0wYYJQ4aMqv/32O3TbbbfrvHPPS4tv7LOtOr/ggguSm4U39HzuueeaVue7/V4QewHy0EMPWyKenWiZfNstbf/jHxfrt789U9xmmTt3rhpWrS9YsFDUqwmmV9Mw80yW1VT3oho7YdiZZ2hH2Z4I9yaMCc9lgOXGpEE+9VrcxG9wUDg6YOMpZMqAt78RwcRn4SqFykhMFgcV9syLTA3vXdQ8IBru9EgrHufl8NxxG4bC9kIg1HkWzw7klJ/VUtVzT+LhKmIW9q83PDhsYg/X300WYY6iiBB3IPlsGoMjIpJfxJKZ5AFTjoiUJ/nWvcqGMDndyUltGG9EKDNBR4QgXOw14xRib/Ggp59hUPIvIkQYeWFGNNOo9xexZHWLaMZrqWWJUCDgVhNp3cTB+3sFT+6ZKxdWbReWVKMRSl4NiascBab3hhuWWtta2nTYSw/Tf268WTf8343aeNrGuuO2O/TgA/eZwP9sgp2pW2+9WRtssJ4euP8+1azyOvywl3rva66eePwxl9+jVVdZRTvvuLPWXmMdPfbIY1poAl64oFP33HWPttlqa23+nC3U7b2r3MTd7T3ojnkdqR55j/vP9ejprrvaOZVLUO9uWDUu91eLPAxtdw+7zfIvwm2xuVL/QXhlA02nRaJXj0ObLGgArwSNq8LAX9gJ2I6XQQJPIRZjiXgk4zF3PI0YoCLBOAWoH+1zvQvTeRq79s9MW9Dvgw8/4hjNv4hQRDQd/j8ikjtiyUxoEvqbPn26ONENnUOrddM3YSymoeXc9SAe9OViTAuzzNDmYXXVi8SYiQ/giRmxZHWIaMYjHWWQlrY2TK/4FW57jyXnoihUmAgaphNoBxpqgmnE9J436upauFBzZs/SYYe+VD/76U/0/e9+V50dC3Trzf/R6qutqn/feKMmjB+nf/3zSpvj9cB9D2jShEl65SuO0Pix4zXryZlqeO8YunvRTjtp3bXX1eOPPiaIr2N+h+n+Ae29197aeacXKYssbYO1tbZ5bOVpTOWeh6FhwNVNWsd6T2HpPFd6+tf1d3MS85YyhUHeI3cBWpZftiyJhyOtSdKNbZYUNkqwVfJglweBcWNnpkLhSdBWz4NpsnZ40QsLOxteUbZbVdHjwRBqyVqURc0DsF1hs7urR2GT+BJoGV5w/6vhiaruCd4tkJslBnJzAVJzlVrSHgjunq7OtJIkHEb6tre9zSvA33pw1AUhDAYgWogGwE5aTNS83NXkDjSLAFQ47AFxH5o7laiDUT3dcMMNXsneJtJzDYvrWzyAcNttt6W6kFeZJ5MA9sFCVqulvNq8R57VMrW01IyfSGZR1FWY4CHsRleuRu87vw0z5sKLMogGYu/q6NZfz7vAEm1d2227ndZbZ32NHzPe+2OTjOcerbPWmmprbRHjbdVVp1oV/oTOO+/cxLRXX301E2ldz33uFlpv7fUdr01rr7m2pkyaojVXX1M77bCTZj45W51m2OHxBlNmfI1pGyu5YzsXemx5TGWGPO9xP3Wr8Aoi9+LRc486F9Zdr1wtra2KCPGLaJpMXrhXVqCVoZDc3kKRaBjTHpLdRpRpOrdRKPVlIeWm78ImwIncbqtLiRuOT7+31GqScT1iwHXNPCGlBabHQ91AY9o93to8luveR+UtAb7GdcGFfxc0A5R0gh0o3UtqkoYPuJxzzjmCjqFp3NAt5j333CNomfz45CLAeMOPuLyBwKNFhEO7AOG4BwvUJfNCBJO0mAB+SMb05fz5C4RkGlEzTRamubwXGuJaU2FiCQ+Cf155pdZaYw3t8qKdtLbplv7e6rlbmp7bvfjeUJMnTlBbLdNqq6ymhx98WL878yz7TdbUyVM9P9S1xWabmW7XEmMF+oWRrzp1FW39/K29aH8wMWcXIzRcufsKwM0iAqhlNdXN7Fnc5KbhIs+UFzWBG6ClpbV3/OEX8tC2e+n/sqVPOoJSmgioDQjCWoIpHm/VTLQwGRy1LFOrCaPLjK7HxOHed2eEWt2peb3HpO3UnkA1zMD0lFl6iyhSfTP3rP+EmVtS7PZqMy8c1tJiVdU4QVCnnHKK+PQlj4owYG655RbvxVw5KGAvdSBgf5VT3BwWQY37+9//Xn/+85/TwSmYMJ/W4zuqZ5xxhlAlzZ8/X+zXcrAKf+KzeoeJ86oRZVxp4loagCgXpftnX/uaEw9Sbi5+DRMxY6Bhwloc2trbdeihh+qVRxyhNddcS8/Z9DniaslLD3mZXnXEa7T55ls57NU68lVHa/sX7qx11t5Axx37er141728el/gMTNG++5zoCZNmpzwzyn3rbZ6vjaatpGJexsdeMABWn+DDVR4xcgk2LmwM10rqVMXSwL4t7a2efXdbQJviHrSv3XXuaurKzFuJhv8aUsJEVFaV2rTQ7tJrpCfHYVdgA3jSgkY/0We214oN55tMUOrpW2F3DTSyOu2t3ui73aCxoiBWhbu34Y6FnaoltVc94YanvWhaejmK1/5qvh8Jg8GschlXxSaY8yXdFO68VtSIB9okpsQbV7gXnzxxV54npcAOwyYx4oAHio566yzdP/99wv6vvDCC8UDJND8RRdd5D3daxKjh54RDJa0Dv8rHnX4jyVh2p1lmRqW8sFLwwvvRZALe26GOG7sJO25xz565Stfrc2e81xt9bxttf9+B+l5W26jffY5QKuturYOecnL9NrXHpdeAOOK6IknvlFHv/ZowWwzq9Jf+MIdTMeTxKLjuc97nqZtOE2bbbaFtnvBdjr4oIO1zdbbeN7NXGZuWq0nM8/zlB76bON0uOkWe8O0zdjLXV80IcRr9eILsiU8AvoFlp58V2wm3dv2wpScCBji7gelX90dP3bsWDVsMhAYBCRtMfHMnT1bj8+YoYUd8zR//lzNnTtLC+bNHXbocNkd81z2gvmaN3e2VU4z1dXZmeoUEZ6MWhIwEBiwSLcMbID9mYgQkz2DZDDwTEMHnPFoCY8bcMCKRQEEzPUMGDj1YHHAieu11147ZcPhrLney+G6B3c9cRMvIpKkzaAFBlO//xY3gl4sUrvlXwOGCFgb0VgMerp7NN570RMM8+bOE3cZW9vavGpeqFW84p47Z74mTZyiMd5nRsOy++57avKkqSbSXJ5P1WMJfcL4iUnVv8ArfhhuzQS/sLPLGo661lprHaef5P7qMPG3e0SGV9BZL2FL1G3s2HFaYLUabep2fZAaIPDOzg4tcL+3trUJ/Lgp6a+/PXks5X8jPpkZs4wx2lvSLPbFoX87UtfbA1x2dMxXtxfd8z325sx+0n26YNjp97/NGXPnzBZ3ZmkP7aTOtaxFNQsPaKaeeOJx9/8CtXgBXqtlaQwQFzon7tJCtxf2zA8stJGM2bZCgubpyjFjxlhbNDOV+/DDDwtVOGc2oFdgvhfdvLXAVcwFCxZ4YZF7bM8XW1rLWq/+7WHOqnte7uxcaBppKEuMupHsjT4axp2bBuvu53qi1zZrqeqEW1vW1jpGc+fN17hxE/T4Y0+kRfS4sROcV0077LBjMjusKvdwSflmYQZs5oobabm1rU2ZeUGW1TR1ylRNMcDQ6z09jp+rSAy6SHRet4aOWxsd3uqSwouvunFTGHJ1W+irW9Brc36FF5FZ1mSv9KWW4dfMZRkyeLaSRkSzaAg8QQGZyzzaphIQATcTZEQ4rDDS62mihSDOP/88XfSPv+uaq/+pSy6+RFdefrkuu+QSXX7ZpcMOl116qS66+DJddulluuSSS21emp7wO/vsP6TVrVx/BneE2+GG8SjAqaeemp4A5Z4jA4I7kfgPBSBFc6eSR0l4oASVOnejuWN55JFHivvKEDGTDPcxJ0yYIB484dEE7mDy6AGPqkDk1Id0mEsDu+yya3rMpJl2lz477d7UEjGSKxMLxNAwwYOnxYExwKTVaak1h4CipgWJYYbNhR4b4cXRfBNdboKTxraP86S0QD0myi5vhYz1ntZjM57wdklXGlt1r5wXdixMTBgP6tCF2tXDEnvNBB8K55W7t/gL75NN9CTnNC6/x0y63rsa5xT4fDPpsWPHuB6FIiKZpFqZAfzQvsL/QaeAG26X/5IndIzF7sX+IpzaANP4wzl/FAeHLjP9XnrJZaZdYPhp+JnmjStcL24WXHvtdWk8ZB4buSf+iEiP/fDG/ZlnninobJVVVhX0s8sui8Y5dqA5/vvTwv+277nnnuIRoJe//OU6/vjjUxnQ8cEHHyweK3rPe94jHjlpbW1N7s2sCibsjW98o6Bv7lJzX5pHVKgDj5LwiNHS1GWgNC9yO/fYc7f0nn2H6anhRTY9nptGcuMogQdGbjfnh6DHBfM7jUclum3UC9NphwdKpvnzOkw7LerqrKvLNBsRamttM2Pv9iLEjNyLc9rZsNYlXZ8yk2eRDdNmLoBucbNw6PICh7IoN/dCALPh+LnrNGH8BC1IB0Qz1yNPPCUiPFf02N3QhAnjxWKTeSHLsr4hvdgQXmJntsQxR2hEOrQwNjBt8JeQ4n5Ndvee1dlZQqAsErUYaWPaa3r88ccsNbXpgH330mGHHKyXHLifDtxvb5v729xn2OGgA/bXAfvtq4MO3F8vOehAHWzYd5+9tfpqq7j+NTODhhITMnNgJUt3YE6bNk1vfetbBVOseWWO32CgbqY2ELCIgcnyiMFYayFYZcO0qQOrcD4pR9mve93rrCrenOokSQBmzWtkPIZAuogw46ubuXV6pdntAd1YRsj70tPetvY2QVwQT0QoNzEPBFnWop7uhiXjhgm55vpmqlkS7rJaGqm41XZU1B4isZDwqwAAEABJREFU8vahzAKM91Yz1glqmDjnzZlryXqy24EqNVIYeUZkShOLB2Ct1qrCKrnSb8GCDocVbn+uLGpppd8Nc/YqPvfedbgWuSeM+QvmGTedSVULfiMIcaD/IhbZ7VxJ/wq3qwlFolr+b4IDBE6A1K8mbOyAA7wVMcsT/Fo6YP/9dMhBB1n1ua8OOfigYaffA/d75jljr732sHQ2RRO9kG3pVYXK/dptRtCG1OVG8mzuiSeeKB4SqvfSZG6GAEDP+GEOBkgDk9h0002T6pfyeE1wrbXWMp3kiXnzQBB+MF9o3FUR7tVXXz2de0EKnzRpEt6C3rAgWQ+mHv89bp0sE2MzSlT3/Ea9aXeeF66nASaZIFeL93sjwrTcY3oZa/qCnjP1eI94rDVVLNZpJ26Ya0dHp/MPLbQ5afIUzZo5x6iviWFWNx2GMufhhbTpuMX0O8aatMJO7G2t7cpN+w0WDq4LaWS6HTNmrHq66ykPD0c1nA+OHl4YM38Zbyatwj4ODPmf89Yy/IadSUNcQwUgwqgwrRYqPKD9v4yXflCIFQ1AmXlvHDrqrjvv1LZbb6011lhd7SaUSRMnmpAma/LkSZo6dYpVlxM12YNz6pQpyT158uRkTpo0URMnThDmlF6/KVOcjrikc/jk3jzwHxCcjrT9YdLE8ZoyebymTp5oxjAulT1r1kyX06wPex4RTSYE4dGWFqvHGJAQF9JsIngjgLYOBUBclMP4YnWJnfJKYoWBs/ImvO6JhfoQDzflkx5/7KSh3tgHC319vFjbKG+1VVf1Snq+KIv6QVANE/TiQL2J4yxEnXDXTVxhNRdqrY6OBVaHjxd4RjU5f/48M/QeS9dzlBnvxIMIWYkzAfAaUd1tbpiAu02wuYmYxQL5FiZkpIK2tHeVC6L30HP/TnWeeWL04CC3J3WaPXuWWltrGmsVZIk7zJEI1HuogPYVELEntGS3Sd65cVn0h8KxDLkRyTgq45CG7ZgXei9xvfXWNlMZq6lTJnkxNFaJBk27k3vpEjqebLqDtqfYxH+y6RSTMPygVezJz7Q80XSO/yTTNCZhKb3pHffiQH6Ep7nEZWDinvHoo2megREvtLSYZTWPs9x93iq2hFq8QOyxapXxvNlmz1HucQHQToB2Yg4WIsKLPy8qnQH51byItzXRSmZm0hy/DU0xnti3xk28iBD1IS7AGAVQl0PfbZ4vB1uXZ4ofFOB+h8HC/NEwib42XTUSHgrjowlEnW81PPMBdYXWqFeWMS/m1lItEO1qa2t1moal6W4z9RbTe0Od1qCB+5bWVkvWPcZBbv/c8Qp1essqzEy7vYDu9BYjQ5J6dFjN76qJsYg7d52AMe1jRHsWEteVIk63F1wd3nZBim634ODsUhkyLqXQsvyGnUkvS2X7pwVJfW6whMOm/8BxE3odDLxalrnDap5wM91+++2CAa6/wfru72akhEsPDtDZ7Q7NLeH87W8Xas6c2SmOx4F63BFz58zRrJkze1eVhYmNlVyI9JxAZMKP8KDxitA9mdIubhaebBaHZv4N8SNsnvfF//63v2vttdZOkzeDkTBnnQZiRDjbwuWGBxqDLU924gwVRDTzLowXBj94LE3s/f2x49c/HHdE9FWHOH2OIbCQH+pB+ohymVjwo9ynQ+ESIxEOjLVuBp2bETQSo60nXNK/DVTQnhwiiFt3GpmYTdSOV0/QML7JS3155Y5PnkaT45OOfgyna6hwGYXCk2XdzGO8GckEq+XmS2bkhWNTHqfi11tvXY0Z226fUfTH0AAJNNn4NlLSH84SCjUjRIToWyZRzHYzihkzHjUu52mNNVczhmXadnL3hWPaUqjHks3jjz2m3511lm655WbTqvvTnRQmtiefeEKPeC82q2UiMX6F02LPHF6432CaueeBWpYpItyfPV5k9TifhuuSPw2ikFjkFdB3qnez7nd4vuHJ3NVWXy2V1Z32LuseR7nnpBbJcSPC44lxo1RWRKj/L+Kp7v5h/80eEamcwu1mnJaAG8Ad8dQ4+JMnYSXghslnxgX2oYJUlpvGYpu98VZrGnLjPgGL7dJus26adVXdrz0J99AO/VNPdIlfkfoIhpm7L/PeNCyqs8iM39x9l9tsGHLnUdhsGD+F0zVUOD5MmPikldwnLhP/us0yrLW1TVFkKa+IMG13mR9kmuXF9kQv6DKPH3ur/IXzKe1LY2ZLk2ikpaGjS2gwGBcDGUm5O43Oe/KJx3XXXXdqu222EQfHynT9zbb2dl15xRXp1akbb7hBX/jCF5L7Uu9XX3P11emS/K/POEN/u/BCcXjqV7/8ZXrF5re//U06AVn0Muj+ef4vO/WrZSZq19OjxXlfoDnudO7oItU1J4xc5FP3oFT1M3E1VXbdXgH3WBKBaBvGfd0EtaTQcNzBwJLmW8ZreKJBNQbhZ1mLVl99Tc3w3nZrS5tQr/9/9v4DQI7juvaHz+2Z2QxgkTMRmMAcRFLMScykSCqTlK1kW5Ycni1bf8vPfo6f/YJzzpJl2ZKVI0WJmRRzAHMGAQIMyBmLTTPT/Z1fDQYEwaWEBQEQJHZ27lZ1dVV11a0699661d3T672tel7VoYce7JUVAnsfHVhjlrndoFysmiGOwUbNxlNEqM3eBtI22oi911g8ZN7BKoVUtWHtwMK2Jp7MIE+lpUV33X2X+CWonk2bxI+yPPrII/rBNdfowYce1Pp16/Sdb39b1197rZ584gl93cr8B9//vq7+3vf04APz00BEhApjsl6rKnMcJQVR//ZEe2kr5+vGaMmergVW0Ju8+nvJBsGSJc+rUq6IPBV7TtIF9vF/kYVq3oaaNHlSuvdm06bN5k/hcWwoUh6T4matmt3ONa9ka+B7R4kyw6C68w5F1WrdCrlIVBuseb6V7E0dpRdfXCpuSMuyUtqj5oba2bP3U7lcEnMjyzIVVvzyvHk9w/ymV9LGtopt/6znUloKfYYDnwcYLXZ18GzgoYfM08HzDvREyH3GINQraWBgUGecdbbGjZ+gG2++RVOmTtM670lu2NSjrFzR/AceVJ9dJM8ZdNded71u/dFt6ncZXkTwwosvqeaBIV+xXb0/7jgiU9oXtQuF1fpzixbqAu9Tr1y5wkJ9hbD4sdJLpZIAv0Y+yQoeNabD+1ldiUcl86ZuIOfm/45SUTeQhkE7Wm8zX80CJcWtrC3rNWZ0t1auWCVF5vbXtN6empkzZ2j6zGnKLLC0D34K9zmR/xmx2gJZGZyOO9GRLDLnirSKwp2IUu3q7NDcuXMs1KUIYzivy6OpzPEBG251z4XLLn+Xpk6brq9+/Rtq7+jUM88u1KLnFguBf/udd8lTJZ37xje/pQcefEhtzrNqzVqB5dQOX7cw2U+lsFu67gLcdFTI19uOfErZljwly4nVq9fornvu1bHHvk0LnnkmGQsIb/nD9R2MfD22uRk9xvvFKDXer+BDj7sEbhhDKPdYenitKLMdJw8IdewoFcboUJQ7nftUUOAsCGjPqK7RWrToObV4Sys3sFeuWKGaPTeTJ092u+tufyH6wwDbsUKw08TM3+nCb2TBCOzmLS0oHG6hxgAb6kSc7DlgpuWJYe3tbWLlctRRR5uhdZW2WDwAZ1tq9Ur6vvvu8yAsEr+BOmArnXLcJdli63yM95v4hSduqGAfpVQqib3ZugUyLwDAcid92zp3JE6XOjo6hNuHOyi5xtjuseI6lJczsGKs1Wr0bJ+nxBNzgTHiMRb4Qhqg2WvIwsVNtELOPedshXt1VfX4YYjhsWGeTJ82Ta0Ge1Z6s8CRHu0K2h7DhYWbTITbksy/uqd/iDEe9LYTjxEdmZ5n5Vwt4Tu3UI4sDPlCZfMZXPJ8MZicNWtWanBugQquKjbYIe7n4BxudOYRvxTV5tU69fPI4SavwCNCWZaldlGeepln25P8Ic1B+uJlIz83YbHvO3bsWO+TDrgfrsttTZn28X+5+dDSUk7uYuTrOns3avaKFdZsucdqb6HC+qRmbw7tQQYzRzasX6+1a9Yk/bJ02VIbge1W2i3K3XbyJ/L4eib7/85/3+RSoXDPYYHJTExMSaEMKJlZL6dXKuX0Zqzx48fZ5US3iwT8l8u8nBdly88zfuADH9AnP/lJEfL4wGGHHWar+Fhdcskl4s7nc845JwkNAMwLAK688krxCNKiRYt8/Zfr2/4abvSrvrkVPImDA316zqvoQ+bNE4ZCp1cL3KDCxKAerhUKsu7zhLCsDuZ2FR+ivr5+9fTgKstVfw231VDp1pceQ+0wDVXHj0ureVzrVtSM36CFT5aVktG1YMGzsjYRSnr//fc3uMtpzuyTg5owW5gdxnMzvl0oK0qUc7uN2EcffUz7Wenut98M1S3ICxN8cxaBjMI8j2isusHx+9//fvH40WWXXaZ3vOMd6RE+HnPisaTDDz9cPF7I44vchPbAAw8IA5nHkIiXSiUhD7g2+IvgClxtaEKIUwZDHZnAzzI++ugjmjp1qmbPnqWISAqJ3mrkk7weNW85lcvhcTk1YWPN2rWqO430bales8yuSvUdJddBPTtKNc+boSiVN4Zrrk9FJGMbA7ura1Ta3uT+ho32tB555JHejmlRKUO/yDKlrsJGSBal1zXSjdpeVxVDF44INSc1YeaGEw6X3MeXla3BWDQJECtUN9Oq3sQfLEoaMOW+bt2+icIWtVTYDd1rK1jaaLfiXXfdoVkGdmFLJytlbl9uMlyoaxuqWXKzmuZuTEDX1dUl3BhYT6R3d3cnF+uoUaP0mc98Rr/1W7+l8847T+QnHwKAMsU2dW4bp85tjxEC7EdnRVWPPv6UspZ2LXz+Jd15993a3DegDd6nqapFVZXVb9cse27b10F9jAThW43qHq+iqKtBNYeNMaO//QO9mjJzgmbMnaAFLz2gPOs38LMhqZSVtD2pZKE7DArXMRxSuUW1qCtaS8pMYe/N5GmT1Vft1fyH79Go0V2aMGmcinyU3XgVuiTGj/HlgDjhnqYI82XLRSNCtIe27Eqq5x5TXyM3TiJ8DQtCH0phbEZJhammcpr3dQuCzrYWDfZt1rKXXtCJxx+nEhh3WQLalzsP5KTEQ1bHeL24c5l2E4fAMFju7OxUqVQSae9617v0G7/xG7r44ovTI0hg+fzzz7fx1JL6Tj5wKn8IqS9HFvliEQ1ecYzsyLIs7a9y3UmTJonXbLa3t9vdvVRRqmhz/6BUahF9q0XZ0sr9dT3UmeRbM74vhFGoWh/0WBeaOmOCzr/4bK3tWamsrVBeqquW5Sp3tKmelVVkJfMvdpyyimIYJOcdkjxmeRi/5Va3oaycMYvQzLn7qaUrtGDJ45p78AzNPeBAKWuRwS4+3vFQVsrlHnK405TtdMm9rGCxpT1M9JIHs7kyxT1N2oMPPqhOW+EoWFY0AG1LkVcFgI1yuLlb7frm0RpWQpSBAGK5XE7lcE/jMuOYPFmWiTKskFKGn/CvVCqJMmGDY0Vhc0AAABAASURBVOWKlXr4kUdsSOynhx56SOPGjhPuH+5eLlm4R1iQWTBQ5idUu0+cZlw7uzqt3OpCIPZs6kk3+63xnuL2xP7gypWrtD2tWrVKu5NWrlzpa5q8Z7UCWrlCEZG2NB5//HHN8Z4qU6leLzwP9olhG6KToBeSBZqFs1c0KO6653pmDQw+GGtwBx7GjRunrq72LSuVfIj6lHiMEU0ZlDVKmXrkD3FwXLHLG5w38c3zwxHhcchSebCtHfjQNrJFhJADxHGT4zpn/FlF80QJ7vOyccw1a+4j+fZ1sh2SeI3MNfvSSrruRdLiJUvE2wvXb9iQ3qcNdnhx0u7E6nDqZh5iePX19mr9+g3iEdgxY8bsluHMdkute6jSrbB2BKA0qTHgYWs6lzGugf4+rVixPL0ooL29VeH2NQHbLLNtGBHCvUUeFK+zp/dSA2wGktdkfutb3xLvymbfiT1krkl+8kAM4LZ1bhvfNh9CJJ2zeOKmCZ6VBcSt3qNkdd7R0Z4mbu5VBvWWSpkIadO+TvA837Iam7v/XL3tuLdpsL5Rqzc+8ypau2mB1m9e+Cpa57TdSRt6ntf6nhe0ftMLWrdxidauf14rVi/UlGldOvHkIzV77iT12RtQaa15BtT3zSEtUM4SihmhLeMPTMgcSWPsvcAy897Cm7uzDzv0kMSntHfpGHkh8kOuTpRrYjfLGitVhD7709xfgpBdvXq1eC81IQpghY0oV2e5UbgJke5fod6hiHwRyJgi5SdP3YoXxY9CxlAnDRkxd85clbJMrM77+vsTfkvZjopervTWpaJAGksYZLk9ZuPGd+jAg2apZ/NqLVuxUGvWWln3vKRNvUu1ZsNC7U6sDqfulWsWacXKpersatNRRx+uadMnq1od8PQDw0Mbjjs7im/+mVK464X/mQCFFFawA6pUyipsiXd59bzw2QU67dSTdci8A32umqxdlGNEY4Jou09bW1sCKECv2NrmRfXf/e53xQ9F/MEf/IH+4i/+Ql/+8pdFOj80wYoIxUo1EZFAyCqc46GIdgJohAdhyavp1atWi5+bvOCCC/TiSy/ppJNP1gK3u7u7Wyj8Wq0q8tW8LxLu41D17mtprFr6+wfMDXMkMp1zztn6yMc+rJ/5+EdeRR/9uQ/rwz/z06+ijzhtd9LP/NxV+tmf+6DbY/rZq/QzP/tBfexnf0o/9/Mf1gc/+D6NHtOhltZMkdU8fLsW3K5wr/6GYRtbWlhYWBceSXuspWiklkpl5Z73BrIqXoHedecdCgvyaVMnq55wIBvhoeancASybncVyIFBp0hgE6XJTWR33nmnuCnsj//4j/UP//APuvbaa8Xe8Re+8IWUDt7Jmwru4D/wTFaug2v7lltuEavyG2+8Uaz6l/Eyk8mTxQ1kmfuGwV2zwUGZEZLgHzZLntdkGOuUU0/Qx37mKv38J3/KZLz83Pv18U9cYQxdpd2J1eHU/bGf+5A++rErjOOPeovkPBsZA9666pAnqF79yV6dNIyU11d6GBfa3VkLLlDwHwqh/ML4jSy8il6h2bNnkyMR536cEsVV1WZFHRHq6ekRNwRwhzWr5vXr14u7NLmJjHTqZSWNdc7qGwLoKJB0sSH+ofxJRuk2afHixWkvDAGxZvWa5DJ/4vEnxJ5W49nKhsUuSyAsTsrv68RKiXGSx5n4gPf6cq+sh6LCBpulgdnn+cE82UIIiN1N246TR9HNKKxcsmQslq18mA+0P8Id0b76MWcYE3cfVzA8MaMk8ySLTPyoyeNPPK6D581LaeAmjG3GTs2Ph9bw8Nf8tdSnDnAIhvu9gmVLBHzedtttST6MHz9eM2fOTE9mgGWwzXnyY0BHhJvQaBfXGYq4NOmEEZF+tzkivKqqpreJ4fLG87b//vt71dXltkmpbrePMm9VGk6/IsLD3OA1/Ec+QwxnbquNOOSR+InjwVjsEcrlcVSaR+3tLSplpRTPkTPD6fwO5H3TK2kGcuvgucN1D2pra4vSQ+Ye/Pn33qPxY7vV0VpWH6/kc57CghzhjjU71IBiEQMkZ01WOABnRcsPSPzUT/2UuGPz4osvFntZgBziTlDKUS8T6rXq5nrUW/LqmXzEccNxN+jRRx+tW2+9VePGj9N1110rlD0u8NVr1jheTi488kcEwT5PjFFuUOQe85aWiox0f0vKC/Nqe5LThiA53+6kPLUvV+E2OuowVNTD49luA3BAKlpUHfRxqdPn3vRw1HA/4NfyzmMWymUiwWFE2Os1qJLDIq9q4bNP64zTTtWBB8w1//K0hVUpmV9eWYOpRFaBqbgbAf64MQyhDy4jQuRBMZ999tniZ0r5tbZjjz1W3NVNHhQ67m8MeMYNjLqqIb/UxYlmGBHp3gYU/RlnnCFc6ITLvYou3MZHH31UuOp5BWi6YY7JQAX7OEWEIhgbj75dK0VRV6kUKpXDSq+qWn1QkRWeH94OyiXtZrzucP0hDQwO2NAu3MaqKi2Zw8GkuOWZ7Jb66/kpk71EPtjpr2vY6bLDKljYSmbiD6vQj8lMXRGhcJ7cArBUKqnwxC8MVABa9nHNewSPPvKQDj/kYNWrVZUN6sKAcRFVvccbkSVBEBHKXZY6UJzECQu3GUIJX3755cIS5/ErlPXBBx+ss846yy7LD4pfieFZS8pzbSiiUSfAZ5XENZt1EmZZpmY+3G+4xRj0Rc89pwnjJ3jwK7rqqqs8YUuiDbn7mG9pD2Wpb4SU+GNW2lW5WNdde51uuukG3XzLdXsN3XTjzeKXmW6++VZdf/2NuuXm2/SjH92uJYtfUFdnp3LPw5ZKm+dhLg9xGuvmuEaEIqJ5+NYN6aOpkDFjknGZeZVctavb8toGto3uTRt13DFHqbVcUl4btPKWhXhduXGLIuaNYD4Qr/SV6yAd4xqsoHRRwvvtt5/4xSf2hsExj2PxJAZG93nnnScew2LFyw1nlAefYLW1tTVhlTQMZ0IwGRFpvMhD+qJFi9Ijmni/uCbbVGAb+cANZJRBRskf4vTR0VQHYYTrI7IvUeQex6p7XCjLSl74DHihcrtuvuk23Xzj7brlpjtMdzl+p9Nu2c24vu4167/9jpt10y3X6rY7btJtt9+km2++wbLmRj319JNW1v1uu+ThU24jo7CcTnPEc5N4xOvD8B5T0tryodHDIpdzn7dOZFkJN8gnUrwRpjodbeaNCK1euUoHHXCAJk6YoNyr58JMc5aXv85TsjIngfKsjGEuoAeYzXTADnGefIAXUJKPNELu8MZNXi6XxTnqzbJMKGhW19RFGvWTTj0IDu4Cf/jhh4UAeWD+A3r7CScki/yEE45PdwVnWUm8+J9rmgnuR2GBwc0J1PhKos63JLmbxVYqzIYGOcm8qJlPq9JNfLxakPexT58+TXsNzZimyVMmadq0qd5ymaXZc/Zze1fou9/9tng7XaWl5D4MipWDpwtd2qtpV84vbcWvYx7gBnYljNHqYDW96zw3bh9//FFNnDhBrIzBEwxCMTbb0trSonKlkmrrsOHT39+X5gh4zMxUcAZ+iePKxnNFebBHfeCXOFtaGOSc4xpgGaIMIeXJ27wuiph08I4S5sYzjO37778/vTaSEIX9wgsvpq2sGXatY4hjmEVsUcip3/7HBbdQs/59IYQXlUqLex72aCzXDTfcpLa2dk2fNkPTp8/cQo6n4+k+3vPYnjFjetp2nDF9uiZPmqzJkydp6tQpwvv5nW9/x3heZUOjrnqtrszj6s5s933l+G538ice7nEl/RNbtH2GV/TvFQdbcwJuo9LfwtZMw2pp857ywoXP6px3nOV8uV1kdZ/P5X8+5htCADQBuWHDBvHyEFxfuLwAJuCjHhTr/PnzdffddycF3GKhgHIubVHwKFDAzi34hBGRbiojD3WwJwW4ATnXiwivnAZ9/TztYeGC27hpkwVN2QJ9ijZsWK/xXk1fd911aUKUyxUhECIyUUd5y3UBMT15yxMDXLiXTXK0+W311gZ30PLzem9/+/E6+OB5OvTQw/YaOuSQeYIOO+wQHXbYoUnIjB3XrWPfdowt8RusoGuSVxNlu/e4OVD70ofxdH9BLFGjUyjo3C6FFo8rq+L+vl7xvvyZM2YkzDRwQAkX9BehmHBsT1lEJAN35arVFvjL9JWvfCU9xoMCZlULBtlOAsekofTL5XLa0iIO5nMb8uAacvXJ+GuurDlHOTDNObAI3sEhN5EiK1544YWEaWQCeVidL37uOc2ZMycp7lKpbGOisBhyj/21QCJbOqYen0zH+8q/iPBCZtDdDd1xxx3pRSEnn3SS8XuoCSxvS4c47Q3A9mGHad68g43fRsgLcPDGTJw4URdffIm3YhZaL7TYuGhT3Z4xd2aXfrOfUNtecJqZDDWmc5LXjcPUtkbUk54jnwTkLS0Vg3Sp8nrNzKuoOuhJgJsb2oKCRolIjAV8KE+Axp3aWMULFy70aue7CXDf/OY30/PK11xzTbojFKXwhS98QdyA8l//9V8p5PI83vGDH/zAwvcm/cu//Et6G803vvEN7y9fl5QrFjzWOtcD4BGRrDEGnZezH3zQwXri8ce9Jz1e/LAHQgVLHEECgCkXEapbkHDMNfcdYqShl3sMD3IL9J6ezQbRvHSiv2/QLs9ih6nWX2h3UrVaEzTolSENZLXF2B9xxBHek97kvcuVnhtSntdUKr0J4EgndhE1R7OQla7nteErD2dCaBJ2Tubd9ZMnjNOYUZ2qDvQp46xX15n3L0tZCDd35rIyZV418xIhsMN7BnA/8yMc3G3NXdff//73lRs7YBKcYpB/8YtfFDeEcsy+MYqWMeLpDfAMvnm+Gdlwww03pJtGI9ywbXiAMc7eM6tw5MchhxySDApeFcwKHqMeHNPOanXQMqnFzaWOYptamtGh0prn3nphkfZrM23a1OOxzHXkUUepWsvNv5qJEDKeq/L4a7di9TXlQF+hfDDztaX6oMctz7Rq5TqNGztR3NOQ56H+/kEb3IXHteRBch7/l+eo0v50wdFO0x6XCgjWYZG7VriPlAGfSv+c4PQU9b/m+ZTH6Vi79957nwX3werd3OO96JIt1dxUJAKoTXJ2T4ZBMzfSanWDV9Q9PT3CBc1jVxxXbaXj2nj729+e7rr+6le/mn4Ji5u6ACHPRZLvs5/9rD73uc9pyZIlafAQAosXL06vIuR63HzG85m0s9X7XNwVjpVOGziP9c11cJ3fdvvtyfq+/fY79OKLLyRjAtkwODiQ2koZiLre8uSOMuINaowhfWZF8+yCZ71C6TJguu2B2CQEYb1WM+D3DioM6HqtcHsKbdzQo8XPPa+DDjzYbR6jww8/Qo888pgqLa0GeO5ebgG3Y3vrF77vKtq2j4wtBjYkhao2rMtedfKCn/PPO18Vr3jD6RjgdRvfSf7Z6I4IG611NT/gsb9/wAaQhX69LjxgTYXLExgoXF77SR/+8R//MRnY4BgDGuyR53vf+14yrHE2Ud7kAAAQAElEQVRXo2jvvfdeffvb304rqZrnFkoZvFIHCpg6UdAc4xXjTnHi3KfCY181t5fHsR586CH3o+J9116Pd82SS5ZHEL1v9IAYZfcVisjUbvf2ihUrNXv2HPGrZjz/Dp9rtUHzqUkDqtUHjaM9j+tarSrmHGFEiF/CWrL4eR1zzNGep7kiwvrikRSWPGcbI7nr/u9xJf36ms4UHqqGRjr/WXU+//zzSfHuv/8BiXGFwbx9KRR77nRAiSsMK/zyyy8X7+MGcChTwMbKt26w49448MADrfjnibs22XtiHxmDYOrUqcJV/o53vEO8XnD27NlJwZJO3VjwgxY6EIqlZHd14QbgdpvtvCj5/fabmVbtWJL9ff069dRTdMEFF3gfrkMlD3yWhViRtba2pQmzfX/e2seM7JYebhNFUC5bvkzsE61Zu857mB0a9Eql8EprRyl33t1JvFu8KEo2HspavnyVFj23xAq6W3WvFg7Y/yB7aDb4XKYsK7mDYdqHvsbA1t5uM67c/dw0aDs7OzRu3FiBQcaJ/BHmk7/ggeOqvRR5nttzVrfSK3TiSSeKu7dPPPHEZNwec8wxmjx5smpWsGCYmz5RoGD9uOOO8373RCE3wOr1119vZTE73Qx66KGHarr3IbkL/G1ve5t4ayEGO4oZ/BLSLrxuxx9/fPKKnXzyyWlbDFcoSh6Fft6556X2U1Zud8XbVyXLANqupKobsfR/Gz6k47f4Pw+bIuxRfPElHWq3MmPK+OdFXS9TzXHTbsYq82tIsgu7Zo9YnT1nRXocsHfzZrW1dnpcC02eNNXyf754IU5juDzIjcgu+Z/tklqGUUlEKGLHqWxFWvJEjggVUTGVTSV51JQpZDPaVy8pj1YN5iXV+3r0/IIndfE5Z6hcVL2KzsiqukrpXbl1lypcziVUcp2AE+WJMgbACAfu/Pz5n/95fexjH0tvCeIF/dz9eZgnEYAH2L/+678uAPlzP/dz4kX9gJIf4fjoRz8qAEt+XCEf/vCHhfLPskwIksKCKSKEhY313tHRkcBd92qrXG7V3Llz9Oyzz3glfoyV8qDbX/GeWYd4VCeLFg0O1hXhnof77p5HhCJ+MjmrmoKBdhCnLRBtiwiyvIJIJyEiRDwi3JYW8YmIJNgoH9EoGxFb+9jMw3mEGddshqRxnjpxLxKnPYRDUeFxbW1pV6hkISyVMvPShhO/NfvCcy9q0rjJ6qh0aqCnJuVlT4mS6laMNVaxDusOa7lUrReJlJU8XyL9pGj/YM15M8elAWfKPT8caKBaF3HKcKysrEFHcrdhsFao0trhulxmsJA8LvXC1y0qTiu5vooGq5nywryyK4wnC/J6riefeFwTxo5Xa8WGlt13o7vGqs2raABfLrmBnqXayz8RoYhdQ4UNT8m89J582N1fx/VpPitKdi32aP49d2jq+DHOkauIkEqVNE6Fz5O3iMzpmZPNZ8dreaH2jk5NnjJVnZ2d4gc1PvGJT+gXf/EXxV3b4BQD+4QTTtDRRx9tjB2bnqBg3/jMM88U+GWO4jHjh3JYRZMfhX65DXie6kApsy+O3EDp4lJnPiNDMOy5/wSljTGOuxzX98pVq2wstGvGrLkaqIcGVFa/51DhOcyEzjzTwAdUZKXX5C/nwQzXJ6SttIE4RJtoHyHHtIt2yB/KRoRjclvaRB7Ol2ws1Gy8cIKyHFOW/JwnH+cgzhGSzvmIRn0RjZBzr0URka5JuWabuF4WgyryXLzSt6O1S709Pq66ljpkbKXQ9dfK8oI2jf+gcZhZVoJd8DlQzdXS1mHchSkzxZZ8hJkx6TTLkJopV8XnzX/jtqWtU7V64/xgLVT15QYNw4J5ZjnQY49MVFo0YOVc9/xqnC+0cMkLqvj6ZTer6u21Cd3jVLW7+6XnX1LmfE4WPCpcnxSKCL2eT/Z6Cr+RZSMaCiEibM1YoHqgW+1CXrJkscba8uaFI7RvsFrdwrCmm1TbHTfTXxlGhFpaWkSdZbvaqKvqupjQESEmGpY3woA0rG4mcXNlzgSkHPlQxNRFHRAWF+50hAOARgisWLlC1LHErvLWtlZP6FK6kaKtvV1t7hf1sfKXBx4QMQmoCyL+kygiEp/IT58AS0T4OuXED9Kpgz5EvDypIhpx8pOH/nH9iEjlSOcYojz9JE49HBPCN9IQZPCENM5RX39/P4GoJ0WG+EdZ8uX1XJQd9Mqpta0tWa70peTxGcRTMTDo1VRu4NVVA1jOX7MAqtU9PxyHh62tFVWN9gGDqnHNEGVrzp+5TzXnB1wtVp4Drk9q9J9f2Wq1F8NZPC8qXgGvTbxjrOpWMFWv4HHTmSk2rl6ec1ybOjZs3KDVFtajRo1mCFV1H+DF6FFj0ruJI8IAb1xL+9inSBzxfzOeecEY42Kue8wmT5kivFWMFed2lGBhRIi5A59btmCZeiD5ExFpPlUqleSFYS6hqME11yE9IhQRqR7qalLVsiAixGp5itv4ox/9SOw74x3DiEdZz5kzR6zCcadPnDQx7WdzP0lEo87IMkHUGRHig8Li2kMR+chDOznPvG3GmdvMXfpKnPPk7ze+iDf7QnlW9+SJiIQ76iAdWUadlGsSZcnLmHAuoiEz4CfnIhrHlCdPRCR+RbwypA74TvvgHeVpU7lSTosUlBv1g/Gax71mRdwIG1iuGcNcgzpKpSxhtlJpAW7pemvtSWMVjgEzaGyltrmAp1TqY92r8KoxOujtQnm+tVnGsg9OvtbWFmO6RbShbvzj1gbLZXs84FV4nHKXJy8v1VmSdMw4b1/1ei+6356x0Ro/brx433hhQ1Fq9F3+UCanEY7v7Dfb2YJvdLmIcBMawI4ID1aRlBD7vKefdrrGjOlKwGK/o729Q6zYGtS6TbxtyHjmQSnZwixb+KeJ5JA0wAu1GPCcj6ANSgOMIo4ItVqhco6yhG5kEgQcc449aNzbgLfpVkdJe96owwqZO1nn7r9/UtDkmzljJlWISUYeBp22pET/49jB1m9EKOLVRD760mxT1UKGeuqe/BDtoxLipEMAgjTK0HbOwUPSqY88EZH4Tn2kkYf8gIUQ4hzlIhrjFNFoH+U5T7uIvxbRBsijLerq7OpU1UBcvmx5Eq4lbwfUDGquvS3l9M3Kl/YClPnzH9DnPvd5rVq5Oo0T1+VGIwRZS0tJ69dv0N/8zd+m+w0WL16c6qbfPT2bUx+/853v6N/+7d/EqyUnTRovbiT82te+5n3lRwTAATfXog20tea9SMZs0AbEOguRQbcZt2vdbRpwGnm7x47VggULkyCJCLq5TxJyrHDPIfjNjVhnnHG6Joy358GYAnfMoR0l5jNzi7BJ4JY44w5xzPgSMveYC1yHc+SjPOeb1Lw2x+CYG9IiIrnLBz2e3d3d6VErtsnwkp1++uk25talsZ138LykWNxFlbIsySv/U4OUZBVtoP8RMSSGaScYox20j7qgiIbcARukN0PmF32hHyhw8nKeNK7FeYg0Qowh4sxfiPyUI4049UD0lXYQpx7wQ0gZwqGo2XbyUBfGfkrLZc/hwvQ2NtpAveA2t1JshHniH3GuW7bivO66G/Stb30r/UgNfY0Iy/sxIj5+fLcN9Jq+8pWvatWqleb/WnV2tKdFFe2l/kceecRy4HPJwFJI3zWuP/vZfxM/gVppaXF5GwaWHRHhOmumqgYHqs4a2tSzyUbFsi1jbk+t28OYHXDAAVqzenW6rwljP8IV01GIyU24k5TtZLm9o5gZAdOZFAhFBh4lveT5Jbr33vnezH9Y99xzt+P3pAHB6t0Reuihh9L+E28R48YTQtKaZUljf4o0VsTE77nnHpGPCUA+QtIh8kHEoSVeLZ900knirUSs+LnBbMKECT5ekxT+xAkT00/dzfZ+dbsnGP1D2DOJ5T6n0CNA3x284kvaUAQgmORM1CZRD6DhGIuRclRGGhMegAJo4s3znKMc9fX09Ki8xYAhD/UQQpQD9DyrSl7qKjsvIaCmHq7FMUTbqHcoIi+WLz82Ql1VC8SK66L+trZ22VtotgCKTBiy3iFRIqMH5QzvNm7cpC9+8Uta7D3ha675gUaPbteaNWu1csUq73mONxALK8tn9fTTz4hVc8mKH2W+aNFzXjFX1Nvbpx/84Id6aemLuuGG67VkyYt68sknLGAWOP0Hykpcu7AxVXO3CiFkGkrbjSjC5fs9tq3q6hol+MyKob9vIN00g5u03641KbRPfswiMUgIM9OGDeu1fv16C9j1evChB/WQ8Qi+wNWOEmUg8AYuIXALNevgPpJtibyshMlDWWjb88Qpy3ny4c7GbU5bEdKMI1tmzGXmPwofeYRSZ35kVs7N+c04R3i8E0mcAz8Q82MoamIQvJAPPIENDGKINMKI8BzuS/MMjEREUlK0i/O9vb2e79VkhHJdrkVdtI04ITgjbzOdOP3g2vSNY65N3ohQRCQjhLShiHyUpd9t9oLBG2RDYcCCwZZKS1KErIbxNngauP2eFfkW8hxpbWlT3cb4d7/zPT326OP68z/7C/OtpA0bNopn0Vtb2+11GdCypcv1xBNPWqH2WGn2a+mypcb1UwmThQXDbbf9yPhdrG984+vibvy77r5LixYt1J133Z3qow12zCZlnWUl1evGs68vhXp6en2ci4UfbYzIVLXxPc4raY7hsbZ+KARtTdipyJtWSTPonhqp08Shwlw67LDDrZTvFW/62Wwlsnlzr3hFKApluLRx48b0nCWTafuyzXMbNmzwJNmQ3B7kWbt2rSfK5q3lABZA4Rwg5vEO3Nw85sUEGTdunHj8qntst8MXBOhXr16VJgJ3it55550C6IAlM8jrdsfQaY5LpZKa1DwmHIooS11/+7d/68n5DTX7hEKlLRgOgHeVXbLrLSDhJW46bnojjAgLzXWKCCu3Nfr85z9vYLygZpmIRjrg5VrU2WKrNCJsfKxOP06CYOM8dcMn3P48GwlfEABDtZu01taWNJ6sZLkDN8tKCvOixyvc0aPHqGarNzfY63aTofzqXqkm8jH71pwzNoUewC012i7nm268XX/5F3+pf/ynf7ISeFjf+973rXSfsmelXatWrnLfXtQ//dM/W4mvdJ8z1cx3XNVXXXmVTj75JF39/astlKrq9uqJ8WUeFL4I182NcICLsIK/uOOZL2O7xwrPDjehFApttrBstQt9s/uxfNkKC6WCod23aEuXDd3U/8IRBDj7wY8++oiWLF5iwdiTlE6P8byjxPyG4HuTOGa+bkuMHUQa8xDmr1+/fis+OAdxHmrGyYNrHOMa/GJsUz9tv+WWW8SNpk888YRXZ4+qo7MjeV04Zj4jyJkjZbt6S1m2td9cOzxJyTMUgSfK8fz3P3negh3mJcQ8gzeLFi1S5jqJ017K4JXghjh+SIQ5CcYJOaYe7o9BLtEn+kecPLQH2UNd5Ad7jz32WLrBlXPUTxplMIJIG6rdpJUsq1Du9J33P7zwwgvq6OjAE+J+ogAAEABJREFUvlbP5s0aM7rbfACiwT/VrYy55suUC+WJPG13OW7K7bYX6tprr9Nf/dVf6+//7h/SQuzfP/fv6ed+cytWthJ59O4v//IvrYyfcP2FlfaAlXWhqz54pc4//4JUpmZssyDqNQ4z4xKDwcOQjIbc7XBB4SmjLbwgq6uzSxXvWyNveNU0RkVnR5dajeUe18HCgHkMPxKF+5QiO/cv27lib3ypAi66GaVyyYNXNePzNOizZ8/yymiczj3vXPGoBcTD8aeeeqpOPfW0LUT8tYkbwgAgZaFTXZa0bYnzpEO4tbjZhPOkc8ydpcRJ40YyVs5nnHFGumsUa5uVQVdXl1BmKGrA0GZ3NwocC/2yyy6zMjjZ+x2jBPAZZyYToGuCgxU45SDA0gyJb0+UwX0OEFHIuGlR2F/60peS0gZ8rBz+5m/+Rv/8z/+chArPejd/JYgXvFxzzTWJz4CNa5n9Ke/v//7vC0V+2223iXrJ99nPfjY9K86zpTfddJMV4JPpGXOeOUeI8XwqwuaP/uiPbPU+kYwNADwUofgAOvV+6lOf0rU/vNb7QRstuPsTfwALACYf4CQEUDlK2gqbEJCxcuVRj+nTpqcXEIQynX3W2XaHdaqUZXrHO85xWNJau6ZlsB5+xBGa/8CDNrg2qVQCKpGMsX7vVcODmTNnbL25kHEEmACWayM0w3VQD6vk3s29mjR5slDYrNRpT27Dolxp8R55PRk+1k/adz8Nbc3/UaNHp5fSlCzYuauad22DH7C2owTumgQOm+Wop0mc5xwEzgnZT+Y8GG7iluMmUYb4WWedJdrG6ht8Pvroo2JPGgw1PWS33357emzrxLefmIaVfHUrBHCceb6tX7c+jTtGIYq0QSvsTn1pSAJzEMoeRfrkk0+K9zX8x3/8h75kHINbDH+McbD7+c9/XhjZPBYKfhd7C4fjq6++OnkqaEePDZ8WG9Pf/va39Zu/+Zs2WB9KZVBsuJSREdRPOWQWbfzXf/3X9IjaD3/4w2Ssf9tl/+///b9b66Te7anfe+O5jVe2CXj2/H/8j/8hHmVF6fXaS4XihUkYt4ODNYHpuhVtHQxvQ4UxxV7yggXPar+Z+2nF8hXJO3XRxRcbmwM2puu68MKL1OotkrVr11h2duiggw7W/Pn3J1mLnBgY6FcUmY3sQUWEtygm6v3ve79YFK2wZ61uxcyeNPitWX7UTeHG1ar1JAvGjR2H3lbZ3rZ03unI7tGjR2uTF3Yq5PP+5zIRIdzfeh0fJM/rKP7GFS1lpcbFzYuISMxm4j/11NOatd8sjR49yq7H3MzKbVk28hZwz1Q0Sr7m/4h41bmIcD3ZKygi0nWZfCgRrg9xXLKAkT8RIc45mhQc51GS5OHxDixD7jwFqBgT991/n+vM0p4HIIwIcUNHEvqOE/Z6BUYdgK4ZEoc4HopQ0LThPe95j6688kq7aZ9NfaEdGA+EgJ/98e7u7mQtY2jwzDYrBUBOHFBTz5QpU8TKFkv1zDPPTNsDtBcDA2segYRBQFtRYLSbd5EDVlyGWMJc8/DDD0/WLYqclcFQdNvtt4n2R4To21/bkPgrW8/wrLNzlMFWFQDiJQg1AyyLkurVXLXBukpZWQN9g6oZSBecf6E+/KGPaN3a9Tr+uBN0xOFHumzN/B3lFXSH7rzjLh1zzNs0d+4BPm53mZqmTp2mksGYZS1CKMyf/6DTc114wUV2IbakFfiE8RM1ftwEKQG/qrrbYP2bBEbV1w1l6TodHaM00I9gKNnAGBDpWOplW+Vr3Sb5g6J3oIjw3P1JM5Wcb3IKt98U0egv/UdA3nvvPelGqwkTJ2pgYEBNPDn3Dn3BGUQ5wghfxCWJNymikebk9CU9IoTSYm4SUh7iHBQRaWyIs1LDGAYvGGa8cRCPCk928Ow0WDrc8xvFjWCfPmOGIstU8lYN9bMCfc6K89mFz4q6II6Z40MR+AaLJcsW6mXvG7xQT83KH0ODEIN71KhRqR+skmkfK32MevDJUyrIJPqH6/mWW24RXoT3ve99aZuNa6OMWWmjuMAwxjO4pl8YKbQDg4G71zk3b948gXcMk6EIw4G2YsjDO67Bc+qf/ey/C0y02lXNC0EiSp73oZoVM5gFz/WkrAtVrbzZG37nJZfq53/+E16Udemww48Qj2Cus2E9a7/ZGu+twqvtFTvkkMM0e/bchNFKpUUHHHCQSpYFZe8hH27c33HnXa6vqjPOOFNj7eH6vrfAJk+aotaWVuGCL+ry+ZqxXDc1ZEnN1+/v7VdnR2dKG/A+tZRZzxQ+RtaU7BXoFdegj8zlur18hGmC7eS/bCfL7cFi2wgqlhqQr546HhJMiAjBFCzY9evX6W3HHWs3bJ9wPzGB+vp6bWX1ezL0vyLst3W3Ownh0qyfOACivShDFCPg4kYigD1p8iT1Wxixx33QQQcKS/mmm28SirG9vcP9zMWHfjMpASSrA0KsfkKI+FDEo2OXXHJJcsOhIFHUrNrJe9BBB1k5HSOeLQXMrCB+9md/1hO8IjwEl156qbB8UbS4qPAAQOTnUTXaQX9Q1jyuNn78eFuw7eIXwyjP27UuuugiHXfccbrgggtEHoQIj7h95CMfSasNViY8Zz4UnXXWmV5ZHZyEDm3+wz/8/+l//s//qS67rQGtvOdb5KG6lWNhNg0YPEwTwAbQS1aygO9CK2kU6vHHHa/uMWN1ycXv1BFHHKUu7xMff/wJuvTSy9Jr/g4+eJ7mzjnA7rALde455xm0kVxfP//zn9QH3n+lzjrzbBl7uvzy9+qkE0/RO995uXK3ocf7VShqFSXldVkx163Q64rIHK+qze6wmq1yBI8K5m6hLCuLY1bXtJkxfk16C54INf627RrCHrwwNw3ttH3E3GtiaW8IcaGzskRJYbiCLxQdCvAg42mtt71YaYMnDNm3Hfe2dGMo/cAIiYiE7eOPP06nnn568vqBoVNPOTl52+j79gS+UZBglzh4+rVf+zWdeOKJOtOGMjjjPF64uXPnpkfKePyMeLMufr0PeQN/Mf6RBXgHeDyNesArHgVwOX36dMFr6qNucE49PMJ2lj0JtKFm44BH03g/BPUNhV/SzjnnHHuq3pFkALIaA+N3f/d39dGPfMwLqjGqG7vgAPkIj3IrZvDgxbfqVtiN8/UUP+200zV16vSE1UPmHaoP2fA+/fQzNXbsOGGIn3feBencvIMP84Jtji5957t01ZU/bcO7U9zLeeLbT9EVH7jKeS61J65bV131Ib3zksuM5ZOtmOtav3aDMVlX4TaESsa/Eo5pT3//gNpbO1QY77S3MI5pa0RJmeUMngDc3fKHfkJetvto57/ZzhfduZIomeEQwmxrfl/SPDGD+N84iIh0HOEwL7yv+6K++pWv6Wtf/VpyyeCy+d73rvaK53t7nHhjGW8vahLHrD4ZOPqENYmLDAt69qzZyZrGsp04cVK64W2z9zcAe0/PJrl7qZ+Aq9/GBcZHzQAhJI0Q4txQxOTnWW6uTX5AAnAAMJb57Nmz07OkgI3nuwEoljVAxJDAWDj//PM9eWsiP2BHMCEo2JfjxhnAjmDiUTJclNQ5c+bMJHR48Qura+pFsKHgcQ8h1OAB7Xst8kgLy552/NIv/ZINh+Ntvebi5rEIjztICZlHW+I+BixOECsW+ETd3JlJHEtX/vT2bvb5elICWVayK2tj4nG/gdg07Nav3+A0X6tSEft0/eY9QqS/r98u9w3JcMDYCkWK556DXKPi/BHh+nNfKYSgKRnEnKctAJnQJ52nnpQ4c4LjvZlo466iiHh1Vz12KD1WqLhlv/zfXxZuVbZJmjjaG0LkCvMAjxJKD2WHYc3qmRVr5hUz85XVKCvR5cuWb723pOyVNDwEr8yB3BYfc6ivr0/Vai0pRubZ9sT1yA8Wu7xVRnyeV7BgDsMAJQm+2A9HiXIOXBI//vjjBQbJixJGFmBMg2lwTHm23Zr5UcgoZgxqDGO26KiDFTy4xvvHeeQF9RKHB8z9oYi+MNgsnDAGPvOZzwj509beJsabMrKwj8iMtyJhAqzktnbpJ0+31MwncAUfMJLWr19vXNUFv+EddXCdAbuzCXNb7JQdGBzQei/eBrwIog11a2rGbP2GDb5kYZ4P2rPV52sWaSGHnGJ8slJm5VxN6TWXKYxtrl0qlZyWp2uTVne7qJfZXHO8wLJwQgQpjrzOb/Y6y+/24lvU8auuE1l4MHNlMNKMyc2Yzq5OnX32OzzUhcMzvf98qs60xXeKrdNTTjklWZannHLqlrB5vPtClBbXZcITx0rFCmWys1cL0Fj9M8hMPlxIRx11dJoYK1eu0mmnnyaAD+WeIEy6SktFJe/DM4mgJmO2jTfTtg2bE5Tr5OYV5zILEgQGx4QIilKppIgQ+Zt1UobJGRF2MbGqr4v85AFglEHgNPOgpAExoOE69I+QfBGRhBDXpnwE41ikCU++oYh8CApWDfBncKCmLLKk2HLzZcB7xFW7orBo+61gw+dy97HqFXWv97vqXr329zXcy5Qr2+XV5/QiWcN1VewOYyVLWLfV3mKXF/EeG0llK1bSBgerVsKtBnThVXVdpVKLeVQzWEO9m/udnqu/r2ojJk/U1zuQjnO3j+sXhdzH3PmLFNYsjOkrQpk8ofB8hktvOXrNDjG/CqOVeQ0Pco8ZNHXaNOP3bPN3IK28wA8rOLC0txCK7xJ7plgloxy58xsvE+0H2yhKFBJbO8xdbqzCVSzP94jwPMg9hyzsPd/qNrbBWIRngTH5WgyDX2CI/daISNnKVvgY9lyX+USIwiKNvGCHkHTK9XqrrLu7Wy3ehwafuOgjwvO36vnH3KyLfFwLhY7S7rdhSvsGBweTd5K6wC9E3VBEJJlAG4Yi8lIPhgEeNuqlPnAB1jjfY09Ur3HpaaC6V9bUU3MIgcFQps0pT3/CbFfX6IS1SqXV126RfL5RvnA8VMoqlqWF+noHze+QVDJ2a87bmo6rA3XV62Hje61lUtV47VfJeB801pElyJSaZUfCqttBG6z3k9yp+5h2VT12NY9hjXwOpTAftYVoh173Z69X0u7uy51kRCGnFBZ+MkNyMyYkD1ZNTBYscKy+/fab7X3CcZoyeYoAPRZmg6apEU7f7SFAbV6LOKtKCLdYRAjwchc6LipW0+x1HOE9LFbY/FQl1mlXZ6eY2Exiy7Pt2FF4suWeEI3JALAiQhGvJs5BgC0iPNEGk8IFcKQPGoAIm16DmDR4yTURAihfQM0x56mDOPmIkxeKaNTb3t4uzg/YciXOuZonM/F6vZ6EgIdMlOWY87SBtKGI63A+IoQAamkpS9FgBW1jSpAnJ1JIdQOmUm5JvEHJysr4gQceTPtt3Hx20w03qquzSy+9+KJ+4L2o73znu8JAeX7JC7r55lvSnegbN27Sfffel/iES33Txh5985vf0vXX3WDLfYXWe4XN/jTKv9PCgutlWVk2/D0emedjoWYVbEEAABAASURBVLKNAdrVZyEXEWnFwDFztuY25nanwXc609rWpgh3SvvOhzF9mXIxflCLvRDPPLNAKJCDDj443ZCFt6WJpb0hbOIY/BJnC4vVKHuvzGnaeOutt6ZtH7ayxnSPEe8/YNXMHCCPp2oa84hIeJE/VeMwIramR7wc92nPrcIKpT+dL1tBN+Z/Qw5wHBECx9TPdeAvWIyIVBYck4bC5DwY5TxEOvWRDnG9mnFLevM8ChzcksZ5iLwRIa5J+lAUEamP4Jfy8ie1V6FeK+YBK0YMC/dW4Ldu+Y5SpM5Uv/P19ffp2uuuS16173336vSs9MaNG/X8kiXG5jfTuyXavTVYM7Z++MNrde8999s71pNuNO3Z1OsaSgm31193o+69936tM4ZfemlpimdRUqVccRtLNlhqkgcHwz23fqE94dLUW3aezZt7RbvQQcnIdh74BvELhRGReE274YW7+rq+2esq/QYWTp0PJWYxgWAITNq8uUe8OIBJKDOrx8cwlMm4pwkBzDVpC2HNE5524p7h/cEoJ0AzatQoC/6lOuZYXgVa1fMvPC9cwgufXahypew90y5PnGoa+JqVHHXA+ohwF19JnBuKAAZ8AiSEKEwmeESIdsgf2okLmmP4S0h+wENIGu0tWzjQF+qEt8S5JukQfSWdlUWvlT7XY2zIR7xZV8+WO0s5R11uwpBfzlGW6yMkuMGklJXENamrZlcUb5aD3wj5zZs3p1VYzbwq2TPQa7f2ooULk3B79JFH9fgTT+gWC1AEKo/n4Yq85+67xfOS3DmOcOUmmRUrV+qlpUuFO//xJx7XooWLjN0i3WTTa8GywSBv7+jQksWLhWFFn2lD3e2hrfQrt7DBEsd+4FzuZQJt5Hzh2upuI52Gb4T7HFkYmg1pbvufhWOhtevW2RjrTZ4w9m8bfMzTmDK39gjZwPxx1wErrKJxETOWGBHM95WeM2zhMAd5zGjWrFkCxxjgkyZO9MqugWPGmTltALvbRZrLEaHmTWVpnjBXtiGwI3/AIzhgPhEyh8ClT6Uv7aY8aRGRZAcnmGOco0xEY+VL26GScRIRyXDnGCI/1+Qc5SMiyYrUbjFUhY3RmshHW8Cpk4f8UoY2cW3aS5xxRb5RrmolTdvAMdd27Vv50jiWwNuSxUvEFuBTTz+VVvXcXf+Nb35TD9oIf+CBB6yQfyjucOdmOLYkFhubKGI8GvTjnnvuFY+jDdr7tmb1Gm22twz84/oG62yrhXtAewm5NnhN4+SxKGWZqjakcuO68MTNnZbyOMxtoWelkrO6pOc16ZCre13f7HWV/gmFI9zYLXnozJbosILcud1f//c3iBXeh89hj+Tqw0wZLKTcK6cNdjFuWL9J37WV9fWvf0O8fOJGr5q+f/X3Hf+BfvDDH3h/i/Aax532Q4c/8PFuph/+8Ie+7g/Tow3sp/VacWF1c9cne8JMjA4r6vGTJ2n+A/M1qmuUXljyvK6/4SbVvApc6b2TGorRrpi8VFER5a3GSUQk4DDxmRARoYhXU5P/WNlMwGZ+wAUQIxplUHoRIT6AholNXoBIGtdo5omIdK1m3eSLiCRwyMcxdQNG6uFaEZFWF9RFGmUJyUvaUJRXKyplZYNW3ovul6NSlisrtXilG1JRUVHPxGQuaoXnh49rPnJaXgvxPuCJ46eoHC1qqbSrs32UKwqVoqJLLjxXv/mZ/6FVy19USTXX06+OlkyRD2hMV6vWrV6e0lQfUF7rVUdrq9asWun8yxyv6Obrr9XnP/dv+vxn/0XPP7dAoztbVRvodf39qg/2qRh0u/JQq+dpz8b1TndzbagrL6s2GBZyuceypu6xrSrUEODwTls+28a3JL1lAu9YuS+Fx7MkmT/1yFR4jvd4v7/XSvL6m27St77zbV1/3bW65hrjdTfjlJ+r3FFivxyPGO53VtNsYXHPAh4zlDTKAUOcVfbixc+pra1Fz724XPVSq6pZiwr3FSVatcCvex6WvELL3PdSUUuYiohXhWAEvDAnwFITN6SDVXBthgrMQaRDKEHKNePgFzxz3AypLyKSIRQRHo6SwC155A/XbNZPnPop22wDx+SNeHW7IyK1Sf5Q1kE6Jl5EXUhzVqTKS8pqZcnYrfcZF/3mhTFc1ELV/sI47tG8g+YoK6rqHtVuPNcT1Qd7dcjBc/XBK96thx+8T4N9m1Ke9tZMpaiptSJt3rhGebVX1YEe43Kz2ltCa1a+pJ4NqzVp/GgtWvCkPv/v/6q//9u/tQftXinPjHsXrHusqmUN2GVeq9bVZvxv7llv3vS5G/kW/EoD/XXToNrbKqrVe1Wq1FIfS57XwTv8nXtnv9nOFtxbyjH5GOzclk2HXcMXXHihsNa4W5e7Dtk74o5i4ueec67OMRGee845SnTuuUrndlPI4xjnn39+usbZZ5+tM8880204R6zisAgBNcqaGzJWrV6VHsTH+uZdwPPs6kMQ9Pf1JcUHz7HWAEPFLkGAwQtBeCYZRc9xxGuDBNA1Acq1/+Iv/kJ/93d/l/a9ASn1UzeudwBJfQCRRyo4Jg9pWPIIGOrqtysXfjMGrB54rpqbMtrt8qYs56mXPOzBE/+mLV+8CVyLcvSF9IjXaHsUCs/UzFI9iJDZxGN27PvV7W7yoWo8duW93lI51I+iVGHAVH2qbkVIWKRw3bq1ri80MNCf9qN+dMtddhGOcflCnR2jdeSRx+jJJxZIRdlgzM17t0slHXboUTrjtHNVKXWpbuBWBzK72lZK9RZdeP7lmjJ5lusoqV4rSXmrWiqjXLZIVLJxtXLF6hSnz1W3s1arCv7Aq0nelnFz3dZ95xsRkr/yB540iZux2O/FWOUmxouM6XPA627C6M7gnzuWuSMa3GF0cyPWU089lVb/zHW8VNyDwqqOd3gz33lkCfzUPPaF5RX4AUutLWUtXbbMi4vvijwRoYhXUxL4TqcOeMUxdfz5n/+5/s//+T968MEHUzmuz7zCaGjmoY0YFmCUNGQBIdePCJW9CBiwYUQauOTd6fSBujw84not3scGb4Sks1rlOhGN8siIiFe3O+K109ra2jVu3HjxCBVek9wr0oH+gYSTPA/jqZ4oN798FVX4cZq6lW5Pv9au3WCsOb653/vJVT34wKOaPGmqcp+fPn0/HXrI4cbniyqXWt2/NrvVB5xvUPvtN0cnnXSqajbo+/urTh/UC8+/pHHdk/Sed39A+889WHUbB5Tb7Lrr9VBhAwJqqXRozZqNvkao7vLsUefeturZtNnen/50p7q8XCgKlykK8SleJ7At+qjmzUfhJjNxCrhkZhR57gGsaMVyW6v1ulB0rS2tyVXc2tpiS7btDaNWW19t3nNEGEOAgJtIuEsThYbyY9/56aeeFivd1rZWAZYzrNBRbJwr29IGWLVaXR0dnZ4Mo5OL9R/+4R/Su6bJh7J7LQJYuNWpvwlyeIQA+frXv6758+cLw4A92z/8wz9M+zv//d//nd70hRHBdVgx/NVf/ZW4MYZnHgFph929P7SngBvgygY6/Sk8HvSPFxzceOON6a0+X/rSl9JeEq4m7nCnz7jWaW9EiPYRH5K8sm2eb7Fx0swzwe7DzXaZV70a8XRofK3Q6+YRB4PVQYUj8BzhNzA4IATncce9zbxbLMbkO9/+tq62p4WxoD0IsYcfeUTcGYshA77KpbLKvu74CeMNzlzwL/d86+js0EEHHij2H6kfxbvZ7rMIX9XUs2mThU2umucjvFlnN27VbcotcHKXjyyz0OhP1vmY0WPc0n3vGx4h5gs9J4QiwuOzRC++9GJ6XwC8501tjNfeQtx8RVt5fh9DG4UIrplD3NENzqrVqjiPt6yUZVZG42RoeD7UlJWytOc+btw4PfjQI/rff/zHAofIiub83j4EA5yHkA+cjwhhyLB6R7HyBAm45CbUf//3f0/vO8A7wPYN7zHgZUO09Rvf+EZaKHzrW98SLxZavHixvvzlL1sBrUmyh75hADBn//qv/zphnjcGkof+8RIVZADtZ27TNog2DYfAZkdHu3r7vPosl0RdERnTIVHh/7TFgdxV0Qf6zoLn/e97XzJym0/GPPwwuD0kPYq10tsObEcgOzGQMEC41vjxE0TIOIBB2gzNm3eIWqwnnvdWI2NTq9USdttsRJCPNuTWNeRFRjC2jHc658axrYpMa7Ocp51CcDh9V3xf5sauqG2P1xGJFWkgfW0Yi7A85pijrexaBBMTcy0QfVoKf02EgpOQdu9n2+szuZjATHImDzeGYWmzit5olzYTi7vAn7erm/Cpp570aqzipobdugPKspIpM5BW6w/+4A/08Y9/3Arm6jSxUaQoQJTiUIQi5fx1112nm2++WbzkgAk1ZcoUW4B9SUkjJFiZo3RQtgCYH5RoTj7Aj9DhDUYIBG6W+cpXvpLAzT4ue8wAm7LUzyMZrC7Ii6DA4mffCOPgmWeeSY/IofBpbzMk/mq6QTfceJ1uvOl6hzeKd2dff/11gj8rV65I/e/r7TeP6qp678NbwirsriLs66uplLVq5sw5GjN6vA484BAdfNDhOuP0c/T2E07R6aeer3de8n4r26N0zFEn6Rc+8Wu64NzLtd/Mg22Vz7ZVbWt88UrNnXWo5pjWrF3v8oe4vlmaO/fA9Jz12WefqwMPmqd6LfdkymSdrM2b+xRZWRgMtWrdgqFL3AW+evU6K/oiCYCKjRpWKxMnTbLh1SUPtPalD9iAUp8BsSMIT+YQN4AeduhhxnGnahaYYS+KT+9VX14aAjaY58x/nmrAOGX/E+XFnMYIRlmM82oRQ7DmSYmgzyKS0frP//Iv+r3f+z3ddffdWr1mTfqxllfP/xtFGvU1iZf/kAahdObNm5dwDCZRoDzDPc4GAHjGu4XxjWJhvoFrMPkf//Efor0odN7+hZEObukTsgg8IzcwClCO3MF+6623ircSMj7d3d1J0VOGfMgH2jMcuu66G/TSi0uNjV7joq6ezT0JG9XBurGcexWdO6wb21WNHjVekyfMsnt6v4TNvN6mtx17qi664N1633s/pMve+QEdcdjxmjxxlq58/0e9Kv4pHbj/kTr80ON09JEnqmdjXUccfrwuveQDWrl8o449+hTN2m+e3nbMKdpvxkF6x9nv0AH7H6DCRnTd49Rnw6Gvb7Pq9ar45TzmIcaXFNq4cbNsg7l9herG/apVq71ItPestV1S5j6Ew0IeZofIBQc7+c12stxeUSwzH0pWXGjqiLBg7NFzi5+zG2Sdrru+oYiw9u6++540mXAx33HHnboz0R0OTXf6eDcTk5hr4zaGABIvLgA0uItQ0o89/rhmzZ6lUqkk3N5Yfj+69UeaNHmyEGSk5/bjEKJccbfxHDPPYnKMJc3jXTy3PBQdffTRIp29M+4m55oozOuvv168aASLkHpYaQLuxbasaR/1swLHCODarKbHjh0rBA3n2XNjJTFr1qzktaAcQgdFDeiZ1PQxInTMMcdDFPAvAAAQAElEQVR40oayLBP7dbSHxzxYCXCO4yHp+GN0/HHHbaXjjjteb3vbcTrllJMMnkELp80NQW5w1CzQq7VBYcnSp8HBfvXbrX3aqaelNmdZyfz02UI+bhM3/CBkKYcBNdor2rEWbtXBampv3RqXMi32ykSEgdmrWt7vcSq8Ei+pZ/MGtbaVNHXaREWWa2Bws+r1fvfR8QHHPWZ1u8Pa23n1aKvd66uFRc718qLmObvJ7rf9XF9Z4fZrH/oU1sgQXS4M4oiQv+KRQ4xtPCEoE5TD7bfdthXDYOmNJpQV+AF3EeG50JY8KuC7ZAyDX1ZcPGmyyqs6niXO3V/66q56HtW84hsrtuNOPfUUlbJMrCKp7zjP9aEIrDTTwSm44fE0FDCeKrbS5A/4Beet9uBxY1VEpCdEMMjxDpEOdsEx8xCXPUqeOG577qpHFmCggwmMEUJW1azCMUZQ/mCDR6l45wLPPv84+dNs9/bh2084Ue+89BLjaJNqVoaeAVbINfOnbsqNpcJkLNkLlplHZ511tiotLYLHLQ4xgvFg8RTPqFGjrTw3up66JkyYqE57HLOs5C2I0+yRmeR6B+36LqeQdMYIL1lEZhnSb/nVqUmTJ8hFlOdVy43Nam0rKy+qqueDqluudHS2adSoTi+U1tqo8CLRcmRwYDDN2fHjx6rVPA9wbHe3FBLkfXe9js9uU9JbwbdlYm57THxHib4VntXN/BavFrKFIsLMK3y6aMQtDKXQUUceZffv01q2dFliWLv3RkulzAK5pUF2aeDWSORBZqB3NzFwTHKoZAADrk7vn/N2MUAMmLFa58yeI4TS1ClTdbcta0DFynXZ8mXik9kqgQ+VciUp3A996EPCpQxoAAx14vYeili545rmHMJgzpw5+sVf/EXxchBW9Lxh7H/9r/8l2vMzP/Mz+shHPpLevc01eJ0n54h//vOf1+///u+Llxh84hOfsKI8Rb/yK78i6oCP1PnHdt3x+tHf+Z3fES9D+OVf/mX9yZ/8iS677DLxhjLyoNxpDwJh9OjRIqRtQ1OnAdS1hUZtCbus3Ka73Cht3LTRwDWY8lyeFklx50XdYB1k5oi93w0bNxjYmWq2kAcM+JaWinLPmVI5M0BRplUNVgdUrQ+4TD2FVR9Luaq1gQTYmkGaZSXZ62WrueJyA0oXlARQ694bj8hEWLPLPSJUOHN/X78q5Ra7O8dr1Up+PKWert3b22Ol3m9h3W3hUUp5iy14cZVv6Jd2QM1GEN/V5A6n6qmXCEYV8dE2lMAxhh4ruoiwEmxv4HcPYZa5/OMIJYYi5CkMlBjKBxxnWSYU7/r169NLfPCaVVpakqcKLIc7ClblWcbjOijUX/yFXxCu6Y9+5COeo6Wt83t7LDTxTdgkyvM+ezCG4v4F1/WZz3xG+++/f8IouGb76qd/+qf13ve+V5/85Cf14Q9/OK3eyUcaRjUvFwKjGO/sX/NcOm8ZJB3sf/CDHxTvKaCdlAfzvPkMRY9cA8vI2u3b/JOOO7s6NGvWTHVZ8Q0M9FkZ1uThNpfMoaJBUgNHg9V+43fQnKsLLG7evEmlcqhUCdWtSHMbvfJ2V6kUxnK/spKcb8DxPm3atD6VKywXOF91XZFhAFSNxaoyx2tpj9l1Oax5dVy2nO3p6fV5qTrINS1fVNKUydO1bt36NFZhDbph4zpfo1+TJ0/agmM3XI1PYTwXvnLjaOf++xI7V3A4pWgo+Zsh8Z0l9zkVbbKBOnMLQtK7rPjm7j/XTC100skniRUj1h2uY8ITjj9eDTrBoemEPUMAOF3f1wNIABslzF4Jligr69leiS55foknVc2uz3ahRFFwTHyEVtmu0dxuGBRLtVYVQIIRWLEoTFaEgL/mleRrUW4lxrnEM8cxAlCOfX19yaAB+FwHwBFHsXN9BBL1l0olW6gT0n44woFzVft8qAOB1oyzaqAMK1TOUSf5aS+g7e7uJmoZXaT+0qYfS1asL58HLDUrwrr51Kb9Zs3QRivg3t7Nwk1XM29kIFa991u4j7nL1k3FljSO5flCPtJrVsCFwZ3bim+GxMPKuV4f9Fyq+lqDKlwe67pWrdmCrielnOq3Mq6bCsbGq25W4LmVde446bTbMsZlck2fPsOKvd+r54ZRsHbtamWlTFOnTrEhYLe8xzgxxv8iEOdSRCPUXvBh3uyOZkQ0+kj9GDijRnXp8CMOtyBcl4y/0087TU387C0hK0dWvbiKmXcYt3iRMMCrxgSKi1UrRgZv7ctsYI8aNUpZVlKlUjYbQ73GXd14bfHq65BDD9Wll15qQ27ca2KizpwyMaeg5vGECRNSOTxWYBLyBWzYtCUCe2AQXINpyqFcaQ9lwWiWZakOcMz5UsnKyFthFe7FGD9eyAPqpS7OseKmDvpK/ibRruHQQP+gjS9p2rSpQkmHleyAPV/MA3AE3qg7t0ENgdfcWAWLUB2Mcgx59csxCrgwpglZBVNGXs1yrmYjvO5VMel1yiblXlXN6b6E3de5itzot/erbkVdJFznIl638rYo8ap8ijZu6BEypGqDnwVAp/fV58yZrZL31dFFUigixKfxn9jO0R5R0jvXtB9fCoVD51HWDGZmhjDRlr60VGUzin3VmgFAGgqt7sldt9BuUF11j0hKI303E22FEEIQd0iyF8REjwgB7vETxoubOw4+6CCt37AhuYN5XjQihPGRe7JQFq5UKi0Ge2YFkguQ0EfAFAFHyLHjFBFpMkXsfMjVIiK1iTZCEa9dn3bqY7PYVqwShWsI1QzMqdMmqadnnftQV+YsRXpvdquVYss2xPEWqrUp30rtyuvb5tuBeM6KfcepbsHRYkFX9VxEGHZ0tmtz7ybP0UwvLV1i4deqkmV21av2osjdr33zW1iyQfKqw9F0wxXGIzzjZTAYpnsKrzt6ndzyhG2g0fYE9ff3C1cwcoeVNUqRpyRQaitXrEirLoxT+oFckqdwRFhBtajwuINjykDDnQERoYjXR1yzMOORJSUr6Ihwu4rXrJe+k59yEY1rU5bj4VBYKdumtUesQy++tFiVlsy84tpWlm4P18jNn8JKN0/Ks2X4mN1RjOetlqmuP4cqvo5xXi+rXi+pyCuemk6vV1QpjzJuR6mvf7NaWjMb3es0a840jR7TqcLGfKP/WSPgf/Bv52mbmna+kmbJPRkyIQpfkP5HhHIPJKBebkCc6v3HtrYWeYaZwfW0SmTiQbiYCEulskpeuZQ8IXcnAbrtiZumsGLPPPPMdKMI8XVr14k9lFEGPEqcyfm97303WbeAuqdnk6RQrVZ3n2qeDIVoN/kGBgaEIQJwNMwPfHy9FBGiDtpDGBGpbcSHIg33w/7OK8gVePDp79y5s2xw1QyUTeZNzavpgRTWrBQbVLd1XNtCjpt/ta3k9K35djRuq9urdazoHSIrX/bEa3aVR4SmTJ7srZiXtH7D2kSHHjovrSA6OztEf9yzffbLXIYGvJJasmRJWj2j5MA4Rijza28h2oMyZpsKbxY3ZGJQoLSXLl26dQ5yjptDcT93eOvNNkgaZx43QhYNetVt0SUWGcgvlPVwJ8BQGNuZNHhLuYhIeCb+WsQ4abvPzszfSkvFRvZGzZo9UytWLvdC5VnjGZzWknepthWfTdztKE6dr+p6hkPGKDjdSl5p1yDSvSCoOmS1n+c1jR7dpWeffVqD1T7hNj/2mKOUlSyUGGCIqOW1EqUD7eznTa2k6XSEu2AU2+iyZdOn1atWib2sJx5/Uk88/nh6BAF3cpN421Qz/sTjT2hr/IndEwegzWsQhxBAuMABBXFceNzwBpAfevBBu0Wnp7uvBwerGjV6lMpeibV4Xyvczzr+FjpuinCCQ86x7+3osL+AbU/TsBspj7HoK/RyHAD39ffqsMMP0aLnFrraPN0NX7HxVSlj8UJlIVCHpHKLKsOlCvXtOJUrJVvkdVUqLUlwT5061QbVZj36yMOaN+8gTZo03quHsvemB5Rl9M/d2Fe+W+Zvc/7RbeI8zofAR0Gwj/vgQw/psUcf2+1YbeJ0R0IeWeSeEl7ti2LF7T179uwkb44++mgbjZvT+xC4wYp5ipsZJUyf5LlcrlRUq9cVEYot4172vI0IDfcDz14vNa8J3yHqi4i0GCC+PdGPiEjtp2zzPPHh0KDdxRVjqr29TYcbx88887S9gwOWeSWBYXhSsWe0bBxxXBkOXivG/3DI16lwnUSZKpVtqeSFRyjzfndhq2rKlElav2GdbrvtFs2YOVXcYFYuZ1bPuRqfcNAkR1/HN3sdZd/QokykZgPyep4mCxOn4kHhbmoeO7jn3nuEK/lxK+NHHnkkrVofedhhood9DPm4eW43hYD5IQuaJmFxs2+LyxtXWd1g5S7DqldoGzdtUmtLq1htd3if49577tWiRQsF0Bv9a0nAIV7YMhkcHPTKup7SIpgUTa7sWEg9Q1FEJJ5G/ORwqPKkRQxddsdatn0upmqTGucqBlPJSbNm7ee2Fnryqce1cLFpyQNauGT+FiIOPehjyPHFDqGU72GnD4Oee1ILh0GMHQbYc88t0oIFz2jJ84vFjYBr1q7S/vvP0agxXUkgycDPPQ8aPds3/zOfPaUtHCsW1FUb2U+kR49Qmo89/pjx+sheQ6yiJ9srwlMK7D3zLDRYxAhDIZfsocNDBo5JZ6XNo1iGRBrcqg1w8pTL5XScu+P0f1u5lk7swL8syzQURQyNv4jXTt+2nojXzkdbaVpEEBh/jTAdDOMfxVvbKkLBYWyzQn3q6SeTzAM7L9OzWrj4CS1cMgysLnbeYdHjxvZjL9Nix6HnHtUih4ssWxY//4SeXfiIXfMLtXTp81qw8Gl1dbXb0LYgsuteVtPcvCZty49t4xr2xzUPu8wOF2gOZLMAx8Ol3IUpk4SY47k7791HH9oK5diTu55coVK5VNEZZ79DM6ZP1cwZM/S+975Hp9ulfOHFF+vid75T77zkIl16ycWmSxy/zHSp3kn6biTenAQ1r0OcG9lwk7FnNWfOnPSu2clTpmjJc8/roLlzVdgde8ZpZ+jCi95pd/d4dbZ32lJrU5/d2lbHXlfWksssIpJAMxvSMQCHV8MhyuwqwtigLq5P+FrE+WGRJ34heg7VfJQnqplPpUpZY8eP0YmnHq9RY1tVbi1UactMpS1E3Hxqg+Q0U/s21Ob4cKjd9Q+HOqS2rlC5va6WzkJRruqIo+fpHeedoQkTJ9j4qotnvCuVNvepsXKRP/DHgZoh8TeSmu0g3FWU2zAp3Gv6VRjDDZLGdI/TeeddoLkHHCDcxe9933t1sTHcxNDeEF72zkvFY32lUtkCfIkOOexQLV+xTAcddICefeYpTRg3Vvfec7dX1L264OJ3Ki+1qK21RXXP2Sy84soqluWh2mBNTrRUMyfyXJkF/XD5+1o425n05rV/Utlt8zF+TWqm72iIocL8B9HTZ87UxZddoKkzJyS8lDuqqnTUTPWE25bhmdSg0wAAEABJREFU4JS87VJlWAS2tylDHaayqaUjUl0pNKbLrveIow/WxZdcoJmzZ6qlrd1Y9hiaEanvllfy3C48xx04dee/2c4X/fElIyJliHhlmBKH8S933kbXGUYpd325Jzm15nkhOV4rMqEgWrwCXbehR2tWr/Z+1nEG+2h1dHWpvaPD1Ok937ZEXXattHeQ3ql27xPtTurwtaHOTl/f1OX2sNrnGWIe2cgNTFxieb0Qz/kdffjheu7ZhTrh+BOseEMlg7t7zFjV3Fd4AUk1yR/KOnA+86YoFAFXSHljKKJx/cJt2ZUtKFJl9Byq+4iUwv3NvCdUVW5AHHH0YXrPFe/Ue6+8XO+94t2md21HpDfpMp9rUjNtR8NLXXbH6X1XXqZ3f+Bil7lE77/qUr37/Y5/4FKdevpJXkWPUlYqyUPr/bdCngp7jVKOCPM3zOvd92WeQFzBo2lZZuUlKMRNk089/YzwOIGd3YnRnam7s73DhnO7ty0elQdR6zZsSHejr1m9UktffF6lTFrw9NMJx8tXrtbocRM1e+YM5d5jBR71oiR3WOG/khPCTMgy/0eoO763fyPc1i2NZAyhLYfDCur2gso8IMRomzJjks6/+Gy998pLTBeZjJcrLtH7rgCvO4rRZj7K7Cw167hc77sSWXK53us2vMfYff9V79Ll77nIeH6Xzr/oPI21QcYNyZGVrIcsi8UnV4NFhQ9e5pUPhv31VBp2mb2mABMjFBZuZox5UfaeAgqvxRbr3LmzVfXKk2dU2TOqGRw1W7E1Qu/rppD4biQMB4hr0QaUKm3euHGjWEVPnz5d7L/xGMSqVSs1Y8Z0rV27TnWDtuw96PkPPpwEQalcVtUWd1GEJ4EUYYBr5AMvI8IWbE0DHmt4TRrh3kyMXJY1oEd7I8LuvrJKVtic2zepSAaK/6ul0pLehLXJOOGO6ObYgqO9hdL4FYWefuYZgd+nn3pKY8aM9jbVAk2dNl29vf1eGHTpgIMO9jbHQnWPHacOG+m5yyDQGXehpffNwX5Vr5GNEBiAt3szfmkbHYgIgqR/aHtEKCJS2q7815AUu7LGPVWXJ3vY8oRhDKoRrs09m7Vy5QrxkoG+vgEBBlatAOKNoiY7mtenrU/bwub5aPax1q9fr6lTpypzX1rbWnTLj27VgQcfrHvvn++9j0UaP2Gi+vvdF1ucEQyXjRIr62a9b65w17cWULOvB1+pHbA0eb23hsxZiPZFNEDNMW2nD/sMNbpu6BYmqyxjurBbASOWt1uddNJJ3u/rSgZYRDgP+fYOquV1Y/T+ZFzhHcOQGD1mjMaNH6djjj1WGzZt0vkXXqCXli7XoBcHEydN1ubePkWW2dC2N8h9RUe7V9sN9xambJf6Vj0Et2CYsGmAgYs3A207JrR32+NdGUfq78r69lhdXjg3JrzBUsoa3djc26vnX3hBTz31tL785a/o+1dfnX5Z5ofX/lDfv+b7uub70DX6/vevEa/S2xP0fV8T4lqE3/ve97R48WLxgnju7OYlIdxAhtJ+4onHNLp7jKZ5hX3bHXfqoPTS9zb3s2RhULGQgr2hiBKRfZ4iIq2iUXCABJCj6CLg0d5PDCDtJkRIRQTRfYi27S+IbhAKmhf98CIQ8MJ7oa82lsHQ3kLf/ta3LGee1PEnnCC8dywMeL3mO845R8uXr/A2WocmTJyk+x94UBMnT1bFW3F172fUrLCVPqFwCDnYZ7/gFQxsO/8jQhF7NyFzoG0Hjn5se7yr4tmuquiNqKfwpPdQqlavJ5dDa2uL3nbs27R06UtenU7RQV6RHnTwQeml6QcecKAOOPBAHXiQ6cADhFLcE7T//vunax100EEiPnv27PQqTV5cgpJmFcijGbV6VZs2btDbTzxRC5c8r9kHHqyx/OxalL0fLe+91sxiW+G57CEIx0e+gAJwNwleEid9V9KurmvbkWvW3RRW2557q8e3ncVJPfsfC0yejQYHKGrukOYNfXsCq8O5xrxD5on3SLe2tnmLao3d273ihrAli5fovvkPavp+c/TD62/W6vU96h4/SQO1POHY8FWpVFbuLTexlE6D7I4LURzKtS1X0sm3/D+UXRMHb5YQOdP0AESEF1CMoRSx68ePmaHd/dmW8bvqWtQphUrehybOQHd2donXUXY5BEA8w3jkEUfq0MMOE68ZPOLww3X4YabDj9ARTTrC8d1ItAHi3dZNmjRpUvpZSNzcCCIe40BpHzTvYE2aNlOPPPGM9p93hPqqhfLMgHY/GXr6WdgdmBvQEaQY5pZqEaGIlyeK3qKf1H/3l+5FRDLMGHcAU6vVXgGUiAZPIva+kPbyWA5bMbSfGwvpW0TQtdSPiEY8ohGmE2+xfxGNvkU4LJTGEz7Aj8GBAW3a1JO2rjCsjzjySDXxsydD7i4fio448mjNnj1Ht91+m7q7u3X3XXdp1qzZ4gd8ukaPUe6tqYcef1LTZ++vmkqqm4ooWS1nqm5ZTdNtOcUD7sAM8DdcbncPc0QoItJl4DfEQUSk9IiXQ9J3J3FtqHkNjNWIl68fsXfGaXNEpGZHRNqSaWlp8VAWW+dxRON8yvQ6/u0RJf062vfKop7EzOmXE0loHIX3dGu1qlB6M2bOTJO+OjgoBCIDD1P3NCGAUR7cNEbI9SNC/MwbApq7VkkfO3asuNN7svetnnrqKYX7Io8vN8DxyMYWvdTo6CsZsCXtrR/Au217yXGpVBJ8JM4quhlnvPdmYj60t7en7tBmHsdDaUdESts1//b+WkBv0ZzPza47rBrHuLonTZqY9qTLXnkyxm8EgeGhKC9yy5qlaQXd2dGR5iFzMCKEUb527VqN6upK7WeeWiBtHRD6vfVgm8hrpW+TZZdF4eW2lXE8FG2bZ3fE4RkLKzABnzmmHXszfmkbeiUixNhGhPD40Adt+dCHLdHXHexxJU3jh0M2TdxJT9+kqRwC6hRvJIe1GfVFZAkw69ev1+zZs7Vs+VKtXLVSL3iPmp++W758ufeKTCtMQ8WbabswbF6XEELwrFq1SgsWLEgubxT0tGnTDPZlmj59plpa2nXbHfdowuQZXkVLg3nJVnhmK1xCKBQWDAi14jWepTRHzC7nMH+KtxgN1TdADQ8BR0SQRYAcxbc3ExZ3RKSxAuQ0HKVNf4jvzbRL55W3q4Az/W2MnmOG+Pp168XPDx577LHpfdhgZ9nSpQ387kJ8bpUJP6ZOrj0ULVu2XLffcacOPuhg9WzerJNOPjntTR999DHp+e7FL7yko952gsrtXeqvFarzmGgRwp1taKaxN1Ld/cb/vNF1n/exM+xSPg9Rny+X2kDYpN19zaHqR+Gx3QduIyLhFwW4N+OXtoFb8NrsE21GDsFL+tRM5/j10h5X0sNtsDErz+RXFEtpTkmM8ElCH6a7Jvv6evXlL/+3rr76+/rhD36YbhDjN5N/8IMfKNE1W8IfXKMfXGNqpu+GkBteeNMQRLx54xhtbW1tFavmKVOmpFcJHuA98wceeEhRbtO4SdNUKyrqr+YqspIVNCUcT+q67h4DadL2DWqOb0QoIlKnSYsIoaS5uxbjB2G6I4L3jc5DW3n0jldJcpMUVjir6ZI9A6lz++A/xhOCEHbr1q0VePnGN74hsAMl/O4GnP64ernuUPR9yxeE9fQZ05Nynjplql586SUd87a36cmnn7VSDrV3jdbm/qqKYMsqU6GwYpRDBthHVp5h2pJAos835nc62E3/4DG0ffURoYhX0vZ5dvUx+B09erRQbBiqLLJYzLzRGP1J10fW8BsLvIKaON5RPAIRDf7BJ3gMEX89tNcraTpX+F8i/2NO+9Az3QeOJCY4Mecub7vF+CnIGTNmpJ99u/Cii9Ibxc4///wU7uk3FV188cXpTUnN8CK3B+K93ffcc4/GjBmTXoDAHlzZApo702faVZ/X68pKmV0pBndabWyxrumv6bW+iRevdfJNnB4RqfURjZCDiEjAhnfcLc9dwDfffLNuvfVW3XLLLXs10U4MR15f++UvfzmtFnmVJI/x0Ld9jSIa48r8xWM0ceJEnXDCCZpixXfuuefq3PPO1WWXXbZXYLiJ5csuv0znnXeeFi5cpDFWMrwmlO0r7vS+7777NGbMaPV6hR3RELFGsBVw+t8ILbNeHmfSt4q0l5N3QwweQ7uh6p2qkhU0Pw4UEXryySfT0zhg45a9HMO8jIrFF6+fRub88z//c7rPqOkl2ylmvEahxgx6jZN7RXJDF79yBjvN39S8Im9M8FqtrjavTl96aam4kxpFzY1ZuJMnT5qkSRMnaaL3uKBJFgITnZaI+G6iyZMnC4EDEac9vMAEaxELjBtSeJ8vbr1nDfaWSpumTZupep6pf9ArZwMcHc26ubCrW1DDIabCIN+eEkPeov8iGoI8ohHSzYiwIVNKHgmeqb3gggteYRQ1BereFl544YXi9bBnnXWW2tra0o+pMCfwrmhf+ngoI/zPfQbPrKbyei72pPklqVGjusTvNE+bOk28MAQc7WniJs+haPLkKemu7qeffkrTpk61N+xRHXTgQUJBr127zkp6nHK7t8MLB56TLhynj4TubmPxXDgFSgmON1I52u3UlB3bXijx3wJn23Db868nHhGKeDVxrabb+IEHHkhPwrCY2tswu317kDUsuDDU3mbvyRR7RHlP+8aNG5VlWerr6+HXtmWzbQ/2xnijgSXVs1a1FFV5bZkYkEVFnCvVq+rLK6q0tGvN+k3auHa15sycoSULn9Wy55fohecWapX3p5e/9IJWvviiVrz4goivcHyZ3VMIg91FuEBeWLpcLyxdpheWrdSyFasSPf7YI7rkogtUHegTK8HJ0/fT/KeWaOrhJ6snz1TzIGdZoZIGlEVdCtntXVHdLvBaXlYU5TQRmOCALSLScXOyk/Z6ibqZbLj0iEMRjevQZtxB/f39YvUQEUlZRkTaU0Lx0BbKDEXDbZv8oQwrzU2bNqi9rVUd7W1qLVe0bvU65YOFDj/4SLWXuzSqY6wq5Q6NHjVeHW1jNH7ceBtvXWpt6dTY7vFqqbRbMXaou3uc09pNHc47TpVym6ndx50pf3vbKLW1daX4mNHjVatKLS0d6uwYo4720anerq4xGjt2fEprqXSolLWm/LnHsFxq05jR49TWOsp1NqijfYy6OrvV1dWgRx5+XEcddaxWrlit22+/04aXBL/c3eTGh//NY9L2NMFzqHndXd2Wouaai1z1fFDyPK9bkUVW1voNPdq0eYOOPOpwLV32opa9tFwvvvCidhdOf1y9y5YtS/eMbB++sPR5u+O/K36isFYd1P4HzFPZc+aRpxbriBNOl9rs6q6FskqrIkpSvZCdfR7jUC2Xcu9Ry32NUkVSyHB3nlwtxhA83xUkf8ChAzF2zTj45Bhso1TAMgYix2y5cI4VIVSr1UQa7cmyjKpEPRwPhygDfiNCXBOjlHa0tVXEtZcvX6mx3RN00ttP1+jOcepoGaiw3sQAABAASURBVKNRxktna5fGjurWmM4udXp/v9UYbG3tVClrMbY6TV2mRgg+Rxlbo7rGus7OrbhsdZlRTm9zucGBuno29YvjhPHWDl93fKLOjlHq7BylihdLrU4fcN7cWG433lstPzo7utXa0mUaZTnTrZasVZMnTdayF5brg+//sE55+xl6/JHHfD6UlXKPd6GyZVRR5Ho9n+z1FH4jyxa2OjNP7shCEZEmDpNoxfIV3pP+ctqLvu6667yf9YP0EhPcEtB1114niPjuJvayrv3hD3XtD68V+15Xf/9q4ZatedU/xq7u5xYtEit+9jQ6OtpVaalYOHvPuSjcn5q4szt3vNhCcp+35TkgYqKTBpAA2a4i6o4IqvZEKwsgUTcAZv+UNj333HNWLrenxw/YR6QN3KXOfiv5X4uoZzhULpcNnk61t7frGu9JcuNdzcKjXKlo9arV6u7uVqXNgtCtJd2B+vr6tKlnk+688z7R3tbWFg0OVtVm5Q5fMTDgOXWy/0lIn+lfa2tFzXiOZA1p8eLn9OyCZ1WulJUbdE8/vTA9brNi+ao0/xA23d1dbmOrHnn4EW3atNECWT5XmHctjueibgQV4bq1a7V8+TLhYcEKX758uQYHBp3fF5PEXIbHjr61v8WW7m0JCXB/si8Jfq/+3ve8hXGLrjVudzdeh6of3A5F3/7Wt9U9pluHHHqInn/heR1++GHGQb9YdTOXeHdDKSsJXGzp4ZbAPfQXLA8MNsa7XK5YMVTSmJOp4nm9K6hs3JRKJRFSH3OaEIwiN5iLYJhjfmmMvMzNUaNGiTjePsrQJuYjRDpp1DMcarWXk3tHKM/1vvCFL4iVM3VTz+aeHk2dOpVD46QQ+OR68G/Tpk166KGH0/YBmGhtqaira1TiV6mUuX+VhLssy5RbVg6aryX3u27sdnS0Jak5YGxVXO72O+7QbbfdJviPeHvq6Wd0649u0/PPv2CMFlb4LWrzIoBz3/nOd3zdh1QuhcenRfAm1e3rwLuWlhbVXC8GSHf3GI0dO1YbvJKuWb6n+q2bKENdvuBOf7OdLrmnC5r5zG0GCcItlprgxIiwcqup1Uw77pQz1DFmoo59+2k6+SzvZ118uU57xwU65azzEp189nmCTjn7XJ1+1tk688wzdxudfdaZatJZZ56hM08/XaefdqpOPeXk9MtX69at0+Qp0/TAgw9rot1n9Ie7WukfbyeyxJYKpcnBYJNOnohI1ih7OIALlzlxlNfTTz+tXUXUS/0YG//5n/+pb37zm/q3f/s3/fVf/3VqPyBjT5U9pP/zf/6PvvrVrwrwkW/hwoXixrihaLjtow72/BAoDz7woH7pl35Jv/Zrv6ZvfetbevyJJwzuaVq/ZpP5JAvKQQN80GzKtMBK9S//8q/07W9/RytXrtIPLei///1rtH7DBj1sRfqtb31Hd999j0HZYeDeYQPqai1a9JyV792pzHOLFmvdug26/rob0o2I/f0DCg/InQb6V77yVa1ds1Z/9md/ltzV1157o8v/MD1NwLUesUVNPxctWqJHH33M87Ou3t6+FOZeVb344kspPs7APuigg23db9b69euT4GGcETKE7shb+uvpLbOUbxKS9Hmit6ZOOvEkhYXhsXYlnnLyKTrLWwNn7kasvlbdXHcouuiC83XuOed4lb80tbu9o1MPP/a49vdYliotdtnnyqxs+20YKjxrkF+J6G4hlElLa4u3tQaEm3TBswu00Eb7rsQwMuH5559Pe73cA/O1r31NX/nKV3TzzTfrS1/6kj7/+c+n+yHuv/9+YRCRDra/+93vJqxzjAeBNiELmM8Qx4TDIeQI+R999FEbsJtSm371V39Vn/70p4X8WLx4ifbf/wAbqlV7rWpmWWbjutfGQtny7Bn90z/9U1ro9PcPGmfftxfj+0mx3n///LSP/YMfXKt1a9frlptv9blrtOCZBbr1llud9xp7qlZZLgz4+DZ977tXJ36XvA0B9u+79z5t7unVP/7jP+nue+6xDPuGF3U/sOfmJa1ZvUYPzH9AS5a8kK612G2MyGz8b1aee5XsOrjLv6Wl1ZuQubq7xya5vNFGhewVAsMsCOTxfz0g3uNKGhDuFNFLT3KCJuV5LqyYwgzDimqxtda3ab3dJBWdeNzROmj/2Zo4boz2nz1T+8+a0aD9pmt/yMdzZ83UnFn77Vaa7fpn7de4zv5z5+jAA/ZPq7T7PLlmzZmj5VYeLy5boQkTJ2tgsKawBejuKMvKpkyFO0u34VnuFRwJ4TQU/JIlS4TiIgREu5JQsoAKxQHAWZkC+EFbqV1dXakPNa9meREL7kLy9/b2JoFFOxA8pA1FnB8O0UcEA3Ux3qsNnltv+VG6UWOR9/IBB8YN1vLAQDVZve3trV75LvTe7zu1evVaLViwUE88/qRWrVytr3/tG7rh+psMqE369re+q+997+oE7C//91d0i4F9q+teYwV84403p7zc5zB27AQDfVDhv+eXvKTLLr1c5593obIou8yPLOSu1yqv6r/6lW961d9lZf2i/uu/vmSvzQ3p+mWvlqTMq/laUs4vvbRMc+ce4PkrW+DjNXPmflq1enUacw+vIoJga5gO9oJ/zMNdRRJ9bFCjTjG9xaprxcqV5vdAevnQjJmzNHv2LO1urA5V/1xfdyiavd+MtHq7887bNXXaDC147nlt3Nyvts7R2tg7oDwrWXCX3MWSMWElLfpWuH8mAO1jFEW/t4wWL1lsxbFAC559Vs/auB0ONn5c3kVW+o8//rjIw8rvkUce8bx8QXfffbfbVGj06NH25ixPSpNVLJhdvHixW6Y0BpQH8+AOoh5wSDhcoi7KUD/yquxVPiv1+VaCd9xxp7cUllumtNoD1p/k4Pr1G1T3vsBAf1X33TtfZ55xttasXa8FC57VgmcW2phenPB1//0P2HsxxcdL9PWvfyMZ1yjiG2+8xYb1Ne7fiuSFuc6G9pLFz3sFPtrywUrVHujHHntCp512mmXE+Zo0cYruvPNuy4EfGINlUe+oUWPMh3Z959vfcxvut9duTTquVevGcK7qYD0p87a2Dm1cvzmVC2N8leeujF/iyG9CvY7PHlfSO93WLRPbs5zZLhnbMCCFPhdZ5gHu06aNG3TSSSfaGhtQr92deb2mmhUL+0YNwlKDBoUrZXcSb01KNDggXqxS9d4VbcCq5JGro44+Ro94ohx2xFHqs3LJ3Y8sMgNIIt5vV0qOYnanfUoYIxwb5po1a1ZaXXDjwhlnnCFuRuIu9gsuuEC7gqj3HK8UTvfq/4Mf/ODW+t/znveI6x122GHizlvuwj3TK5wPfehDIu8xxxyjd7zjHWny056haLjtox2XXnqpuFGDVefHP/5x/cu//ot+9Vd+NQG0ZvcSAg93MTwqvFJdtXJdUpozps/0+Nf05BNPKcxbVrFTJk9Te1t7WtmOHTtOXZ2jNGH8RF1y8SU67dTTvQUxU2edeba4O7fN+QZsvQ94FV2xoq0aoBMnTExgZlXOnvzRRx2jww49XLzFbunSZerZuFknvv2kRBgUR3p8N2/qtdCpp7YM9A0Y8Ks11pY37aXtkyZN0Yb1G4Wykj8YoA7e0l/wW6ihwOho7nmee6Jv3LTR3pB+z7MzVbIw50YyxrZarWpP08DAQDIWtg8L43L+A/Mt9LuspKfrTntkps3YTz29/WnPuSgy4fJ294zl3GTUum8FRD9N/VbQY7q7E14uvuRi4/Z8gZfh4uO18lMXcgHcgM0PfOADeve7363LL788Xeftb39749oXXyyMbW5m/Kmf+inxRjdeYXzKKadYlp6U7mIH61yHuqiX+HAIeUJbCE866SRjbIY+/OEP68///C/08Y//vHAV9xtjMsMY686OLkVW0hK7oV98aanGjZ9gPPYnpRjOI69UJxszxNeuWZewNdZ4AstnWh4d97bjNHu/2TrqyKMT1kpe9OQ5q9+SsiipOljV7Fmzvbq+XT+45qbkaTvk4EN05hln6u0nvF0oYn5BsXFPS5vu9Yp77tz9xTP8KuT95lyb7KJfumy5W5NJylSv52r3ltzSpcslt6/mRQzGCGPuDDv9pfadLrynC5o3alJEiNVzyStP+QMjeuxmeG7RQrs8bkruka/bvfM1u3e+/vWv6asOv/KVLzvcQl/+ir765S3xbdN3YRz30je+8XV965vfFCFtwD38vFfAZ519drIeq/YGjLXQ51WBTKJ0Jyj9MbFqLNmlIk8DNT+JAcXWvucuz54OvCBOmV1BXI4JhrV7wAEHpLvU582bp3Hjxom70rstXKZNm6ajjjpK3IGLIp07d65OPPFEEWc1RHuGouG2j76xj8Xe1Ec/+lF98hd+QYCQ1W6795hzg4M4vKpZYQP2jRs26uKLLrbSPUW/+Iu/5PZPsrW7UfsbaCeffLJXtFXVbam/6/J36fzzLhDvfEch927u1fHHnZBAdpYV9bvf9W5xcwiKFoWP8j/uuOOd/1jxJqyrrvwpX+M0t+d4jeoaoys+cEUScggAzs+dM9fpo1QzYFH0WVbSBreNsK21Xf1W2F5yeS+sTYXHEr5D8I3wLU3GMFM7TWk6uiXC3dGsKB97/DH9h/cuv/b1r+trCcO7F69fHQL7X//aV+1NeTX9p9u1wNspp3oltspelzHd49Q9boIGPafavLKqWyE0BXdjLOmcp5X7aT2dIpkXFswLqN8KGwMEOTZcfPy4/NRXsoykfp4iYcUMRtva2pKhzz0x7KMfeuih4j4ZFDPHYBklTrmIcKsbX/pCO3/cNYc6FxHJ8EJWRYR+4zd+I21ZHXPMsWKV3mZjODfPeno2CxhEVlLPps2qlFv0kQ99NBnNH7zqpwSGasb44Ycdrg9e9UG1VFq1YvlKHXP0sTrvXC9Qzr/QUypTR3uHFw1nCIP6AqedfNLJmrXfLF14wUVJLqxZvT4Z0eAUWfHhD33YmD5O8w4+xLK1pKOPOjpd86QTT/YKv00zps9QW0ubMLCr1Zqq1brWr9soXl3b2tpmeTLoRWK/vRNjtH79erkRgg/IAMZAr+OzR5Q0jWxSRChiJ0mUk1xcJU+83KPpFCvuIgnBjs5OzTr4CPVUI9HoCdPUNX6qOsdN1qgJU8Vxk0ZNnKbuCZOFhba7aEx3t9hzhLodHz2mW6NGj9GB8w5Va0dXcpGNHj9FA2pRVSUVWUmep6aQ9Y7KFadbuBdqfOAhfS6cibDmcyXzgZAJwfmI8CTLXkWckz/kL3t1QvkW7+FzTBgRqQz5OAchRNoMZuonD65u4qwqIiKNAfm5NgR4OQdRXv5QfzNOXieJ61M3+ak/IlJd2vKhLvKShySOiVcqlVR286Ye8yh3e0ueCyUh9MqlisNQXiu8r1VTR1unRnWO0bKlq9RnN+T+cw7Qeeecr6OOPEaDdqEdefhROufsc61ADaq1G3TYIUfolJNONZDneMzGq7XSluK1am6wviMp4fAY1X2c12VdufTBAAAQAElEQVSh8DaddsrpGjO624p20Ip8irpHj9Wc2ftrwrhJWrt6vVrKbZp30KEG9qDqVRtWKjvMbaXnijxTkYcK17XZe2JdHaOEq55+R4T7lrlvoSbvtJd8IiK1K2IXhHIfTYrMvXNfC4mVNBg51EK4354kzrFHPW7c+N2K1deSAWN93aFo0pTJmnfIYZoybbqWvLhME6fPMobLKjzmfRbguftUt3wqZ+G+Falf9I3xdTeTzJJPcXNTi7fpOFeyp6Ze5AkLKZ8nNlhxBSkNHBCPCCuJqiJC4IK8EZHycEwZcKotH+YQ6WxZtXulxz4zeCbPgD0FZCMeEVY0fSJ/RCTF0yzXTCMvBK4jIl2TuiLcGTU+nGu2iXLglmPaxTHeJ+pFniADWNmGsYXBWi61SJ4Tfd4yCONl9Kix6vAWAkq11UpyxvT9bBSfYUP67Z4soUPnHabLL3tXCnN70DCmz/c21KQJU6xY91NrS3sK2y0PjjDmjz/u7cbqVFUHawm3xx17vE427qdOmS7aQf09GzZbBkywQX+gWNFP87mTTzxVgwM18yaM69aE27qvV7XLm/YSZ/85y8opH/FWy84Bz+GI0Ov5ZK+n8M6UZbB2itLFivSffwx2RKTJnltpwYZSlukAr+YKg+M9dutcYhcSdOH55+vCC87XBQ4vIDRdeP55usCu4fMvuFC7iy6yG+mCCy/SeVwnXfsCXXjhheL3Zm+8+Ud60W6R8d4LWWdXaFaqyJhU7s7Ry8I9c7caaU7w1yk+6f+cA1RtngRMckDApOcslLv/8JiwSRFwSK6vsDIYEMBiDxngA1TKEwdIEMfUzXWokzghK2RCiHOUJT+Ai4gkODimPG2AiEeEJzi9UwppF/kox3UjIgkc8javQR5t+VAP+UjLLchIHrT7M7c1U7Nlzbm+PrsavZKpWUhWbe0O2qVVNRgJx9hA2s+WNCvlkoF0CIaSQU9VG+2BGWRLxPUAqj67LHMzf8BubgTHOrvTemwY1LbUhaust7fPVvTmZO0PDlQNzKrjPdrslQCrfvqBy3C6LfCV3genjYMGLPVTJ8fmlnnhkS1CtLdmo4t+0rfcYxjhHCaO9xaifbuM3Cn33jNaL5MTOru6NM9eGxLZMwSnF+xGnO4M/s8593ydfMrJeuLJp7XS82PcxMnq9fjmCjfbnQDMpmCCOQSzeTpDDJKqHu+Ojk71D/QrLLsyK3QUHPOAkDkAvsymhFnSIiIpRrDDOESEmGvkjYi0WJE/nCc/6c18hNTHiplzEZHKRjRCZIL8oSx4ID/U0dGR8tEuiHyEXJd8kIulL/nBIueQS9TFNTnJOdrTJPLJ/NqwYZNq9XrCAjgAx+CWeCLjjuONznfA/gdq2tTpWrd2nTie7u2shLneXoHXjRs3CXwiG8AZaf3GMzeVYQyDY9KQG9Amr9YHPG5r7Q0ZtLyoWW7UjX3q4EmhQWP70EMPEx4I2lUulbVh/UavkvMUbt7cp4jMxs2AapYfxOmXh1yF6/FM0Ov97HElvbXBw43Qa8rQaxMDHp7UnvcqDITGJM+0bNlLmjB+nObOmZnS2QPmfO5JUOQ15fUt5OUQVmzdwnB3Ue5BYvIxeLmvE9EQums8wZ6yq6zLq+p6lFSytdfvAS4UavTHQUFnt4Tue2FyhzidTlBfv11kAKFmsHMcEQIc2wKQY4h8AAZl2wxR8hEh8qNYCJlg1EXIMWUJm8AkLn/IQz3U28wbEaJOjpvnm/GISG2TP6RFRLoubaeeQSvJiPDkrysiEnFtiGtGNNIiItVDOszI4THAsrIGRInfPgZsAHvQwINQsCUDDAVMOcCfe0zYM65bsddtFfcacKUouf5SAvq6dV4Nt7TaoGlVyYqdepQ+IepgSKQwQPuE5YxgoP7cdZG318Kh1+7zij0XdbdvwG2hDG1TUsx1kZ9zNRsWWWTiExEe6kIRkYi0tyQViY2v6JqTxNhyp22f5/fUaVMbwttzfHfhdGfqzTwf1m7oSfeUjOkepw0b7d1RZiM789h5/ERPcncQslLm0MT4g2UIYzSiMca8cXDAGIAZ4IHzXTZWwBNp5AWDpIMfcMwxq2PmMThEGcI7znEcEQI7pMmfiBB118xL8E75iEYaZchL/c6a5h3lIkKcI406aQflOea6EZHGa9tyEe6/Ozro/tBWrqltPuSlLJRlJeOrxXySUJZgBzyAJfCbyHgeNJG+0VtFuTFfN8bAe0SD3yvt8q5ZhubG8oCNa/DOcc3l1m/YILBFf6UsXaeUle3RqqfrgnmLAhWuc9AY7bMB3u/9cfL02OhGUfe7ThT3ZuO5biyTj2tX7P3AGAD/Uog2acuHdm6Jvq6gIRVeVxV7rrDnuKe+Jzz/PQnCl+bIh2Z2YTDn2rh2lU449ihV3LNSXtXojha1lgq1laXWcjhsUGspvN9RVqnSutso8wBm3lMpVVpU9v4j1OL9qiUvLFVNZU3bb64Gi7Kq0SJragNcpkhUeMCLLf3L3VcjP3WT0MnphhVcVzUDDhAAaEDEOUAA5Z55hBBxwAbIoFKpRFZXV6SbHUgjD/XhjkI4EI8IATT2g6l/0MAjH9ckHhGpjizLEpgBP/nJS3koItLYECcfF27GqYf2RYQiItVFO0mDqKuwEQblNqy4dm6QQi1WoKxGagYNxwC8SXW7vesGLKAlLVTSww89ku74fMjh8mUrtPDZ53T9tderamu5xfOgo70zrYgRDAufXaQXn3/RrvI+ff3r39QzTy+wwKsY2Lm4e/Tq737f1vx63XfPfbru2hv08MOP6uGHHtWdd97lvkqFXdmZBUIWJddZ04BBzrGsnD0sKQ/Xod1FbgHl86VSWc1PwZj7ICL8/635NSu2dKxQodCWLm8RdKETTzpJo0aNFvO/XGlRyWO0t1DFe6iPPvmMltpLMmrcRMnbI1FuNXatNOiVOxMe2Cy9sWX7NbTnh/Nw49FmrwArLS3pUSwnCTyAkZpx3etzhKQTopA5hzIGnxGhSqWi3BOKcsQjQuQBmxwT37hxY1KEYJN6yFsy/slDWfDGcb+NIuYdRD6IOjhPWjM/6Rxry6fuBRDlyRfRmK8cc21CrkG4LXEOyo3lVuMYJYzhDNVssNatMLcSWLY+dTfTfOApje9++7u66657EkafX/KCbrzxJg2CoaysiJLqxn6l3JJwy8uCWjx3brH3EmUOJnkE8hvG9c033+L5NqDnFj2n73736vREyAvG/dNPLVC7ZXVhHFNX7jbIeK7avV3yNWo+Ltn7CVXdXvpB++BRuVIxZ5jPzOpw/PV9s9dXfPilGdydIi7liU8AFR5cDgllPuTmEJOXF9pv8B7fPfc/pCcsWJ/hOVW7pJ54+lkfQwscLtCTzyzQUz7/1NNPO9xhGnbep13/008/o6ee8jWeekpPmLgp5uB5h6jdri7L53SziTwBUn8a/yywCiGcmrxqxum7TwrAAY4WA3z16tXihQs8F8nEj4iULeLlEP4AuJUrV1pRXZ3e3gToEQTPPvusXTU1wT+A9sUvflHU1eq9MtJqFhhtdq0DYtK4Lu3iWtTLcUSIOMYC6dRLHuqjMbSTdPJSH/XQB+okH3mY4KQTB9DkhziOCJVKmTIbA/IHNo0aNUpYvQO2egdtAVPPoI2IarWWDIaa3eE1W9d1yPPj7rvvEY+uYdwsXbpU69dv0MqVqxSR6dZbbtWdd92lns2bzd5Cjz72mNrbO7Ry1Srdcsstmv/AA8otjD732c+qZJBiMd9x+x265dZbde899yajqdXC5tFHHkttom+MGasjeJBFZv4Oeh+sXy2VlrTfh+uNa2Ohc9doyYIzItL13cXET/pEfG8h2rPrSFbOhfvrkAF1JwvT2rVrklJhLHkSgkeDnk54NYaMp6f2Anr08Sf0zDPPas6cueqyIVH1HGP1l7tHWzrkTuVCUatwqvu3Pd9GjeIO5sZ4d3Z2qFTKrGxuFM8SgwPwSpnMc77kuVG2R8bsUYfdz+DyhhtuSHIA3HGD5+LFixvzqqfHc7ddnOfHXHBvr1+/PpWjPgzuzs7OhPmIUESIa4DFiBByARxTLzjmujXLAPkTEaJtpDE+tIX5TVlwRT2Ua1JEpLqbx4S0oUkRofETJqpq3NJHvBo18xJFDU+bVDOmWdGajXpg/vyEjbHdY43h9eqzMbNyxSpje71uMY7vuP129fb1me2Fx+gZ8Srmcrmk22+7Tffdd7+49vevvsbXnSDeZHf19662gf2wkNUdlslTJk8VN/cODA647aGmzOrzClvWO/Shbn7g+o7IjOsBVa2o+y2H8IyN6hqliEjXkT9cz8FOf7OdLrnHCwJfX5QAAgyJJE8zwTgmy9gJkzXfqxp+ieaRx5/SHXffa8X4rB5+7MkGPe4Q8vEjjz1uYbz76DEDuUmPPPqoHnr4ET344EPiRpROD+QG74XaYBRUsxKRP3QNcjR9mZQe7RRP3U0JSkJspRXuf/zHf+iKK67Qb//2b3uSrlO/rWFAtj0BKt4r/Bd/8Rf61re+JZ59/r3f+730YpL//b//t63Su/T//t//S+kPPvigPmtlxEvkb7GC+ru/+ztdc801tjS/m56x/PM//3N97WtfSzy/8847xXmO/+RP/kT33ntvelECb+uhjr/8y7/UP/7jP+qmm25KdfOihN///d/XN77xjfQikL//+7/XrVZ0V199tRZbyCAUUHD0gzhj2tfXu6Vf/eoz+HoNFh6PQij0DwxosDpokFQTjwBzzQCqAXQrVQBW90obhd3R3p7yVcoVvfTiUq1bu1YIK17kQD9vufkWPfHEkxZedQ16n2r8hAkCwCe+/UTnXWfAL9BLLy0Vj51dfvnlgv8o36xU8gq7pilTpqRxWbtuXVLEgBojsu629FqQ0BcEG8KXdiEsaS8CN62orLwRcoCakA4RJ3xrkme6v82+paj/jR4zxgqlM82Hxx571ErrsfTSmkd3M16HU//DjzyqWXPmaPqM/dRr4WzZrcKugUSpQ+5IYfLaWgm4KTH9I5VI1fO0YsW7xPP+7/7u7/Wxn/lZgS2wypxgBVxzHuYOeCCN+Q9ewBpzFmOaF+r8+7//u37zN39T119/vX73d39X//3f/6077rhD4J0nSnjBEC8c+q//+q+ET949AO7J32YDHAz867/+q/ihCPKBR+pEVvCWRGTD5z//+SQDwDwvOPqHf/iHZAiAZV6CQrv45TJwzLylvT02GJjz9GFboh8QeXgve39fvziPwY0sp991971B9YTJmnFUtTHeZ35HVlKr2w0ee+yS5plv+gDdbuP5GS+MqL9srEPf+Ma3xA2I/KgNLygBfxddeJGOO+54b5Eu0wa70SvOSzswairG4qZNPUkODPqaNbclrJAHbUzU3I4BywduBO6wwQSOI8LKvKZNPZu8+OpQhJW0pCaOHd3p725T0gxSRKSG0VCYQlpKGMa/XC2e4nZhFJnqdhGbFWop+hRZuMtKuAAAEABJREFUrppBMKhM5bxffUVFLaMnaObBh2jyYSdq0mFv1/jDT9eMo8/SxENO1JTDTtLEw0/VhMNPc/ppjnN8siYetvto/GFnasJhpyeadPgZgiYfcaY0/gBtyts1UBotGd0d7k8lWdtl5RFieMt27ZZySVFWtdSqQfMhL0rKTBX3nQn4uc99Lr0BDCu6s7MzgbIJQoAJUBMZsF/4wheSouVZSR6pQhG+8MILFiyFzjzzTM2cOVOsyJnEKBEUEW/5QlAAOkLSr7322qSIH3744TQBX3zxxfTM49e//nUtWLAgvZKVsZ5jAcYxz14iYFgdPPTQQ/YoPJVA8YBXpli4F1xwgXi5Aa9GfeKJJ0Q7Ufj/+Z//meri+Itf/pq++OUvJ/rSl7+or37tv/VfX/qCvvXdb4qVQtWgsR62ApY/pdQn5hpubsFN8xEbaOPGzTr26OM1bep+BuVmW8B19fXzEgJpv/1m6OJLLtL06VOc3uu+yfxYoUWLntULLy6xQl6u3r4edY8do+efX6y777nT++8t6h/o1QEHzNXc/Wf7unWX7VMWhQ2HAUUmA7cqVgdhd7s8dkVetkKXeK/3ylXLnb9HA9VNWr12sUaPaXMfqopwbit++RMR/v/GfCNeeW14uitbEt708fQ3vtuU520q6h6owgZo+xhNPfRUTTzwJGP1HZpw5Mkab0zvTqwOt26wnI+eodV5p6pZu/tQeNxyZe6TR904VnoH/0DWIvpYrleVGdPhiRgkmEqF1GUh/81vfNOG7D8nV2vW0pFW08x/FOuXvvQlNd/kh0FO+tdsIB933HGeq9O1fv168ZISMHbuuecmHINXDO0We9ne9773CcWCInnKXjzGDyWEMgPfGOtrbaxS/iRvL/A4FHd/33LLLcLoPP744zXfK1fefbBo0aL0MhRWnChqrguOkQE81gi+efkJ1wa3tBUFTog8Gor+w3Lp6qu/r/UbNimzrCvqobwqsUtQVAtBquaKat1pVXsbImHq9NNP0aGHHKzBar9K5czKcWPC38z9puuyy9+padOnGps9yiwrN21aqwcfuk8rVr6k1WuWa8GzT6pa69MTTz6iZxY8YaVaUWR1y4D93ecZxmQtEe0pW/YWHqfc41W1Z04RPucVdl5Rz+pBjeucKg2WrJkyb5v1qmqX+9RJM6Qic9aasT+gsCcEvu8sZTtbcM+VK+wyKtxp05aLNmIhc8Hg8ClJuSd/YRocqNv62bupzkTMPRnTYzglN95kK9ydcLxuykVfZFA3KQqnQ04rPGFKFuIA8JOf/KSOPvpoT96SDjvssPTCD144wF3khBBxXkAA0LC8eQ6yzVbofvvtZ0vyOHNPApw8M8mzkfPmzbMS2yCef0Yw88zkrFmzVLbVf+aZZ4oXI5xyyilubq7Zs2eL5y/f+973CqBefvnlarWbHCOAulDmXJ9rUt/FF18s6ifvoYceKoQAFjR5qZu8tBlCgRNeaEV+4QUXCrqA8ELHTdR18sknafny5QZjZgU36LGvJiVYM8Br3jcirDre1zvo6x6u0aPHatNGK9b9D9KM6bM07+AjzLej1N090avlTcrUqsKKtL19tBY8s1jnn3+Jrrryw7rowkvFj2VceME7bVQs1fJla3Tc207UEYcfq7lzDpIX83ryiQVeSXd6n7DD1+hzPSWvAAq3x0RbakrHVQudMaPHaf26HguLQosXvaDNPYMa2z0+jQX/4DtE/K1K/HhMZtM7kmIzczy3me81M7M2UPVYejwt9Ab6He+v+XjvwnV1IFd9sKDJkrEcJtUtUrej3MaZ1YtqFtw1z7CaIvW6iMzbK73iCZTP/H//X3pdcKsxxnsIMG55adCFnue8AIRfhiKNOc8LSVCs48aNSxgER2Bwij05bOPw7gIIzIL3Ud4WAu/IB95tgKzk/FlnnaVTTz1VY8eOtYLaT7yIiOOjjz46veug3145sIXBjvL9hV/4BYFd5AHtIR3FTv4TTzxRGPK8i572IiMuu+yy9MKjC8Cv+0FftqeLLrxAZ599pg46+EAtX7FMKELmfR3Du15YITfIh+5rSevX9+rII45VvZb5en2aOWOu2ttG6ZB5h1sOvV1TJs/UsqWrfT7UYWMPvfr0U4t09FEn6L3vuVJXXvEh59lPJxx/it3mj6mUtekdZ1+o/efO0+xZc1Uptxrbq5zeInncNm/ud116FWH4hMX2mO7RHsNNbltdvb2bbbi3WsaMsl7KxYe+uCKiO02eUTtddo8UjC1XSeHWf9GwTiIkE4yA2APMDZQdp5KZW96NlLnuV1NDSWcqPAnkFVYBYXmghJXLU0LhMArHSYOSAMtdpkGtVoQoPd7aw3ttf+u3fktTDNImTZ06desxcYDI4ywf/ehH9YlPfEIo1b/5m7/R5VaqV111ld71rnfpD//wDwWgPuo8ABIgco4XD/CCEowCzn/qU59KxkBEJJAffPDB6U1Gv/RLvyQU7ZVXXinAyJvKPv7xjwuBQJz6eJsR7jjiGA2M21kWFoccckgSFggRaOrUqQLwtL3Zp+3DaVOn6LDDD9OyZUvNs8LW9CaxB9xvod5voQ719VXtIh9U7+YBHXn40erunqDevoGkmKdNm2kle4zB3K2TTjzdQD9SpVKb943rKT5l8gwdecTbhNKeNetAjR83RZMmTtfJJ52u8869SKNGjXf8DM2ZfZA2WHh0dHTrrDPP89i1JOrvq7uummhHo02D6Zi2TJk83fGqlr60QsuXr1Jnx2jhPnNH9plvyapqq6L2HI8tlIQSeMgLOSlRnnC9O7E6vLqTMjZ+w5QVZSO44sVE2fLYkttpCPgm5T5f81oLqjtn3edzG+Wtbe0inDt3f3385z6mv/yLP9cv/9In1d7eLuY93i2wgIGLQY3SBRMoQXDJ28EwYnFPo7xRitAf//Ef6yMf+Yg+8IEPpPA973mPfv7nfz7hm3zgGCX6K7/yKzYQLjE++pKCxlNG3ibeqf9MG+XICuTM9OnTE+7PPvtsnXTSSfrlX/5lYVxjNKD4ScN4x3iYPXu2aDeubGTP9thtHk+ePFEzZkzXrFkztXTpS2pta/VKtV/93sbqt0u530Zav/E8AJ77aurZ1G/D+nD19da0ds1GTfaqdWz3JB180BHG5jSdf97FCbPtbaNtBPc67xEa2z1Z57zjQo3qGm9cH6WjjjzOmD1Yp53qfpx4hlDUh8w7SrNn7W8srrbB3K85cw4UuO3p6Xd7aq+iqvfIezZv9Cq8TZt7e7R23ZoUjh3XrVGjR6kockVEIuKvB9QJD6+ngt1dNuisFZYRoIRbd7xuCzS3RWo2+EyYIYXBkSeqZYN2Mw2HvPLKdhcNuC1DUPSn9Ho2YKwPpHgetdS/QuE+ZVsoUpo7mEL30OnhdUcpWZxYcz3e82E7ATChAIuicPZXE3nI3+c93Q0bNqRhoyyr2FqtZqt0o4izAiadkGNowIBpHq9Zs0as4qkAq5ey1BsRW9sEYJvlKAthlWNp0z7KUQYXHPWi5Jvto17KE5K3EeZb+xTb9K9Wr2vM2DFq62jVytXL1dJWMp/qUphTW4njuiIrtLFng3BPl+we67Xrun+gT+vNC67Xs7nHq9qaV7qmek2VloomTZ4s2ph7DnKevW9uSEGA8J5u0vvMz7oNKOKTJk/SmO4x6vUeOi5/j4LbUphyEyFUdzz3ONY0a/ZMLXl+scqVsk486US12j0pf+g35KgiguAtSXWPVu7xzB3KBL8gWYEVSZFlqnsbq563WJ2HarsNp9Vh113EoAoNuF1Qv2p5n+P9KmLgVVT33BuMFtXszkVJ5x7TXGGh3mslLYXdoWCybpf4aSe9XUcffbTAB/MSfIEN8MRciwiBJTDI3CQkLytr+QPWKMM5yoNl5hJ5SAN7bfairbebnPPUSUge5ixlaQshebkWcUJXL+rjGhw381Mv7UAGYURwrQiPl+UKip/rUf9QFFE37no1ddpErd+wRk8/84R5UpPCWJE/rkemwjLf00I1Y7O3t08Ff84y6KUy7QODVV9vteVTtVa1Uh0wnwatMLvV0dGlFStW+Tp143mzenv7xb72gL01PT0eg1zavLlPvf09vlSuUWO6NGp0p3o2bzA2rSK3yhJn3BKvF4Oq1vs0WOvVmLEdevChe+06f9LbXrOUebwLywwZ5XZ4qrB8cE92+usW7HTZPVLQMFW4s2JQLK+KLQNmUecUpxZFOl9SzTZqTfJewY5Ti/PvTqq4/ldTFC3KTOF9ZhHSZrvC3DX3KRLlHEBwOegj09LVRWaBUlGe52kiAoLCPOjdcmMS8aEIoJNO2OpVOHFABhABXbutd9IIqZtz1NnV1ZWULzdIUBbAAWzysudF+bJddITNMhxHhAAP4CUv56iLkHJcg3Mc0we62STybxvPfNAkR7d+awZjV1eH9j9gtu697y7Nf/Be3f/g7brvgZtMNye6d/7Nuuf+m3TP/Bv1wMO3prS777tB8x8iflMj7cGbdK/Pz3/oZt334M2u42Y9+MiPdNe91+neB2503lv00KO3pfB+5737vus1/+FbUp7b7/6BOKZ8KuMyjz5xp+667zpR/r4HXGeim3RfatdNuvv+68V11m16Sc88+5AOOnSmDj18jrKyhcDW3r31I7Wi1UoYavGcLynCABfzPzfi6yq8jM59JmHeK1FZWe8tVKjilhnbNiIE+VjgeQjKCp8pqmopBtS6hSqqqsPKslYdUM1u3TZW1Q5LmfFtZQMGwCmYAytgJCK2GshNRdhUluTD4CUv1MRWm68BjpvHlAOr8oeyHINtyoDLZj7itCEiBN5J5xj5wLWo11UoIrYS6WA+IpKRQf66DWnkAXmHotxj7Owaa7fx7NnT9chj9+nue2/Vvff/SPfOJ7xV9zgO3f/gj3SfsXTP/Bv08GO3CwyBR8J759+k+Q/dojvvudblbtT9xvKDxuxd916ve4ztJ5+5T3fefZ0eMTbvvv8G57lJdxnH1DffcuF+y4N7LSseMO7vuf9G13Wr8e1rcD3kx3Y0/6E7dec9t+rW22/Q8y8u0h13/8iLgLWaNWemlOXmieW1FXVk4XgM1fUdTkP27XDmvS2j5/52TQoxUXaYIlO6O3d3hR6gbAgSYwaliAx2bf1EhPxVbE3ZJrJNIqAFxAAOIHAMsMhdFEyQBjWPAQ9xFDLWMHkoAwE40shDXZyLCFE/wCfkxi6uFRHJQCAPdcFrylA3QOYY4JPWjHMOIp1yrKgjGvWQB2FBWfJACAxCiPyvJPPLA+8uWogXot3sk+03az9bzO0aPXqMurvHChdbg7pTfNy48ekc7jcIg2H8+AkizrO4rABoC8ejR4/WmDFjfG6icMvRf9LY2xszplvjx48XbkjSOU8ZrkWe0b4++XBXTpgwMV17LO1p0tix4n3CXZ2d6jQd+7ZjxY18rADoE33eZyiNo/9t7XAookFZCrfgM9sS7i6cvp56S1lSnMGQAUsAABAASURBVKVSOcmScF+GIjnRX5/lGxx6Jb05YYwXmXAnMXf4g5GmUkO5giPmP6XAKsfNOOkQZZhLxCNC5GlimZB00iDq5hhZQX1gDRxTJ/imLtLBPWXJD5GHvOCNejhPfs5RhvKcj4hk1LfZOEChcy2UPOFQFOY9jzr1D/SnrbNjjj5G3cZIou5ux7uNoQZ1+xjcTpgwQcQ7Ozt8bqxx1KEpUyYb36PTNgH46zbeRhvH47xvj9ud9oHJjo5OjbcsAMPUM85YBp/d3d1qYp506oBIB9vb0+gxo0UdYJn8bAfy4xyDPLZlHnC9HCUtj/WWY9J2hrKdKbQjZSIiCVHyNgePcKiB+nFpckeLLZQXodyYzi3NcqeVM0/IWr+WLHxSLy16SouffkRLn3pgx+lp592d9BptWfb0g1vaOF/LfP3lzzyoZQse0ovPPKQXnn5YLzzzqJ43vfjMw3rJaUsdLl/0mF5a8KiWPPWw6v2bEhABS0QIMBGHvxA8hyKCYCtFhDILPABamIeUIwRsKEnOUT6iUY5zEY36O61QOE8Z8nIOMBNCpNEGQvkTESLd0fSNCFE3dQBsEjkmJK0Zb5Zphpx/BTWatjWpVA6DtE3vf/+7dcWV79X7r7hM77vinXrvBy5J9L4rLtX7r7w0pX3gqsv0nvdfnIg4ed7z/gt8/iK9673n6cMfe6/Pne/ji53/ohQn/ac+/K50fMUH3+lzF6X4Oy8/W1f99GW+xoWJ3nfFRfrAVZeYLk7nL3/PuU6/wHSp3us2NOidjl/iei82vVPves/Fev8Vl2t0d7vda2021mqJZ6/Z96293uWRV1XYbENEKKJBpO1Kqnj1WbIHqdVu4IGN67Xo8Qc87x/x/H9ALy6Yr5eena8Xn71fLyy4Ty89c7+WGit7C73wzHwlenq+nk/kdqa0B5z+SnrJ55c/db9WLnhQS5+8V6scvrTgMbWW5EXXoHJjsdLS6i2WVidkaQ5EhMAJ/AYfYKvmFTYDRVozzjnyoQibeIwIsiWsgyswSZnmeeKU5xxlU+Yt/yIiXZ906q7anUx+4mQhPaLRtohIsoc08jSJ61E/yjuikZeyQ1OmUlb2qcL7uy264JJ36IoPXm4MGUdXXqT3md57pTF25fnGzgXGnPH0gQsTXsEfuAOXl737HL3/yov17ved7/Lv1PuuuNDHlzi82Fi7UFcaq+821sHo+5zvfVdcbGy6fuP2vSbKIhPe9d4Lnf9il73U9VzuPNRBfdvRBy51nne7TZf7Gu/WByx7DjvyULW0Vrz10cAxC8C6PZ5SYzy0k5/dpqR3sj1DFLNW3pJKLJH7nHvCdra36H2XX6IDZ0zS7MmjNWN8hw6YUAyDcuet70ai/h2j/cdlOmBcRXMmtGr2+JYUzhnfqjlOO3hSq2aPCc0ak+nAKZ066/jD1AQNwIgwQ/TW/VhseJoXiazJ3FH6G4kHhd1l1boFXdSEu7hUKSkrVXacys6/OylrUWYhtJVKZbezonKlJVGp3KpSqVVZqU1hZaV96FPJaypV+zW6JXTx2Sdpluc6c3/uhLLmjs8S7Z/CkvYfr92I0+HLgLkTc+04VTR7Qof71+awU/uNb9dBMyfq1JNOUEdrxSvPQc+Jsqd2iL99aApINtIa/S2U9qGN4yjVlVXsMq7UFZXaFnK8XCgbDlZLYVwNhyrOv2MU5cztKhRuU4PktoUiC738ydw/jh2+nDjs2OsrPezL7boCLd5XxYLjsYITTzpJZ5xxms4880xx1+Jbic444wxxVzZ3Tp511tmpf9wJ3VTSEaGI2HWMfZPVhJGytclvFjZ45cQqpkmskqBX9GVrp966EW4CYuoOVgd11FFH6Zxzz9Fpp56W5vgOYfj00980eU+jraedZjl1RnLrnmFZtf/++9sL1KlSVrIwV8KxN6k08hnhwLYc2PuVNILXZE+35DCRpLw2oHywT/2b1qs9q6pS61WHBlRW2zCo1Xn3DqpYWrVEVa2qqTXqapHJVmVrShvUKK82OJ/VB9RiK67EbYNSck05eEt/m8PeCPnf6G7hLQ9lhcIyTpHbbYibKTdP4MsOUm734u6kgnbYF+AJbN2c2qbIlGUlU1mZV8+lzNa7KSJrdGwf+Z971RHerqjlg9q0ca1CgyqVaqp4zrd47kNgoVW5zKG9Bqtltao133EqqyR3U2XP1RZTyd6fUl5Xq13cWXhuhNKNVhEhnl7YR4Z/m24aJPYjGCkprYmTIs9U5KUtVHFob0NKI30HKGHO/N3h0C1wU7Ze/8fGbU55HAtndsytR+40YqkTAsvhqGmrt8CHO/Glpp0otueKmE9mQON628bDwG1tKclflQsraQO9lA9oIIphUO689d1I1L9jNCip6oG1mNJgUUJcpeOaAd47WLPqLpnKUqVdffWwMCup+YnwRGgevCVDRv7VHYsI+esTW8BhRS0bODwCseNUUkNh7qawVChLlDs0WUjLI5l7vuZ29+ZFzfO77j5AhcN951tva9OmuseuvUNZZ5d667n6cnnuZ6oW5S1UUa1oSVgY8NjuLVS1/Nlhyt1HG2Huqmp5oSzLXFrCg1Cr1ZUXPm+lnYUsAcyAfWcKSAmznvchf/zPCi1UVhYVk7eBos1huyKgFvNuODjNnH84VDj/jlFkUngcMw9aFqHMCYxrOJTcD8h9kZyRuHb+Qw07X/oNLFl4YnNTQ2TuguNZqaS696nfwCa9/kt7rsoiu0GuLh2HI6FKpaI8zxM1JgPpPuVvxMtxH+4z34hocMvjLyj1fJi8gMe7nXyBre2jkaGIVxNn9iWqDg56X74sXP08TlcdrL7C+IQXiW2Nfxy+OSmUxpvJCobBL1QpV1J/ibN1F+H5nPqqkY8hk+Qg/ICaHCF9R6lZZreG2zSmGd3F17OG28U1blNdzUoTZUoSIROUcDhUT64K12BrtFSvq2RrO6vb8iwqKmxlDdRtcUer+qq5inKrDbPaqyizW6Jk2xVSvaqiNpjyZB78cL17A6Fk3IPUv5JXWCV7BXK3ua5MRalD/f39CrvAy1nNzCglweaIi8GLVxJCLyIUEYLn5ItoxCOCw63p5GU8SCRvk0hrEmnEIyJdjzKkRUS6BucoT0h6M87xrqC650DdAIDSqsPjRr25x072KoRdYGG3WHguKI/Ut3yLQfOTwrp53aTc82TXU02NOj2aW9pUpPYr8ZL4tm3kOKLRB4R3zRiCn3uaaAfE9WkfY87xrqSycmX1mkrmS+bB7WxpV1bzSiaNaWGMmjwmhT0P8tbG3oDTZhu25UNzbLZN2zaO/Cmqmz1VQ/KiYsB78HVv11U9D3Ifw9tQXSkts1xz+rbl94r47mqT8VpsJanR13wLZqqeIYOmAaf3mRz3fMh3lDyvmLs7Q4xJk4YqX7huyIFyt79JHmAfN2ZEZIVq1jX+30jYyf+7TUkXHtSmdUgnOS55tbuT7Xxdxbg2RCURkRQL8WYa8b2Vmm2MiNREjuFnROM44uUwIlLfEO4ps/9FhP83vhGNeERYVmRb80Y00ikHyZ+ISOcjYmterit/IhrnHDVwCoKteSMa5yIipe/t/yJia9vf6LaCj4hIq6uIhqIGQ3oDPswD5lrz+sQj4g1oyd55yYjYOm/gDbSjLY2IHc06km83cCAito5dxMvxbS8VMXT6tnmGiiMjIxplmROtrXbZ2xAbKu+OpmU7mnFn8kWEsEYAOg+ht3kPigfc3yhqXr+joyO9H/eNasfOXJc2Q9uWZQJwTNjsG8cQx9C2cY6beZvx5nnSiTeJ800ijTgh1GzHtmmUbx4TQuTd22nbvtBm6I1qMzyEADfbG2COOOEbQQic5nXhC0bEG8Wbt9p1m/Purdavvaw/w5bzzPMm0ZfhjhPvkwC71IHeA794o5o42plwtyppGhQR4t2u/HTZf/3Xf+m///u/3xDiJ9+gL3/5y/rKV76SfgbxjWrLcK9LmylD+wmb7eeYc4SkQ8Sbac04x00ijXwcf/GLX0xjQX2kc0w65zkmhEgnhDhPfkLyQM045yHyk078zUb0BXqj2g3fvvnNb6btDYAOht4IwrhGKXNtQo6/9rWvpfnyRvFmb70u86VJe2sbR9r1k/XOrhhD8PvVr35V6Dri/IwnbzIDRztLu01JR0RqE24zfrXlQx/6kPhlFn5N5Y0k2vHTP/3TInwj2zGca9NWiDKEEH3g16qaYfPctmEz3szPMWPAMUR50pp1cI44IcQ5aNs45chDyDmI+LZ5iEOc29uJttNG2gsRb6YR39PUHBN+iYhfFIpo4CiBaQ/+QzFHNK7NiuCyyy7Txz72Me1pfuyt12OODEV7a3tH2vXhrXN3qHFrpsEn5ABEnHTC4RBlmzj+9Kc/rSOPPHJ4yN0u925T0ttdZ+RwhAMjHBjhwAgHRjgwwoFhcmBESQ+TYSPZRzgwwoERDoxwYIQDe4oDbxIlvafYMXKdEQ6McGCEAyMcGOHA3sOBESW994zFSEtGODDCgREOjHBghAOv4MCIkn4FO3btwUhtIxwY4cAIB0Y4MMKB18OBESX9erg3UnaEAyMcGOHACAdGOLAbOTCipHcjc9+cVY+0eoQDIxwY4cAIB/YWDowo6b1lJEbaMcKBEQ6McGCEAyMc2I4DI0p6O4aMHL45OTDS6hEOjHBghANvRQ6MKOm34qiO9GmEAyMcGOHACAfeEhwYUdJviWEc6cSbkwMjrR7hwAgHRjjw4zkwoqR/PH9Gzo5wYIQDIxwY4cAIB94wDowo6TeM9SMXHuHAm5MDI60e4cAIB/YcB0aU9J7j9ciVRjgwwoERDoxwYIQDw+LAiJIeFrtGMo9wYIQDb04OjLR6hANvTg6MKOk357iNtHqEAyMcGOHACAf2AQ6MKOl9YJBHujjCgREOvDk5MNLqEQ6MKOmROTDCgREOjHBghAMjHNhLOTCipPfSgRlp1ggHRjgwwoE3JwdGWr0rOTCipHclN0fqGuHACAdGODDCgREO7EIOjCjpXcjMPVFV/sL1+r+/epXOOuAU/e5ta/fEJYe4Rk2r7vpnfeqKs3TAuE/r2rX1IfKMJI1wYIQDIxx483Bgb23prlPS/c/p1r/9hA6JUIw6W5/4oz/Vn/3Z/9XvfPgUjTrlb/Xw5oW6+n++Syd87CtaVC3eMH4Uq36oTx00ShFu57Z0yB/oto350O2qrdHj3/srfeqTn9Ef/9Ev6f1X/I4+d/dS1YbOPXSq+XPb5z6js2Kcjvvwb+vP/vS39OGTz9Yn//MR9QyDHdnMd+gXLp2tp9eepFMOG+NrDWjRf/60Rh3027pp3Z5SlmVNPPHdeufszVp4+lE6aGzJ7djumy/Qf77rAB30mRu1jlPFBj1z9Z/qf3zuce1UK19vedowQiMcGOHACAfeZBzYdUq6bbaOP36WyjBg9rn6yK99Wp/+9Gf0O792hc646DgdWOnTyqeWSG1lcrxBVNWy227Qcxf9hv70T/+GvoMZAAAQAElEQVR0C/1v/cb7ztNHf/8qnTh6CHYUq3XXn3xYJ151n4741O/pt3/7d/WJ2TfpV/7mNi0dhnJV2xydfOIcK/Z5uuhnf12f/v/+WP/w/07X9z/0R/rqgv5h8KNHCx64X8u2Kseyxh7yDv36L5+nQ0YN0f5h1Dy8rJu1avF6nXrBMdovhihpY+SQC39Wv3zxPI3i9Kb5+uzHv6L22ZM1hEonx4+n11v+x9c+cnaEAyMcGOHAXsmB7Me2algnB7V8wRNaLGnsqUdobjuSO1SZdY4+dcDj+uvf+XvdOnquulvb1FXO1bPoOv3Nr16h93/yt/Wbn/io/sfv/r4+8/FP6bM3Xq9//tTP6MPvx5X6q7p6pdervQ/rc7/wfp11vlfkg5u9IvtLfeYTP6VLTv51fW/hA/ripy7T2b95vVYVA1p29xf0u5/8lH7nNz6qyz/1JT3es+26rU/rx75f//hn/0uf/jRGxK/rVz94vLoP/UX9/nsOUMVtf+W3rrU3/7U+9tu3asYvfkyXH9ghxSSd9fs/0Iufe9/Qykmv9alq6aP36vau43TCPFbAUrnSYoW1ST19tLFQbdmt+ttf+3X97v/vEzr75P+pHy6rpsqKnqf07d+7Qmd/+Lf0p3/0G/r0H9zfUI61Rfrh739Qbz/+d/VQ93RNsf1TW3a9/uCTv64/+MR5OuSjX9Qz/dtbEgNa9qO/1UfPfo9+9Y//SL96yQGK0/5JT9TXaP7nPq1LDpim0/76e7ru/8++uYBVWax7/Le4Bwvk6ha8oyIgssgLCqIoaiKamhRqarHxSoo7kWyLpW60rakpj3YStxV5SUnT1I2mloA3SAQFL0CIioigqCAu7iDrzFpIt12dOtvTsd3MM9/6+L6Zd+ad3/is/8w7y8UBmOuiC9XcSfuQV8bP5m+vjsZldDRfaXfs6qucPW7LIFdTvt65jOkje4ndfDjxxXXUXzvIknGD6T3jIpZtbWnMjWf5/GW8p7agPPkj1h++Sj1aPzYQPvdNls4cjnf4QYq1rjbcJu3DcMaHLhC+eTN6dTK3fmj/z5OcObCR10cGsjr9gWCkoTZ9NR7moewprqEsfTNzR7qIca3m0JFl+Jn3Z9GJe9Bwk+Pr/8rcRW8y028Y4YcK0XYpGpBZEpAEJIEnkoDeY/NK7DizkjOowF7sqDtjKzRaIwRjXZIRg8YFM6W/Mf/ckoFtX1fs6i+xLXQqfzmqIvydKCKD7Pl06SeU+M5kot9QpoX249auJG77e+Fup0/d5eN8sOFz7g7oRRcjM5wChtP1WgIHGtSc+uhjTt+soX03Gx4krGJiwB4sprzJkqn9qY5ew5ZUXbD10TAtcB3kib2BcE58PTcUf8myN7IZGj6Cdrp3j6o13zT3yDiSQI4YU3ejdNaO88S88zBe2XSOqh+r32z3o/dysQM+Dx6uOFrrg6aMcwnHuDs0AF8h/pqyU6wM3oHlrKVEzQ9mcPFe9qbfgfrL7JwzhXXGs9n90d+JmNiPFhXODOrmgL6hI/7h03nO3hkf15YouMfx6GVkDwxj0ZpVvGZdjbrhuzJUQ8Ge1/GdcYPAbduJXjiN4Z2VtB3Ujfb6NvR8eTLPWBjDvoNc6DWLD1YH4ly8h/lzLjBk5WoWi/q+J9K5XNbAw2sX+ULtgObkHlJdZ7PujbHYXr5KoSgz7OhP+MwA7FUeuDoYYeQ0hEBPWyq8JxEeGUHYsPZUpKwjeKMFs1ZGMT+4P8WbDpF+t5zcHUuYc8aHleuXsnBmL06cukJV5+/az2OmhyEF2clsPduVHl2UgnYlOaeSyPTujdufTLDq+TzBz3RASQJ7L7gw/4M3GO/RICIi89hoGcLKqAiCB1exaW8Gd5FJEpAEJIEnl4DeY3OtuoDMk9p9tAF1qXGsEefRi/76HsUWLdCjnK9T0ynDmb7Odmjy0/jsyA3sA/rgaqqhpqqKGu3eysAIY0UDd3PPcwYr3Pt2pZWikuxjh0mmAz6qdjyFSBUl5BeoUd6vpP3zi1m38zAfjihj0+y3OeM/gaAecG7/fs4MGseYp62Ewb9mTcUFtiw9isvCKfSyEKL5r1WEQBZx8US2KLHAxuMFFr2/nsWO2cTMeYMNKaXi/a/ID2+Rm3wVqlOIW7uM+eMmEV0bQtLH01GZVnJ+6wre9QhitGMDV/btJK5jCC/3M+dK3HJCU/x4Y6YXVop6is+lcNzK+9F5tIbKzOPsoNcjsdL6U8mB7Qc53+hGyDtT6anU077UXZqigyyZehift2YzwsEYTckZ9m6Bsf2cMBM1NEU5JJ+7y/3BLxH67AiCAqw4Hb2KtBFB+LczAbuRxJRuZbIjFJxP5VzFea60HcVENxMKsjLIV/nQu5N2hu6TmZQEw3rQxVgsiDQlgmMGbft0obXWnboLbI34DI8pw3CszWVf3Bd0XBCEt+YEa/+Sw4iX/cSiyUB0t47SzybjqPiuvQLDtiq6axcgw3o1hfjr8jj2yVlUQ91pr21fc4ec5Bwq7vcnOHQs/kHP0PnqTiLedWTKaEdqr3xBXJw1C17uiy0ySQKSgCTw5BLQfqU9Fu8ab+WRll8BVmOZF/WGCCfP5vleHjzd2QLqbnDu6CVw64dnFzP02rgwwE1JzZ37VIiykwdOUtZlJM972aOgWdBVBHh2wLD0NDs2HAOlJwPd7VCgoe5aJkdzRF+ugxnsai78b0SdcZQtOWCvn8GWeYv51PjPJH4yB68f+1FTTRbbwkKJcw7iWUdTYa/Nd0l4vRcKhUJ3WYfGU1Jdys1rZWJMPozwaYuhRSd6PN1SVL7C6ct3aBR//dKsKbpE0sk/MWPJcqJeDcHf5SFnCw2wszGGh/mk7DqL8tIHzBo3j81lw9m9PxwvsysciPkSl9BAfLS7b7GrPrTlc8q+OY+uJO9cGjc8XeioO4+2YcCrywlXr8Bn1BpStGHpbxys4fKhOGJbv8R0/7YoqOJy/A62lbnR08lS1NJQlZ9NMr5MG9kdHZWyi3z5iQEBXl2ankWtpqzm2kUB22sG8wK7YKgp5tyXGbi90A8XYwXUFXDuaAmebu0w1xpUXSfjqL6Yz066xcDDvK/YlazmUuyrjAv7mLKAjexf4CVWVkl8YuKFl6uF1urb6wf26Pq7gEcfJ1oqhN9nP2dTsoNYE3RA0ISqG1xKLsd72nB6mAp/qCYv5SjJygxiZ71E2OYyAnZvYYGXreDwbTfyL0lAEpAEnjQCj0mkG7iblc4xoZtK35642hqIcZrRLSSC0W2NaCy8QOL5Mqx8umF/r4Bbhl3xnz4Wb6PzbF+3lxKft0g79nee0+7WhGjrBN1KhcpRQ9beXSTUi+bcPXA2uUNhRQ23cjI4TwcGj+pLR0MFQhW4lZ9HsZCEjoNeJnLtelaEjaRT5U1ufS/cK6rygMx/LOSVTzsw3t/5O+Jjiedr8RQVFemurOVDsHvKmtYdxU7cxBRTE4FKnHlXPagVjXTk6Q5KykXI9/yNCr4bUBaFP5IbUV/O5Djd8XSyBoOWuKg6cvnDL0i7Lc7cS3JJOWmKV8gKtu7cRNQMPxwq7qEW3BKSW+Lj1gYjxC768Pus2HcXlY8TLcof0NBYSPqBS/j4u2OjfRaSY2A/hAUbohiRsZYln13+diGhKeT0/q8eRS+goSCe5RHbqfDxoYdNDeUN1Vy/lMEN72H4upjpxtBw7QLxZebYtTDRPUMlN7IKqKjN5+zhIrzHD6a7VgTLhP+HLAjo60BdeR2N+Wc5kOyGfw8rysXzw+uXSLzRFQ9HM8rvP6AkJ4OT9CNk5UfsjI1ixlAHKm7f4eqFdMpMrWlhqtfUX81NsvIf8H37KjR3xILnkFVTyF8sXHavi+Ui7iKa0EJn11Tfm3G+nQU37at75KRcBK+prNy6ndioaQx1qOV2xUNt4f//JT2QBCQBSeAnCDz6NvyJ0l/8uoKrmZkIGcZ9UHfa6FpVYGBmhomi4ZGA29OraxUpu8/w9f6lTJiTSKXCHHs3T/r36023VqZCYkBz62u+EoJOr/aYnN9HgkFnXEorsHLSkLXnKIX1aiEmuVTQDb+e7TDU+WiIbYeuOKOmIPcm9zWN1BQksDmpDFN9ha5G84em5DgxS/ZS0cEN1zba0GxziQFK21bY29vrrlaWJiiMHPEd54uypoqqmkZxjJzDyaR8lKNeYpz1Yf7s3h1VwHpOV/1PMl0tdp7nKFZ5ompvLDpUYGBkhJJHycySVval5BXeow4NDeKs/J2YNMpKSynAXCeS9Vf3sz5FQR/7rjzT5hobV56gpDiLE8k2eNldEeKexMHXn+HFT/Ix7jqYoGcdsDEz1jHV9fKwnNsXb2Bq1wJTEabeti0Dc5U9bQdacv29zaQ/uMvVjCuonvPC2aiJmZ65NZ0o5+Zd7UKkluKjm9hwsRajomxOZvagSQQ1VF5KYY+JH561e1h29AbFF8+QbO+E3fW97Mx70PSDubbudKjex9t7CzCytMaeQgpLaoRrot0jMcSklfOUtR1UlXD3gRDPhkKOrt3MxUbND+yvUf51GgfK3PHorOFi7D/4vE5EAnxU2ObEsP6re5RezSJDNZB+zmaifW1+CstWok7eTUrqxFw13ODIO5tJe9CgLZSXJCAJSAJPLAG9f9szcf6XGb+Fj7aliabqKc06zpHMO0JqxKMuKzC0aY2HsgVGt/Rxn/ocXi5P07tnA0kxEUwa7oNbRw+Gz9vHNe3/nzZvjVvvDnRquEK20VBmPtuXrh5dcKyu4Cm/0fQxK+Lc6ad4IfR5fEXoXNcF+lgPmMF/rRpPq09nEzghnDUp1gRN6oGFoqnGN58KY1p07kTvoSra636Bzs8kC9xDlrMjEnb/PYpFkbHcDtpI0vvBuFlY4tB9IMHTB9Dp59rR8jmwhdhtp8HqDpnHssUiQh8bd1+CuoiFxIY9ZNb1YMrbQdxZOJWxkyYybWM1EyKG0c61P8FD84mJmM78A7aE/WU4DsoSEvbepE/YEFrVVnKfIpK+rGbgi364ebqR9+arzH1zDUccIlkyugPfDF+/Pf1CRnA75k1mr8vDc9aLeJgYUHY4gYIhExlkfJ3Ug5aM6tMRY5qSXpcAFi5uxfuzJvDC6BdZWuRH5AuOVORmcvzR0QU0Uldfj4k6iV1ZKuaNak1tZQWoU/jyXm9e7GFOfV09yrJDfJTYhrBJ3bDxnsTbwUUsnDKeSUGz2Vg9kogRXXF99hUWO+9iVmAgowPXUDRqFi84mvzA3gUjCxuclQmsn7uKU91DiQxwRFl8iPgSX/7cR0FOajptRnk2nYfrhmKD95S5BN9ZxZSxEwiatoXqCdPRnsvriuXH/4aAtJEEJIHfgIDev92Hwg7VyDnEZKvRaNRkx8xhpMruW3EQAmrl9RoJ6mziV4yl3fVtzBizg27vXqBeXcTXyR/z+iBIWvsxiddqUVj5EJlwjbyEdwkb0BpD3XMuaXGRjHFqgcLIgzmHj7DzvWBURJZ9KwAAAuZJREFU2lBr8wAM2uAXsYnEvGwS46KJHNcTux/5BbbCbigrUvNIXROAvaLZ+KfvCqUzIyOiiY2OYmnMNmL/9iI97YwxdAzkveREYsP6Yfdz7Wj5jAglOrUUTeLbhDzjiqWor9cukA9yc9kXFYTK1hKnyTHkqtOI37ad2CVjcFLqg2kP5hwRLBK3szbMF/uWQ3g7t0CwmIefvTF6jpP5TDBM3TCRbkoljkLYUnP3Eb10LTHLx+JkIjriUVLY4hUZjzrvIDGRgbi2cCPk8wLUqf9gZi8bFGb9iSo4QVR/m0cG4qZoxYAlB4VNIp/u2817k91RKvSxHraa0gsL6Kvjr4+V31vC91TiIvywNzDBcfJW1OoTbNDVN3703FwufDJxZXLsWdRp8WwT4f0lY5xFu6CwG8gS7dwn7mXfvjVM7ibmWywZmtprttfDVBXGEXWumOcVzPDqhFtInPDxc9ZO1PpnTf+oU2RHDcCC5qTAxGkisVp28XHsjF2I7t9Sc7G8SwKSgCTwhBLQ+2390lBdmMWpy42iWwX6SnucvEYxYYz4ch3an55tjJFJEpAEJIH/MwKyYUngd0bgNxZpA+wGz2PXbn9KoucR/tYqVi1azOa6qZz8ePr3d8a/M5DSXUlAEpAEJAFJ4HET+I1FWrhv0BLV2LlEx8WyduFrvBb1DmsixqASIWRRKrMkIAlIApLA9wnIpz8wgd9epP/AsOXQJQFJQBKQBCSBX0NAivSvoSXrSgKSgCQgCfwyArLWYyEgRfqxYJSNSAKSgCQgCUgCj5+AFOnHz1S2KAlIApKAJPD7JPDEeS1F+ombEumQJCAJSAKSgCTQRECKdBMH+SkJSAKSgCQgCTxxBH6RSD9xXkuHJAFJQBKQBCSBPwABKdJ/gEmWQ5QEJAFJQBL4fRL4Dxbp3+eESK8lAUlAEpAEJIFmAlKkm0nIuyQgCUgCkoAk8IQRkCL9hE2IdEcSkAQkAUlAEmgm8N8AAAD//zOpI4wAAAAGSURBVAMA/RAbinoTp8AAAAAASUVORK5CYII="/>
          <p:cNvSpPr>
            <a:spLocks noChangeAspect="1" noChangeArrowheads="1"/>
          </p:cNvSpPr>
          <p:nvPr/>
        </p:nvSpPr>
        <p:spPr bwMode="auto">
          <a:xfrm>
            <a:off x="155574" y="84137"/>
            <a:ext cx="6828699" cy="682869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p:cNvPicPr>
            <a:picLocks noChangeAspect="1"/>
          </p:cNvPicPr>
          <p:nvPr/>
        </p:nvPicPr>
        <p:blipFill>
          <a:blip r:embed="rId2"/>
          <a:stretch>
            <a:fillRect/>
          </a:stretch>
        </p:blipFill>
        <p:spPr>
          <a:xfrm>
            <a:off x="1576251" y="952183"/>
            <a:ext cx="7741919" cy="5438775"/>
          </a:xfrm>
          <a:prstGeom prst="rect">
            <a:avLst/>
          </a:prstGeom>
        </p:spPr>
      </p:pic>
      <p:sp>
        <p:nvSpPr>
          <p:cNvPr id="9" name="TextBox 8"/>
          <p:cNvSpPr txBox="1"/>
          <p:nvPr/>
        </p:nvSpPr>
        <p:spPr>
          <a:xfrm>
            <a:off x="365760" y="339634"/>
            <a:ext cx="6749143" cy="646331"/>
          </a:xfrm>
          <a:prstGeom prst="rect">
            <a:avLst/>
          </a:prstGeom>
          <a:noFill/>
        </p:spPr>
        <p:txBody>
          <a:bodyPr wrap="square" rtlCol="0">
            <a:spAutoFit/>
          </a:bodyPr>
          <a:lstStyle/>
          <a:p>
            <a:r>
              <a:rPr lang="en-US" sz="3600" b="1" dirty="0" err="1" smtClean="0"/>
              <a:t>Redis</a:t>
            </a:r>
            <a:r>
              <a:rPr lang="en-US" sz="3600" b="1" dirty="0" smtClean="0"/>
              <a:t> architecture</a:t>
            </a:r>
            <a:endParaRPr lang="en-US" sz="3600" b="1" dirty="0"/>
          </a:p>
        </p:txBody>
      </p:sp>
    </p:spTree>
    <p:extLst>
      <p:ext uri="{BB962C8B-B14F-4D97-AF65-F5344CB8AC3E}">
        <p14:creationId xmlns:p14="http://schemas.microsoft.com/office/powerpoint/2010/main" val="12848954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Architectural workflow </a:t>
            </a:r>
            <a:r>
              <a:rPr lang="en-US" dirty="0"/>
              <a:t>of a </a:t>
            </a:r>
            <a:r>
              <a:rPr lang="en-US" dirty="0" err="1"/>
              <a:t>Redis</a:t>
            </a:r>
            <a:r>
              <a:rPr lang="en-US" dirty="0" smtClean="0"/>
              <a:t> system</a:t>
            </a:r>
            <a:endParaRPr lang="en-US" dirty="0"/>
          </a:p>
        </p:txBody>
      </p:sp>
      <p:sp>
        <p:nvSpPr>
          <p:cNvPr id="3" name="Content Placeholder 2"/>
          <p:cNvSpPr>
            <a:spLocks noGrp="1"/>
          </p:cNvSpPr>
          <p:nvPr>
            <p:ph idx="1"/>
          </p:nvPr>
        </p:nvSpPr>
        <p:spPr/>
        <p:txBody>
          <a:bodyPr/>
          <a:lstStyle/>
          <a:p>
            <a:pPr marL="0" indent="0">
              <a:buNone/>
            </a:pPr>
            <a:r>
              <a:rPr lang="en-US" dirty="0" smtClean="0"/>
              <a:t>1. In-Memory Data Management</a:t>
            </a:r>
          </a:p>
          <a:p>
            <a:pPr marL="0" indent="0">
              <a:buNone/>
            </a:pPr>
            <a:r>
              <a:rPr lang="en-US" dirty="0" err="1" smtClean="0"/>
              <a:t>Redis</a:t>
            </a:r>
            <a:r>
              <a:rPr lang="en-US" dirty="0" smtClean="0"/>
              <a:t> is an </a:t>
            </a:r>
            <a:r>
              <a:rPr lang="en-US" b="1" dirty="0"/>
              <a:t>In-Memory</a:t>
            </a:r>
            <a:r>
              <a:rPr lang="en-US" dirty="0" smtClean="0"/>
              <a:t> data store.</a:t>
            </a:r>
          </a:p>
          <a:p>
            <a:pPr marL="0" indent="0">
              <a:buNone/>
            </a:pPr>
            <a:r>
              <a:rPr lang="en-US" b="1" dirty="0" smtClean="0"/>
              <a:t>Interaction (1)-</a:t>
            </a:r>
            <a:r>
              <a:rPr lang="en-US" dirty="0" smtClean="0"/>
              <a:t>Applications interact with </a:t>
            </a:r>
            <a:r>
              <a:rPr lang="en-US" dirty="0" err="1" smtClean="0"/>
              <a:t>Redis</a:t>
            </a:r>
            <a:r>
              <a:rPr lang="en-US" dirty="0" smtClean="0"/>
              <a:t> by sending a </a:t>
            </a:r>
            <a:r>
              <a:rPr lang="en-US" b="1" dirty="0"/>
              <a:t>Key</a:t>
            </a:r>
            <a:r>
              <a:rPr lang="en-US" dirty="0" smtClean="0"/>
              <a:t> and receiving a </a:t>
            </a:r>
            <a:r>
              <a:rPr lang="en-US" b="1" dirty="0"/>
              <a:t>Value</a:t>
            </a:r>
            <a:r>
              <a:rPr lang="en-US" dirty="0" smtClean="0"/>
              <a:t>. Because this happens entirely in RAM (Memory), response times are extremely fast (sub-millisecond).</a:t>
            </a:r>
          </a:p>
          <a:p>
            <a:pPr marL="0" indent="0">
              <a:buNone/>
            </a:pPr>
            <a:endParaRPr lang="en-US" dirty="0"/>
          </a:p>
          <a:p>
            <a:pPr marL="0" indent="0">
              <a:buNone/>
            </a:pPr>
            <a:r>
              <a:rPr lang="en-US" b="1" dirty="0"/>
              <a:t>Data Structures:</a:t>
            </a:r>
            <a:r>
              <a:rPr lang="en-US" dirty="0"/>
              <a:t> The memory block shows that </a:t>
            </a:r>
            <a:r>
              <a:rPr lang="en-US" dirty="0" err="1"/>
              <a:t>Redis</a:t>
            </a:r>
            <a:r>
              <a:rPr lang="en-US" dirty="0"/>
              <a:t> supports various data types, such as </a:t>
            </a:r>
            <a:r>
              <a:rPr lang="en-US" b="1" dirty="0"/>
              <a:t>Strings, Sets, Hashes</a:t>
            </a:r>
            <a:r>
              <a:rPr lang="en-US" dirty="0"/>
              <a:t>, and more, rather than just simple key-value pairs.</a:t>
            </a:r>
          </a:p>
          <a:p>
            <a:pPr marL="0" indent="0">
              <a:buNone/>
            </a:pPr>
            <a:endParaRPr lang="en-US" dirty="0"/>
          </a:p>
        </p:txBody>
      </p:sp>
    </p:spTree>
    <p:extLst>
      <p:ext uri="{BB962C8B-B14F-4D97-AF65-F5344CB8AC3E}">
        <p14:creationId xmlns:p14="http://schemas.microsoft.com/office/powerpoint/2010/main" val="3983005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Architectural workflow </a:t>
            </a:r>
            <a:r>
              <a:rPr lang="en-US" dirty="0"/>
              <a:t>of a </a:t>
            </a:r>
            <a:r>
              <a:rPr lang="en-US" dirty="0" err="1"/>
              <a:t>Redis</a:t>
            </a:r>
            <a:r>
              <a:rPr lang="en-US" dirty="0" smtClean="0"/>
              <a:t> system</a:t>
            </a:r>
            <a:endParaRPr lang="en-US" dirty="0"/>
          </a:p>
        </p:txBody>
      </p:sp>
      <p:sp>
        <p:nvSpPr>
          <p:cNvPr id="3" name="Content Placeholder 2"/>
          <p:cNvSpPr>
            <a:spLocks noGrp="1"/>
          </p:cNvSpPr>
          <p:nvPr>
            <p:ph idx="1"/>
          </p:nvPr>
        </p:nvSpPr>
        <p:spPr/>
        <p:txBody>
          <a:bodyPr/>
          <a:lstStyle/>
          <a:p>
            <a:pPr marL="0" indent="0">
              <a:buNone/>
            </a:pPr>
            <a:r>
              <a:rPr lang="en-US" b="1" dirty="0"/>
              <a:t>2. Persistence Mechanisms</a:t>
            </a:r>
          </a:p>
          <a:p>
            <a:r>
              <a:rPr lang="en-US" dirty="0"/>
              <a:t>Because RAM is volatile (data is lost if the power goes out), </a:t>
            </a:r>
            <a:r>
              <a:rPr lang="en-US" dirty="0" err="1"/>
              <a:t>Redis</a:t>
            </a:r>
            <a:r>
              <a:rPr lang="en-US" dirty="0"/>
              <a:t> uses two main methods to save data to a disk</a:t>
            </a:r>
            <a:r>
              <a:rPr lang="en-US" dirty="0" smtClean="0"/>
              <a:t>:</a:t>
            </a:r>
          </a:p>
          <a:p>
            <a:r>
              <a:rPr lang="en-US" b="1" dirty="0"/>
              <a:t>RDB (Periodic Snapshot) (3):</a:t>
            </a:r>
            <a:r>
              <a:rPr lang="en-US" dirty="0"/>
              <a:t> This creates a compact, point-in-time "snapshot" of your entire dataset at specified intervals. It is great for backups but may lose a few minutes of data if a crash occurs between snapshots.</a:t>
            </a:r>
          </a:p>
          <a:p>
            <a:r>
              <a:rPr lang="en-US" b="1" dirty="0"/>
              <a:t>AOF (Append Only File) (4):</a:t>
            </a:r>
            <a:r>
              <a:rPr lang="en-US" dirty="0"/>
              <a:t> This logs every single </a:t>
            </a:r>
            <a:r>
              <a:rPr lang="en-US" b="1" dirty="0"/>
              <a:t>Write</a:t>
            </a:r>
            <a:r>
              <a:rPr lang="en-US" dirty="0"/>
              <a:t> operation as it happens. If the server restarts, it "replays" these logs to reconstruct the database. This is more durable than RDB but results in larger files.</a:t>
            </a:r>
          </a:p>
          <a:p>
            <a:endParaRPr lang="en-US" dirty="0"/>
          </a:p>
          <a:p>
            <a:pPr marL="0" indent="0">
              <a:buNone/>
            </a:pPr>
            <a:endParaRPr lang="en-US" dirty="0"/>
          </a:p>
        </p:txBody>
      </p:sp>
    </p:spTree>
    <p:extLst>
      <p:ext uri="{BB962C8B-B14F-4D97-AF65-F5344CB8AC3E}">
        <p14:creationId xmlns:p14="http://schemas.microsoft.com/office/powerpoint/2010/main" val="9810424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Architectural workflow </a:t>
            </a:r>
            <a:r>
              <a:rPr lang="en-US" dirty="0"/>
              <a:t>of a </a:t>
            </a:r>
            <a:r>
              <a:rPr lang="en-US" dirty="0" err="1"/>
              <a:t>Redis</a:t>
            </a:r>
            <a:r>
              <a:rPr lang="en-US" dirty="0" smtClean="0"/>
              <a:t> system</a:t>
            </a:r>
            <a:endParaRPr lang="en-US" dirty="0"/>
          </a:p>
        </p:txBody>
      </p:sp>
      <p:sp>
        <p:nvSpPr>
          <p:cNvPr id="3" name="Content Placeholder 2"/>
          <p:cNvSpPr>
            <a:spLocks noGrp="1"/>
          </p:cNvSpPr>
          <p:nvPr>
            <p:ph idx="1"/>
          </p:nvPr>
        </p:nvSpPr>
        <p:spPr/>
        <p:txBody>
          <a:bodyPr/>
          <a:lstStyle/>
          <a:p>
            <a:pPr marL="0" indent="0">
              <a:buNone/>
            </a:pPr>
            <a:r>
              <a:rPr lang="en-US" dirty="0" smtClean="0"/>
              <a:t>3. </a:t>
            </a:r>
            <a:r>
              <a:rPr lang="en-US" b="1" dirty="0" smtClean="0"/>
              <a:t>Memory Overflow (Virtual Memory) </a:t>
            </a:r>
          </a:p>
          <a:p>
            <a:pPr marL="0" indent="0">
              <a:buNone/>
            </a:pPr>
            <a:r>
              <a:rPr lang="en-US" dirty="0" smtClean="0"/>
              <a:t>Swap File (2): This represents an older feature called "Virtual Memory" where </a:t>
            </a:r>
            <a:r>
              <a:rPr lang="en-US" dirty="0" err="1" smtClean="0"/>
              <a:t>Redis</a:t>
            </a:r>
            <a:r>
              <a:rPr lang="en-US" dirty="0" smtClean="0"/>
              <a:t> would Swap out rarely used data from RAM to a disk file to save space.</a:t>
            </a:r>
          </a:p>
          <a:p>
            <a:pPr marL="0" indent="0">
              <a:buNone/>
            </a:pPr>
            <a:r>
              <a:rPr lang="en-US" b="1" dirty="0"/>
              <a:t>Note:</a:t>
            </a:r>
            <a:r>
              <a:rPr lang="en-US" dirty="0" smtClean="0"/>
              <a:t> This feature was deprecated years ago. In modern </a:t>
            </a:r>
            <a:r>
              <a:rPr lang="en-US" dirty="0" err="1" smtClean="0"/>
              <a:t>Redis</a:t>
            </a:r>
            <a:r>
              <a:rPr lang="en-US" dirty="0" smtClean="0"/>
              <a:t>, if you run out of RAM, the system typically uses an "eviction policy" to delete old data or simply returns an error.</a:t>
            </a:r>
          </a:p>
          <a:p>
            <a:pPr marL="0" indent="0">
              <a:buNone/>
            </a:pPr>
            <a:endParaRPr lang="en-US" dirty="0"/>
          </a:p>
        </p:txBody>
      </p:sp>
    </p:spTree>
    <p:extLst>
      <p:ext uri="{BB962C8B-B14F-4D97-AF65-F5344CB8AC3E}">
        <p14:creationId xmlns:p14="http://schemas.microsoft.com/office/powerpoint/2010/main" val="4058154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Architectural workflow </a:t>
            </a:r>
            <a:r>
              <a:rPr lang="en-US" dirty="0"/>
              <a:t>of a </a:t>
            </a:r>
            <a:r>
              <a:rPr lang="en-US" dirty="0" err="1"/>
              <a:t>Redis</a:t>
            </a:r>
            <a:r>
              <a:rPr lang="en-US" dirty="0" smtClean="0"/>
              <a:t> system</a:t>
            </a:r>
            <a:endParaRPr lang="en-US" dirty="0"/>
          </a:p>
        </p:txBody>
      </p:sp>
      <p:sp>
        <p:nvSpPr>
          <p:cNvPr id="3" name="Content Placeholder 2"/>
          <p:cNvSpPr>
            <a:spLocks noGrp="1"/>
          </p:cNvSpPr>
          <p:nvPr>
            <p:ph idx="1"/>
          </p:nvPr>
        </p:nvSpPr>
        <p:spPr/>
        <p:txBody>
          <a:bodyPr/>
          <a:lstStyle/>
          <a:p>
            <a:pPr marL="0" indent="0">
              <a:buNone/>
            </a:pPr>
            <a:r>
              <a:rPr lang="en-US" b="1" dirty="0" smtClean="0"/>
              <a:t>4. Replication (High Availability)</a:t>
            </a:r>
          </a:p>
          <a:p>
            <a:pPr marL="0" indent="0">
              <a:buNone/>
            </a:pPr>
            <a:r>
              <a:rPr lang="en-US" dirty="0" smtClean="0"/>
              <a:t>Master-Slave Setup (5): To prevent a single point of failure, the Master server sends all incoming Writes to one or more Slave (now commonly called "Replica") servers.</a:t>
            </a:r>
          </a:p>
          <a:p>
            <a:pPr marL="0" indent="0">
              <a:buNone/>
            </a:pPr>
            <a:r>
              <a:rPr lang="en-US" dirty="0" smtClean="0"/>
              <a:t>This ensures that if the Master crashes, a Slave has an identical copy of the data and can take over. Slaves also have their own persistence files (RDB/AOF) for additional safety.</a:t>
            </a:r>
            <a:endParaRPr lang="en-US" dirty="0"/>
          </a:p>
        </p:txBody>
      </p:sp>
    </p:spTree>
    <p:extLst>
      <p:ext uri="{BB962C8B-B14F-4D97-AF65-F5344CB8AC3E}">
        <p14:creationId xmlns:p14="http://schemas.microsoft.com/office/powerpoint/2010/main" val="33758950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Architecture </a:t>
            </a:r>
            <a:r>
              <a:rPr lang="en-US" b="1" dirty="0"/>
              <a:t>of SAP HANA</a:t>
            </a:r>
            <a:endParaRPr lang="en-US" dirty="0"/>
          </a:p>
        </p:txBody>
      </p:sp>
      <p:pic>
        <p:nvPicPr>
          <p:cNvPr id="4" name="Content Placeholder 3"/>
          <p:cNvPicPr>
            <a:picLocks noGrp="1" noChangeAspect="1"/>
          </p:cNvPicPr>
          <p:nvPr>
            <p:ph idx="1"/>
          </p:nvPr>
        </p:nvPicPr>
        <p:blipFill>
          <a:blip r:embed="rId2"/>
          <a:stretch>
            <a:fillRect/>
          </a:stretch>
        </p:blipFill>
        <p:spPr>
          <a:xfrm>
            <a:off x="2290354" y="1419497"/>
            <a:ext cx="7559039" cy="5146766"/>
          </a:xfrm>
          <a:prstGeom prst="rect">
            <a:avLst/>
          </a:prstGeom>
        </p:spPr>
      </p:pic>
    </p:spTree>
    <p:extLst>
      <p:ext uri="{BB962C8B-B14F-4D97-AF65-F5344CB8AC3E}">
        <p14:creationId xmlns:p14="http://schemas.microsoft.com/office/powerpoint/2010/main" val="2093028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Architecture of SAP HANA</a:t>
            </a:r>
            <a:endParaRPr lang="en-US" dirty="0"/>
          </a:p>
        </p:txBody>
      </p:sp>
      <p:sp>
        <p:nvSpPr>
          <p:cNvPr id="3" name="Content Placeholder 2"/>
          <p:cNvSpPr>
            <a:spLocks noGrp="1"/>
          </p:cNvSpPr>
          <p:nvPr>
            <p:ph idx="1"/>
          </p:nvPr>
        </p:nvSpPr>
        <p:spPr/>
        <p:txBody>
          <a:bodyPr/>
          <a:lstStyle/>
          <a:p>
            <a:r>
              <a:rPr lang="en-US" dirty="0" smtClean="0"/>
              <a:t>1. HANA Memory Layer</a:t>
            </a:r>
          </a:p>
          <a:p>
            <a:r>
              <a:rPr lang="en-US" dirty="0"/>
              <a:t>SAP HANA is an "In-Memory" database, meaning it keeps active data in RAM for extreme speed. It splits data into two types:</a:t>
            </a:r>
          </a:p>
          <a:p>
            <a:r>
              <a:rPr lang="en-US" b="1" dirty="0"/>
              <a:t>Row Store (2):</a:t>
            </a:r>
            <a:r>
              <a:rPr lang="en-US" dirty="0"/>
              <a:t> Traditional database storage where data is stored in rows. This is optimized for "point queries" (looking up a specific record) and is kept </a:t>
            </a:r>
            <a:r>
              <a:rPr lang="en-US" b="1" dirty="0"/>
              <a:t>always in memory</a:t>
            </a:r>
            <a:r>
              <a:rPr lang="en-US" dirty="0"/>
              <a:t>.</a:t>
            </a:r>
          </a:p>
          <a:p>
            <a:r>
              <a:rPr lang="en-US" b="1" dirty="0"/>
              <a:t>Column Store:</a:t>
            </a:r>
            <a:r>
              <a:rPr lang="en-US" dirty="0"/>
              <a:t> This is where HANA’s power lies. It stores data in columns, which is much faster for analytical queries (e.g., "Calculate total sales"). It is </a:t>
            </a:r>
            <a:r>
              <a:rPr lang="en-US" b="1" dirty="0"/>
              <a:t>highly compressed</a:t>
            </a:r>
            <a:r>
              <a:rPr lang="en-US" dirty="0"/>
              <a:t> and loaded into memory only when needed.</a:t>
            </a:r>
          </a:p>
          <a:p>
            <a:endParaRPr lang="en-US" dirty="0"/>
          </a:p>
        </p:txBody>
      </p:sp>
    </p:spTree>
    <p:extLst>
      <p:ext uri="{BB962C8B-B14F-4D97-AF65-F5344CB8AC3E}">
        <p14:creationId xmlns:p14="http://schemas.microsoft.com/office/powerpoint/2010/main" val="39419913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smtClean="0"/>
              <a:t>Architecture of SAP HANA</a:t>
            </a:r>
            <a:endParaRPr lang="en-US"/>
          </a:p>
        </p:txBody>
      </p:sp>
      <p:sp>
        <p:nvSpPr>
          <p:cNvPr id="3" name="Content Placeholder 2"/>
          <p:cNvSpPr>
            <a:spLocks noGrp="1"/>
          </p:cNvSpPr>
          <p:nvPr>
            <p:ph idx="1"/>
          </p:nvPr>
        </p:nvSpPr>
        <p:spPr/>
        <p:txBody>
          <a:bodyPr/>
          <a:lstStyle/>
          <a:p>
            <a:r>
              <a:rPr lang="en-US" dirty="0" smtClean="0"/>
              <a:t>1. HANA Memory Layer</a:t>
            </a:r>
          </a:p>
          <a:p>
            <a:r>
              <a:rPr lang="en-US" b="1" dirty="0"/>
              <a:t>Delta Stores (L1 &amp; L2):</a:t>
            </a:r>
            <a:r>
              <a:rPr lang="en-US" dirty="0"/>
              <a:t> Writing directly to a highly compressed column store is slow. To fix this, HANA uses:</a:t>
            </a:r>
            <a:r>
              <a:rPr lang="en-US" b="1" dirty="0"/>
              <a:t>L1 Delta (3):</a:t>
            </a:r>
            <a:r>
              <a:rPr lang="en-US" dirty="0"/>
              <a:t> Captures new writes quickly in an uncompressed format.</a:t>
            </a:r>
          </a:p>
          <a:p>
            <a:r>
              <a:rPr lang="en-US" b="1" dirty="0"/>
              <a:t>L2 Delta (4):</a:t>
            </a:r>
            <a:r>
              <a:rPr lang="en-US" dirty="0"/>
              <a:t> Periodically, data moves from L1 to L2, where it is lightly compressed before finally being merged into the main Column Store.</a:t>
            </a:r>
          </a:p>
          <a:p>
            <a:endParaRPr lang="en-US" dirty="0"/>
          </a:p>
        </p:txBody>
      </p:sp>
    </p:spTree>
    <p:extLst>
      <p:ext uri="{BB962C8B-B14F-4D97-AF65-F5344CB8AC3E}">
        <p14:creationId xmlns:p14="http://schemas.microsoft.com/office/powerpoint/2010/main" val="11646234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smtClean="0"/>
              <a:t>Architecture of SAP HANA</a:t>
            </a:r>
            <a:endParaRPr lang="en-US"/>
          </a:p>
        </p:txBody>
      </p:sp>
      <p:sp>
        <p:nvSpPr>
          <p:cNvPr id="3" name="Content Placeholder 2"/>
          <p:cNvSpPr>
            <a:spLocks noGrp="1"/>
          </p:cNvSpPr>
          <p:nvPr>
            <p:ph idx="1"/>
          </p:nvPr>
        </p:nvSpPr>
        <p:spPr/>
        <p:txBody>
          <a:bodyPr>
            <a:normAutofit lnSpcReduction="10000"/>
          </a:bodyPr>
          <a:lstStyle/>
          <a:p>
            <a:pPr marL="0" indent="0">
              <a:buNone/>
            </a:pPr>
            <a:r>
              <a:rPr lang="en-US" dirty="0" smtClean="0"/>
              <a:t>2. HANA Persistence Layer (Disk)</a:t>
            </a:r>
          </a:p>
          <a:p>
            <a:r>
              <a:rPr lang="en-US" dirty="0"/>
              <a:t>Even though it's an in-memory database, it must save data to a physical disk so it isn't lost if the power goes out.</a:t>
            </a:r>
          </a:p>
          <a:p>
            <a:r>
              <a:rPr lang="en-US" b="1" dirty="0"/>
              <a:t>Redo Log (8):</a:t>
            </a:r>
            <a:r>
              <a:rPr lang="en-US" dirty="0"/>
              <a:t> Every transaction is immediately recorded here. It's the "play-by-play" history used to recover recent changes.</a:t>
            </a:r>
          </a:p>
          <a:p>
            <a:r>
              <a:rPr lang="en-US" b="1" dirty="0" err="1"/>
              <a:t>SavePoint</a:t>
            </a:r>
            <a:r>
              <a:rPr lang="en-US" b="1" dirty="0"/>
              <a:t> (6):</a:t>
            </a:r>
            <a:r>
              <a:rPr lang="en-US" dirty="0"/>
              <a:t> Every few minutes, HANA takes a "snapshot" of the data currently in memory and saves it to disk.</a:t>
            </a:r>
          </a:p>
          <a:p>
            <a:r>
              <a:rPr lang="en-US" b="1" dirty="0"/>
              <a:t>Data Files (1/7):</a:t>
            </a:r>
            <a:r>
              <a:rPr lang="en-US" dirty="0"/>
              <a:t> These are the long-term storage files on the disk that hold the bulk of the database, including data that might not currently be loaded into RAM.</a:t>
            </a:r>
          </a:p>
          <a:p>
            <a:pPr marL="0" indent="0">
              <a:buNone/>
            </a:pPr>
            <a:endParaRPr lang="en-US" dirty="0"/>
          </a:p>
        </p:txBody>
      </p:sp>
    </p:spTree>
    <p:extLst>
      <p:ext uri="{BB962C8B-B14F-4D97-AF65-F5344CB8AC3E}">
        <p14:creationId xmlns:p14="http://schemas.microsoft.com/office/powerpoint/2010/main" val="39669280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smtClean="0"/>
              <a:t>Architecture of SAP HANA</a:t>
            </a:r>
            <a:endParaRPr lang="en-US"/>
          </a:p>
        </p:txBody>
      </p:sp>
      <p:sp>
        <p:nvSpPr>
          <p:cNvPr id="3" name="Content Placeholder 2"/>
          <p:cNvSpPr>
            <a:spLocks noGrp="1"/>
          </p:cNvSpPr>
          <p:nvPr>
            <p:ph idx="1"/>
          </p:nvPr>
        </p:nvSpPr>
        <p:spPr/>
        <p:txBody>
          <a:bodyPr>
            <a:normAutofit/>
          </a:bodyPr>
          <a:lstStyle/>
          <a:p>
            <a:pPr marL="0" indent="0">
              <a:buNone/>
            </a:pPr>
            <a:r>
              <a:rPr lang="en-US" dirty="0" smtClean="0"/>
              <a:t>Reads (5): Analytical queries pull from the Column Store or the Delta stores for the most recent data.</a:t>
            </a:r>
          </a:p>
          <a:p>
            <a:pPr marL="0" indent="0">
              <a:buNone/>
            </a:pPr>
            <a:r>
              <a:rPr lang="en-US" dirty="0" smtClean="0"/>
              <a:t>Writes (3): New data enters through the L1 Delta store to keep the system fast.</a:t>
            </a:r>
          </a:p>
          <a:p>
            <a:pPr marL="0" indent="0">
              <a:buNone/>
            </a:pPr>
            <a:r>
              <a:rPr lang="en-US" dirty="0" smtClean="0"/>
              <a:t>Recovery (1): On restart, the system loads data from the Data Files and "replays" the Redo Logs to get back to the exact state it was in before the shutdown.</a:t>
            </a:r>
            <a:endParaRPr lang="en-US" dirty="0"/>
          </a:p>
        </p:txBody>
      </p:sp>
    </p:spTree>
    <p:extLst>
      <p:ext uri="{BB962C8B-B14F-4D97-AF65-F5344CB8AC3E}">
        <p14:creationId xmlns:p14="http://schemas.microsoft.com/office/powerpoint/2010/main" val="41920293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Berkeley Data Analytics Stack (BDAS)</a:t>
            </a:r>
            <a:r>
              <a:rPr lang="en-US" dirty="0" smtClean="0"/>
              <a:t> and the </a:t>
            </a:r>
            <a:r>
              <a:rPr lang="en-US" b="1" dirty="0"/>
              <a:t>Hadoop </a:t>
            </a:r>
            <a:r>
              <a:rPr lang="en-US" b="1" dirty="0" smtClean="0"/>
              <a:t>ecosystem</a:t>
            </a:r>
            <a:endParaRPr lang="en-US" dirty="0"/>
          </a:p>
        </p:txBody>
      </p:sp>
      <p:pic>
        <p:nvPicPr>
          <p:cNvPr id="4" name="Content Placeholder 3"/>
          <p:cNvPicPr>
            <a:picLocks noGrp="1" noChangeAspect="1"/>
          </p:cNvPicPr>
          <p:nvPr>
            <p:ph idx="1"/>
          </p:nvPr>
        </p:nvPicPr>
        <p:blipFill>
          <a:blip r:embed="rId2"/>
          <a:stretch>
            <a:fillRect/>
          </a:stretch>
        </p:blipFill>
        <p:spPr>
          <a:xfrm>
            <a:off x="2111922" y="1825625"/>
            <a:ext cx="7968155" cy="4351338"/>
          </a:xfrm>
          <a:prstGeom prst="rect">
            <a:avLst/>
          </a:prstGeom>
        </p:spPr>
      </p:pic>
    </p:spTree>
    <p:extLst>
      <p:ext uri="{BB962C8B-B14F-4D97-AF65-F5344CB8AC3E}">
        <p14:creationId xmlns:p14="http://schemas.microsoft.com/office/powerpoint/2010/main" val="12653229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Berkeley Data Analytics Stack (BDAS)</a:t>
            </a:r>
            <a:r>
              <a:rPr lang="en-US" dirty="0" smtClean="0"/>
              <a:t> and the </a:t>
            </a:r>
            <a:r>
              <a:rPr lang="en-US" b="1" dirty="0"/>
              <a:t>Hadoop </a:t>
            </a:r>
            <a:r>
              <a:rPr lang="en-US" b="1" dirty="0" smtClean="0"/>
              <a:t>ecosystem</a:t>
            </a:r>
            <a:endParaRPr lang="en-US" dirty="0"/>
          </a:p>
        </p:txBody>
      </p:sp>
      <p:sp>
        <p:nvSpPr>
          <p:cNvPr id="3" name="Content Placeholder 2"/>
          <p:cNvSpPr>
            <a:spLocks noGrp="1"/>
          </p:cNvSpPr>
          <p:nvPr>
            <p:ph idx="1"/>
          </p:nvPr>
        </p:nvSpPr>
        <p:spPr/>
        <p:txBody>
          <a:bodyPr/>
          <a:lstStyle/>
          <a:p>
            <a:r>
              <a:rPr lang="en-US" b="1" dirty="0"/>
              <a:t>1. Interfaces (Top Layer)</a:t>
            </a:r>
          </a:p>
          <a:p>
            <a:r>
              <a:rPr lang="en-US" dirty="0"/>
              <a:t>These are the tools users interact with to process data:</a:t>
            </a:r>
          </a:p>
          <a:p>
            <a:r>
              <a:rPr lang="en-US" b="1" dirty="0" err="1"/>
              <a:t>GraphX</a:t>
            </a:r>
            <a:r>
              <a:rPr lang="en-US" b="1" dirty="0"/>
              <a:t>:</a:t>
            </a:r>
            <a:r>
              <a:rPr lang="en-US" dirty="0"/>
              <a:t> For graph processing (like social network analysis).</a:t>
            </a:r>
          </a:p>
          <a:p>
            <a:r>
              <a:rPr lang="en-US" b="1" dirty="0" err="1"/>
              <a:t>SparkSQL</a:t>
            </a:r>
            <a:r>
              <a:rPr lang="en-US" b="1" dirty="0"/>
              <a:t>:</a:t>
            </a:r>
            <a:r>
              <a:rPr lang="en-US" dirty="0"/>
              <a:t> Allows users to run standard SQL queries on top of Spark.</a:t>
            </a:r>
          </a:p>
          <a:p>
            <a:r>
              <a:rPr lang="en-US" b="1" dirty="0" err="1"/>
              <a:t>MLlib</a:t>
            </a:r>
            <a:r>
              <a:rPr lang="en-US" b="1" dirty="0"/>
              <a:t>/</a:t>
            </a:r>
            <a:r>
              <a:rPr lang="en-US" b="1" dirty="0" err="1"/>
              <a:t>MLbase</a:t>
            </a:r>
            <a:r>
              <a:rPr lang="en-US" b="1" dirty="0"/>
              <a:t>:</a:t>
            </a:r>
            <a:r>
              <a:rPr lang="en-US" dirty="0"/>
              <a:t> Used for machine learning and statistical modeling.</a:t>
            </a:r>
          </a:p>
          <a:p>
            <a:r>
              <a:rPr lang="en-US" b="1" dirty="0"/>
              <a:t>Hive/Pig:</a:t>
            </a:r>
            <a:r>
              <a:rPr lang="en-US" dirty="0"/>
              <a:t> Traditional Hadoop tools for SQL-like querying and scripting.</a:t>
            </a:r>
          </a:p>
          <a:p>
            <a:pPr marL="0" indent="0">
              <a:buNone/>
            </a:pPr>
            <a:endParaRPr lang="en-US" dirty="0"/>
          </a:p>
        </p:txBody>
      </p:sp>
    </p:spTree>
    <p:extLst>
      <p:ext uri="{BB962C8B-B14F-4D97-AF65-F5344CB8AC3E}">
        <p14:creationId xmlns:p14="http://schemas.microsoft.com/office/powerpoint/2010/main" val="24715477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Berkeley Data Analytics Stack (BDAS)</a:t>
            </a:r>
            <a:r>
              <a:rPr lang="en-US" dirty="0" smtClean="0"/>
              <a:t> and the </a:t>
            </a:r>
            <a:r>
              <a:rPr lang="en-US" b="1" dirty="0"/>
              <a:t>Hadoop </a:t>
            </a:r>
            <a:r>
              <a:rPr lang="en-US" b="1" dirty="0" smtClean="0"/>
              <a:t>ecosystem</a:t>
            </a:r>
            <a:endParaRPr lang="en-US" dirty="0"/>
          </a:p>
        </p:txBody>
      </p:sp>
      <p:sp>
        <p:nvSpPr>
          <p:cNvPr id="3" name="Content Placeholder 2"/>
          <p:cNvSpPr>
            <a:spLocks noGrp="1"/>
          </p:cNvSpPr>
          <p:nvPr>
            <p:ph idx="1"/>
          </p:nvPr>
        </p:nvSpPr>
        <p:spPr/>
        <p:txBody>
          <a:bodyPr/>
          <a:lstStyle/>
          <a:p>
            <a:pPr marL="0" indent="0">
              <a:buNone/>
            </a:pPr>
            <a:r>
              <a:rPr lang="en-US" b="1" dirty="0"/>
              <a:t>2. Processing (Computation)</a:t>
            </a:r>
          </a:p>
          <a:p>
            <a:r>
              <a:rPr lang="en-US" dirty="0"/>
              <a:t>This layer does the "heavy lifting" of data calculation:</a:t>
            </a:r>
          </a:p>
          <a:p>
            <a:r>
              <a:rPr lang="en-US" b="1" dirty="0"/>
              <a:t>Spark:</a:t>
            </a:r>
            <a:r>
              <a:rPr lang="en-US" dirty="0"/>
              <a:t> Performs "In-memory Map Reduce," which is much faster than traditional disk-based processing because it keeps data in RAM.</a:t>
            </a:r>
          </a:p>
          <a:p>
            <a:r>
              <a:rPr lang="en-US" b="1" dirty="0"/>
              <a:t>YARN (</a:t>
            </a:r>
            <a:r>
              <a:rPr lang="en-US" b="1" dirty="0" err="1"/>
              <a:t>MapReduce</a:t>
            </a:r>
            <a:r>
              <a:rPr lang="en-US" b="1" dirty="0"/>
              <a:t>/</a:t>
            </a:r>
            <a:r>
              <a:rPr lang="en-US" b="1" dirty="0" err="1"/>
              <a:t>Tez</a:t>
            </a:r>
            <a:r>
              <a:rPr lang="en-US" b="1" dirty="0"/>
              <a:t>):</a:t>
            </a:r>
            <a:r>
              <a:rPr lang="en-US" dirty="0"/>
              <a:t> The classic Hadoop way of processing data, which typically reads from and writes to the disk during tasks.</a:t>
            </a:r>
          </a:p>
          <a:p>
            <a:pPr marL="0" indent="0">
              <a:buNone/>
            </a:pPr>
            <a:endParaRPr lang="en-US" dirty="0"/>
          </a:p>
        </p:txBody>
      </p:sp>
    </p:spTree>
    <p:extLst>
      <p:ext uri="{BB962C8B-B14F-4D97-AF65-F5344CB8AC3E}">
        <p14:creationId xmlns:p14="http://schemas.microsoft.com/office/powerpoint/2010/main" val="3433715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Berkeley Data Analytics Stack (BDAS)</a:t>
            </a:r>
            <a:r>
              <a:rPr lang="en-US" dirty="0" smtClean="0"/>
              <a:t> and the </a:t>
            </a:r>
            <a:r>
              <a:rPr lang="en-US" b="1" dirty="0"/>
              <a:t>Hadoop </a:t>
            </a:r>
            <a:r>
              <a:rPr lang="en-US" b="1" dirty="0" smtClean="0"/>
              <a:t>ecosystem</a:t>
            </a:r>
            <a:endParaRPr lang="en-US" dirty="0"/>
          </a:p>
        </p:txBody>
      </p:sp>
      <p:sp>
        <p:nvSpPr>
          <p:cNvPr id="3" name="Content Placeholder 2"/>
          <p:cNvSpPr>
            <a:spLocks noGrp="1"/>
          </p:cNvSpPr>
          <p:nvPr>
            <p:ph idx="1"/>
          </p:nvPr>
        </p:nvSpPr>
        <p:spPr/>
        <p:txBody>
          <a:bodyPr/>
          <a:lstStyle/>
          <a:p>
            <a:pPr marL="0" indent="0">
              <a:buNone/>
            </a:pPr>
            <a:r>
              <a:rPr lang="en-US" b="1" dirty="0"/>
              <a:t>3. Storage</a:t>
            </a:r>
          </a:p>
          <a:p>
            <a:r>
              <a:rPr lang="en-US" dirty="0"/>
              <a:t>Where the actual data lives:</a:t>
            </a:r>
          </a:p>
          <a:p>
            <a:r>
              <a:rPr lang="en-US" b="1" dirty="0"/>
              <a:t>Tachyon (now known as </a:t>
            </a:r>
            <a:r>
              <a:rPr lang="en-US" b="1" dirty="0" err="1"/>
              <a:t>Alluxio</a:t>
            </a:r>
            <a:r>
              <a:rPr lang="en-US" b="1" dirty="0"/>
              <a:t>):</a:t>
            </a:r>
            <a:r>
              <a:rPr lang="en-US" dirty="0"/>
              <a:t> A "Memory Distributed File System." It acts as a fast, in-memory layer above the disk storage to speed up data access.</a:t>
            </a:r>
          </a:p>
          <a:p>
            <a:r>
              <a:rPr lang="en-US" b="1" dirty="0"/>
              <a:t>HDFS (Hadoop Distributed File System):</a:t>
            </a:r>
            <a:r>
              <a:rPr lang="en-US" dirty="0"/>
              <a:t> The standard storage layer that keeps large amounts of data spread across multiple disks in a cluster.</a:t>
            </a:r>
          </a:p>
          <a:p>
            <a:pPr marL="0" indent="0">
              <a:buNone/>
            </a:pPr>
            <a:endParaRPr lang="en-US" dirty="0"/>
          </a:p>
        </p:txBody>
      </p:sp>
    </p:spTree>
    <p:extLst>
      <p:ext uri="{BB962C8B-B14F-4D97-AF65-F5344CB8AC3E}">
        <p14:creationId xmlns:p14="http://schemas.microsoft.com/office/powerpoint/2010/main" val="21643018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Berkeley Data Analytics Stack (BDAS)</a:t>
            </a:r>
            <a:r>
              <a:rPr lang="en-US" dirty="0" smtClean="0"/>
              <a:t> and the </a:t>
            </a:r>
            <a:r>
              <a:rPr lang="en-US" b="1" dirty="0"/>
              <a:t>Hadoop </a:t>
            </a:r>
            <a:r>
              <a:rPr lang="en-US" b="1" dirty="0" smtClean="0"/>
              <a:t>ecosystem</a:t>
            </a:r>
            <a:endParaRPr lang="en-US" dirty="0"/>
          </a:p>
        </p:txBody>
      </p:sp>
      <p:sp>
        <p:nvSpPr>
          <p:cNvPr id="3" name="Content Placeholder 2"/>
          <p:cNvSpPr>
            <a:spLocks noGrp="1"/>
          </p:cNvSpPr>
          <p:nvPr>
            <p:ph idx="1"/>
          </p:nvPr>
        </p:nvSpPr>
        <p:spPr/>
        <p:txBody>
          <a:bodyPr/>
          <a:lstStyle/>
          <a:p>
            <a:pPr marL="0" indent="0">
              <a:buNone/>
            </a:pPr>
            <a:r>
              <a:rPr lang="en-US" dirty="0" smtClean="0"/>
              <a:t>4. Resource and Cluster Management</a:t>
            </a:r>
          </a:p>
          <a:p>
            <a:pPr marL="0" indent="0">
              <a:buNone/>
            </a:pPr>
            <a:r>
              <a:rPr lang="en-US" dirty="0" smtClean="0"/>
              <a:t>The foundation that manages the hardware:</a:t>
            </a:r>
          </a:p>
          <a:p>
            <a:r>
              <a:rPr lang="en-US" dirty="0" err="1" smtClean="0"/>
              <a:t>Mesos</a:t>
            </a:r>
            <a:r>
              <a:rPr lang="en-US" dirty="0" smtClean="0"/>
              <a:t>: A cluster manager that can run Spark and other applications.</a:t>
            </a:r>
          </a:p>
          <a:p>
            <a:r>
              <a:rPr lang="en-US" dirty="0" smtClean="0"/>
              <a:t>YARN: Specifically manages resources for Hadoop-based clusters.</a:t>
            </a:r>
            <a:endParaRPr lang="en-US" dirty="0"/>
          </a:p>
        </p:txBody>
      </p:sp>
    </p:spTree>
    <p:extLst>
      <p:ext uri="{BB962C8B-B14F-4D97-AF65-F5344CB8AC3E}">
        <p14:creationId xmlns:p14="http://schemas.microsoft.com/office/powerpoint/2010/main" val="30187317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Spark Processing</a:t>
            </a:r>
            <a:endParaRPr lang="en-US" b="1" dirty="0"/>
          </a:p>
        </p:txBody>
      </p:sp>
      <p:pic>
        <p:nvPicPr>
          <p:cNvPr id="4" name="Content Placeholder 3"/>
          <p:cNvPicPr>
            <a:picLocks noGrp="1" noChangeAspect="1"/>
          </p:cNvPicPr>
          <p:nvPr>
            <p:ph idx="1"/>
          </p:nvPr>
        </p:nvPicPr>
        <p:blipFill>
          <a:blip r:embed="rId2"/>
          <a:stretch>
            <a:fillRect/>
          </a:stretch>
        </p:blipFill>
        <p:spPr>
          <a:xfrm>
            <a:off x="957943" y="1690688"/>
            <a:ext cx="9509759" cy="4176599"/>
          </a:xfrm>
          <a:prstGeom prst="rect">
            <a:avLst/>
          </a:prstGeom>
        </p:spPr>
      </p:pic>
    </p:spTree>
    <p:extLst>
      <p:ext uri="{BB962C8B-B14F-4D97-AF65-F5344CB8AC3E}">
        <p14:creationId xmlns:p14="http://schemas.microsoft.com/office/powerpoint/2010/main" val="7850292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Spark Processing</a:t>
            </a:r>
            <a:endParaRPr lang="en-US" b="1" dirty="0"/>
          </a:p>
        </p:txBody>
      </p:sp>
      <p:sp>
        <p:nvSpPr>
          <p:cNvPr id="3" name="Content Placeholder 2"/>
          <p:cNvSpPr>
            <a:spLocks noGrp="1"/>
          </p:cNvSpPr>
          <p:nvPr>
            <p:ph idx="1"/>
          </p:nvPr>
        </p:nvSpPr>
        <p:spPr/>
        <p:txBody>
          <a:bodyPr/>
          <a:lstStyle/>
          <a:p>
            <a:pPr marL="0" indent="0">
              <a:buNone/>
            </a:pPr>
            <a:r>
              <a:rPr lang="en-US" dirty="0" smtClean="0"/>
              <a:t>workflow of pulling data from different sources, transforming it in memory, and saving the result.</a:t>
            </a:r>
          </a:p>
          <a:p>
            <a:pPr marL="0" indent="0">
              <a:buNone/>
            </a:pPr>
            <a:r>
              <a:rPr lang="en-US" b="1" dirty="0"/>
              <a:t>1. Data Ingestion (Input)</a:t>
            </a:r>
          </a:p>
          <a:p>
            <a:r>
              <a:rPr lang="en-US" b="1" dirty="0"/>
              <a:t>(1) RDBMS:</a:t>
            </a:r>
            <a:r>
              <a:rPr lang="en-US" dirty="0"/>
              <a:t> Spark pulls data from a traditional relational database table.</a:t>
            </a:r>
          </a:p>
          <a:p>
            <a:r>
              <a:rPr lang="en-US" b="1" dirty="0"/>
              <a:t>(2) Distributed File System (HDFS, S3):</a:t>
            </a:r>
            <a:r>
              <a:rPr lang="en-US" dirty="0"/>
              <a:t> Simultaneously, it pulls data from a flat file, like a </a:t>
            </a:r>
            <a:r>
              <a:rPr lang="en-US" b="1" dirty="0"/>
              <a:t>CSV Doc</a:t>
            </a:r>
            <a:r>
              <a:rPr lang="en-US" dirty="0"/>
              <a:t>, stored in a cloud or distributed system.</a:t>
            </a:r>
          </a:p>
          <a:p>
            <a:r>
              <a:rPr lang="en-US" dirty="0"/>
              <a:t>In both cases, this data is loaded into the </a:t>
            </a:r>
            <a:r>
              <a:rPr lang="en-US" b="1" dirty="0"/>
              <a:t>Spark Memory Layer</a:t>
            </a:r>
            <a:r>
              <a:rPr lang="en-US" dirty="0"/>
              <a:t> as </a:t>
            </a:r>
            <a:r>
              <a:rPr lang="en-US" b="1" dirty="0"/>
              <a:t>RDDs</a:t>
            </a:r>
            <a:r>
              <a:rPr lang="en-US" dirty="0"/>
              <a:t>.</a:t>
            </a:r>
          </a:p>
          <a:p>
            <a:pPr marL="0" indent="0">
              <a:buNone/>
            </a:pPr>
            <a:endParaRPr lang="en-US" dirty="0"/>
          </a:p>
        </p:txBody>
      </p:sp>
    </p:spTree>
    <p:extLst>
      <p:ext uri="{BB962C8B-B14F-4D97-AF65-F5344CB8AC3E}">
        <p14:creationId xmlns:p14="http://schemas.microsoft.com/office/powerpoint/2010/main" val="10805615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Spark Processing</a:t>
            </a:r>
            <a:endParaRPr lang="en-US" b="1" dirty="0"/>
          </a:p>
        </p:txBody>
      </p:sp>
      <p:sp>
        <p:nvSpPr>
          <p:cNvPr id="3" name="Content Placeholder 2"/>
          <p:cNvSpPr>
            <a:spLocks noGrp="1"/>
          </p:cNvSpPr>
          <p:nvPr>
            <p:ph idx="1"/>
          </p:nvPr>
        </p:nvSpPr>
        <p:spPr/>
        <p:txBody>
          <a:bodyPr/>
          <a:lstStyle/>
          <a:p>
            <a:r>
              <a:rPr lang="en-US" b="1" dirty="0"/>
              <a:t>2. In-Memory Processing (Transformations)</a:t>
            </a:r>
          </a:p>
          <a:p>
            <a:r>
              <a:rPr lang="en-US" dirty="0"/>
              <a:t>Once the data is in Spark, it undergoes "Transformations" to change its shape or combine it:</a:t>
            </a:r>
          </a:p>
          <a:p>
            <a:r>
              <a:rPr lang="en-US" b="1" dirty="0"/>
              <a:t>(3) Join:</a:t>
            </a:r>
            <a:r>
              <a:rPr lang="en-US" dirty="0"/>
              <a:t> Spark takes the two separate RDDs (one from the database and one from the CSV) and joins them together based on a common key (like a User ID). This creates a new, combined RDD.</a:t>
            </a:r>
          </a:p>
          <a:p>
            <a:r>
              <a:rPr lang="en-US" b="1" dirty="0"/>
              <a:t>(4) </a:t>
            </a:r>
            <a:r>
              <a:rPr lang="en-US" b="1" dirty="0" err="1"/>
              <a:t>GroupByKey</a:t>
            </a:r>
            <a:r>
              <a:rPr lang="en-US" b="1" dirty="0"/>
              <a:t>:</a:t>
            </a:r>
            <a:r>
              <a:rPr lang="en-US" dirty="0"/>
              <a:t> The combined data is then reorganized. For example, it might group all sales records by "Region" or "Date." This produces the final processed RDD.</a:t>
            </a:r>
          </a:p>
          <a:p>
            <a:pPr marL="0" indent="0">
              <a:buNone/>
            </a:pPr>
            <a:endParaRPr lang="en-US" dirty="0"/>
          </a:p>
        </p:txBody>
      </p:sp>
    </p:spTree>
    <p:extLst>
      <p:ext uri="{BB962C8B-B14F-4D97-AF65-F5344CB8AC3E}">
        <p14:creationId xmlns:p14="http://schemas.microsoft.com/office/powerpoint/2010/main" val="8091628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Spark Processing</a:t>
            </a:r>
            <a:endParaRPr lang="en-US" b="1" dirty="0"/>
          </a:p>
        </p:txBody>
      </p:sp>
      <p:sp>
        <p:nvSpPr>
          <p:cNvPr id="3" name="Content Placeholder 2"/>
          <p:cNvSpPr>
            <a:spLocks noGrp="1"/>
          </p:cNvSpPr>
          <p:nvPr>
            <p:ph idx="1"/>
          </p:nvPr>
        </p:nvSpPr>
        <p:spPr/>
        <p:txBody>
          <a:bodyPr/>
          <a:lstStyle/>
          <a:p>
            <a:pPr marL="0" indent="0">
              <a:buNone/>
            </a:pPr>
            <a:r>
              <a:rPr lang="en-US" b="1" dirty="0" smtClean="0"/>
              <a:t>3. Data Output (Action)</a:t>
            </a:r>
          </a:p>
          <a:p>
            <a:pPr marL="0" indent="0">
              <a:buNone/>
            </a:pPr>
            <a:r>
              <a:rPr lang="en-US" b="1" dirty="0" smtClean="0"/>
              <a:t>(5) Saving Results: </a:t>
            </a:r>
            <a:r>
              <a:rPr lang="en-US" dirty="0" smtClean="0"/>
              <a:t>Finally, the processed data is written back out to the Distributed File System, often in a different format like a JSON Doc, for use in reports or other applications.</a:t>
            </a:r>
            <a:endParaRPr lang="en-US" dirty="0"/>
          </a:p>
        </p:txBody>
      </p:sp>
    </p:spTree>
    <p:extLst>
      <p:ext uri="{BB962C8B-B14F-4D97-AF65-F5344CB8AC3E}">
        <p14:creationId xmlns:p14="http://schemas.microsoft.com/office/powerpoint/2010/main" val="3025221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113</TotalTime>
  <Words>1557</Words>
  <Application>Microsoft Office PowerPoint</Application>
  <PresentationFormat>Widescreen</PresentationFormat>
  <Paragraphs>91</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Calibri Light</vt:lpstr>
      <vt:lpstr>Office Theme</vt:lpstr>
      <vt:lpstr>Module 5 -3 </vt:lpstr>
      <vt:lpstr>In-Memory Databases and SSDs</vt:lpstr>
      <vt:lpstr>In-Memory Databases and SSDs</vt:lpstr>
      <vt:lpstr>PowerPoint Presentation</vt:lpstr>
      <vt:lpstr>Architectural workflow of a Redis system</vt:lpstr>
      <vt:lpstr>Architectural workflow of a Redis system</vt:lpstr>
      <vt:lpstr>Architectural workflow of a Redis system</vt:lpstr>
      <vt:lpstr>Architectural workflow of a Redis system</vt:lpstr>
      <vt:lpstr>Architecture of SAP HANA</vt:lpstr>
      <vt:lpstr>Architecture of SAP HANA</vt:lpstr>
      <vt:lpstr>Architecture of SAP HANA</vt:lpstr>
      <vt:lpstr>Architecture of SAP HANA</vt:lpstr>
      <vt:lpstr>Architecture of SAP HANA</vt:lpstr>
      <vt:lpstr>Berkeley Data Analytics Stack (BDAS) and the Hadoop ecosystem</vt:lpstr>
      <vt:lpstr>Berkeley Data Analytics Stack (BDAS) and the Hadoop ecosystem</vt:lpstr>
      <vt:lpstr>Berkeley Data Analytics Stack (BDAS) and the Hadoop ecosystem</vt:lpstr>
      <vt:lpstr>Berkeley Data Analytics Stack (BDAS) and the Hadoop ecosystem</vt:lpstr>
      <vt:lpstr>Berkeley Data Analytics Stack (BDAS) and the Hadoop ecosystem</vt:lpstr>
      <vt:lpstr>Spark Processing</vt:lpstr>
      <vt:lpstr>Spark Processing</vt:lpstr>
      <vt:lpstr>Spark Processing</vt:lpstr>
      <vt:lpstr>Spark Processing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5 -3 </dc:title>
  <dc:creator>Sandhya</dc:creator>
  <cp:lastModifiedBy>Sandhya</cp:lastModifiedBy>
  <cp:revision>18</cp:revision>
  <dcterms:created xsi:type="dcterms:W3CDTF">2026-05-03T07:16:57Z</dcterms:created>
  <dcterms:modified xsi:type="dcterms:W3CDTF">2026-05-03T14:16:35Z</dcterms:modified>
</cp:coreProperties>
</file>