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64" r:id="rId13"/>
    <p:sldId id="265" r:id="rId14"/>
    <p:sldId id="266" r:id="rId15"/>
    <p:sldId id="267" r:id="rId16"/>
    <p:sldId id="271" r:id="rId17"/>
    <p:sldId id="272" r:id="rId18"/>
    <p:sldId id="273" r:id="rId19"/>
    <p:sldId id="274" r:id="rId20"/>
    <p:sldId id="275" r:id="rId21"/>
    <p:sldId id="276" r:id="rId22"/>
    <p:sldId id="282" r:id="rId23"/>
    <p:sldId id="277" r:id="rId24"/>
    <p:sldId id="281" r:id="rId25"/>
    <p:sldId id="280" r:id="rId26"/>
    <p:sldId id="279" r:id="rId27"/>
    <p:sldId id="283" r:id="rId28"/>
    <p:sldId id="278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5E81C-3A3E-4E79-86D3-08E032FC077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4850-B088-42D0-8038-1C09F7F2A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07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5E81C-3A3E-4E79-86D3-08E032FC077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4850-B088-42D0-8038-1C09F7F2A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4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5E81C-3A3E-4E79-86D3-08E032FC077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4850-B088-42D0-8038-1C09F7F2A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5E81C-3A3E-4E79-86D3-08E032FC077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4850-B088-42D0-8038-1C09F7F2A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34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5E81C-3A3E-4E79-86D3-08E032FC077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4850-B088-42D0-8038-1C09F7F2A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39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5E81C-3A3E-4E79-86D3-08E032FC077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4850-B088-42D0-8038-1C09F7F2A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13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5E81C-3A3E-4E79-86D3-08E032FC077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4850-B088-42D0-8038-1C09F7F2A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3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5E81C-3A3E-4E79-86D3-08E032FC077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4850-B088-42D0-8038-1C09F7F2A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76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5E81C-3A3E-4E79-86D3-08E032FC077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4850-B088-42D0-8038-1C09F7F2A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06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5E81C-3A3E-4E79-86D3-08E032FC077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4850-B088-42D0-8038-1C09F7F2A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47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5E81C-3A3E-4E79-86D3-08E032FC077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4850-B088-42D0-8038-1C09F7F2A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5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5E81C-3A3E-4E79-86D3-08E032FC077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D4850-B088-42D0-8038-1C09F7F2A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97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Object-Oriented Database (OODB)</a:t>
            </a:r>
          </a:p>
        </p:txBody>
      </p:sp>
    </p:spTree>
    <p:extLst>
      <p:ext uri="{BB962C8B-B14F-4D97-AF65-F5344CB8AC3E}">
        <p14:creationId xmlns:p14="http://schemas.microsoft.com/office/powerpoint/2010/main" val="2917675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92034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An </a:t>
            </a:r>
            <a:r>
              <a:rPr lang="en-US" b="1" dirty="0"/>
              <a:t>Object-Oriented Database (OODB)</a:t>
            </a:r>
            <a:r>
              <a:rPr lang="en-US" dirty="0"/>
              <a:t> stores data </a:t>
            </a:r>
            <a:r>
              <a:rPr lang="en-US" b="1" dirty="0"/>
              <a:t>as objects</a:t>
            </a:r>
            <a:r>
              <a:rPr lang="en-US" dirty="0"/>
              <a:t>, just like in </a:t>
            </a:r>
            <a:r>
              <a:rPr lang="en-US" b="1" dirty="0"/>
              <a:t>object-oriented programming (OOP)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Instead of: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Tables, rows, columns</a:t>
            </a:r>
            <a:r>
              <a:rPr lang="en-US" dirty="0"/>
              <a:t> (Relational DB)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We have: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Classes, objects, attributes, methods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So the </a:t>
            </a:r>
            <a:r>
              <a:rPr lang="en-US" b="1" dirty="0"/>
              <a:t>same objects used in programs (Java / C++ / Python)</a:t>
            </a:r>
            <a:r>
              <a:rPr lang="en-US" dirty="0"/>
              <a:t> are stored </a:t>
            </a:r>
            <a:r>
              <a:rPr lang="en-US" b="1" dirty="0"/>
              <a:t>directly in the database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256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Objects and Classes in an Object-Oriented Database (OODB)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 an Object-Oriented Database (OODB), data is organized using </a:t>
            </a:r>
            <a:r>
              <a:rPr lang="en-US" b="1" dirty="0"/>
              <a:t>classes and objects</a:t>
            </a:r>
            <a:r>
              <a:rPr lang="en-US" dirty="0"/>
              <a:t>, similar to object-oriented programming languages such as Java or C++. A </a:t>
            </a:r>
            <a:r>
              <a:rPr lang="en-US" b="1" dirty="0"/>
              <a:t>class</a:t>
            </a:r>
            <a:r>
              <a:rPr lang="en-US" dirty="0"/>
              <a:t> defines the structure and behavior of data, while an </a:t>
            </a:r>
            <a:r>
              <a:rPr lang="en-US" b="1" dirty="0"/>
              <a:t>object</a:t>
            </a:r>
            <a:r>
              <a:rPr lang="en-US" dirty="0"/>
              <a:t> is a real-world instance of that class stored in the database.</a:t>
            </a:r>
          </a:p>
          <a:p>
            <a:r>
              <a:rPr lang="en-US" dirty="0"/>
              <a:t>A </a:t>
            </a:r>
            <a:r>
              <a:rPr lang="en-US" b="1" dirty="0"/>
              <a:t>class acts as a blueprint</a:t>
            </a:r>
            <a:r>
              <a:rPr lang="en-US" dirty="0"/>
              <a:t>, specifying:</a:t>
            </a:r>
          </a:p>
          <a:p>
            <a:r>
              <a:rPr lang="en-US" b="1" dirty="0"/>
              <a:t>Attributes</a:t>
            </a:r>
            <a:r>
              <a:rPr lang="en-US" dirty="0"/>
              <a:t> (data members)</a:t>
            </a:r>
          </a:p>
          <a:p>
            <a:r>
              <a:rPr lang="en-US" b="1" dirty="0"/>
              <a:t>Methods</a:t>
            </a:r>
            <a:r>
              <a:rPr lang="en-US" dirty="0"/>
              <a:t> (operations or behaviors)</a:t>
            </a:r>
          </a:p>
          <a:p>
            <a:r>
              <a:rPr lang="en-US" dirty="0"/>
              <a:t>Each object created from a class contains </a:t>
            </a:r>
            <a:r>
              <a:rPr lang="en-US" b="1" dirty="0"/>
              <a:t>actual data values</a:t>
            </a:r>
            <a:r>
              <a:rPr lang="en-US" dirty="0"/>
              <a:t> and can execute the methods defined in the class. These objects are stored </a:t>
            </a:r>
            <a:r>
              <a:rPr lang="en-US" b="1" dirty="0"/>
              <a:t>persistently</a:t>
            </a:r>
            <a:r>
              <a:rPr lang="en-US" dirty="0"/>
              <a:t> in the database.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9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Objects and Classes in an Object-Oriented Database (OODB)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 Book Class in a Library Database</a:t>
            </a:r>
          </a:p>
          <a:p>
            <a:r>
              <a:rPr lang="en-US" dirty="0"/>
              <a:t>Consider a Book class used in a library management system.</a:t>
            </a:r>
          </a:p>
          <a:p>
            <a:pPr marL="0" indent="0">
              <a:buNone/>
            </a:pPr>
            <a:r>
              <a:rPr lang="en-US" b="1" dirty="0"/>
              <a:t>Class Definition </a:t>
            </a:r>
          </a:p>
          <a:p>
            <a:pPr marL="0" indent="0">
              <a:buNone/>
            </a:pPr>
            <a:r>
              <a:rPr lang="en-US" dirty="0"/>
              <a:t>Attributes:</a:t>
            </a:r>
          </a:p>
          <a:p>
            <a:pPr marL="0" indent="0">
              <a:buNone/>
            </a:pPr>
            <a:r>
              <a:rPr lang="en-US" dirty="0"/>
              <a:t>	Title, Author, ISBN, Publication, Year, Status</a:t>
            </a:r>
          </a:p>
          <a:p>
            <a:pPr marL="0" indent="0">
              <a:buNone/>
            </a:pPr>
            <a:r>
              <a:rPr lang="en-US" dirty="0"/>
              <a:t>Methods:</a:t>
            </a:r>
          </a:p>
          <a:p>
            <a:r>
              <a:rPr lang="en-US" dirty="0" err="1"/>
              <a:t>checkOut</a:t>
            </a:r>
            <a:r>
              <a:rPr lang="en-US" dirty="0"/>
              <a:t>() – Updates the book’s status in the database to "Checked Out“</a:t>
            </a:r>
          </a:p>
          <a:p>
            <a:r>
              <a:rPr lang="en-US" dirty="0" err="1"/>
              <a:t>returnBook</a:t>
            </a:r>
            <a:r>
              <a:rPr lang="en-US" dirty="0"/>
              <a:t>() – Updates the book’s status in the database to "Available“</a:t>
            </a:r>
          </a:p>
          <a:p>
            <a:r>
              <a:rPr lang="en-US" dirty="0" err="1"/>
              <a:t>updateStatus</a:t>
            </a:r>
            <a:r>
              <a:rPr lang="en-US" dirty="0"/>
              <a:t>(status) – Updates the book’s status to "Reserved", "Available", or "Checked Out"</a:t>
            </a:r>
          </a:p>
        </p:txBody>
      </p:sp>
    </p:spTree>
    <p:extLst>
      <p:ext uri="{BB962C8B-B14F-4D97-AF65-F5344CB8AC3E}">
        <p14:creationId xmlns:p14="http://schemas.microsoft.com/office/powerpoint/2010/main" val="184657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Objects and Classes in an Object-Oriented Database (OODB)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b="1" dirty="0"/>
              <a:t>Objects in the Database</a:t>
            </a:r>
          </a:p>
          <a:p>
            <a:r>
              <a:rPr lang="en-US" dirty="0"/>
              <a:t>Each individual book in the library is an </a:t>
            </a:r>
            <a:r>
              <a:rPr lang="en-US" b="1" dirty="0"/>
              <a:t>object (instance)</a:t>
            </a:r>
            <a:r>
              <a:rPr lang="en-US" dirty="0"/>
              <a:t> of the </a:t>
            </a:r>
            <a:r>
              <a:rPr lang="en-US" b="1" dirty="0"/>
              <a:t>Book</a:t>
            </a:r>
            <a:r>
              <a:rPr lang="en-US" dirty="0"/>
              <a:t> class.</a:t>
            </a:r>
          </a:p>
          <a:p>
            <a:r>
              <a:rPr lang="en-US" dirty="0"/>
              <a:t>Example objects stored in the OODB:</a:t>
            </a:r>
          </a:p>
          <a:p>
            <a:r>
              <a:rPr lang="en-US" dirty="0"/>
              <a:t>Book Object 1</a:t>
            </a:r>
          </a:p>
          <a:p>
            <a:pPr lvl="1"/>
            <a:r>
              <a:rPr lang="en-US" dirty="0"/>
              <a:t>Title: </a:t>
            </a:r>
            <a:r>
              <a:rPr lang="en-US" i="1" dirty="0"/>
              <a:t>Database Systems</a:t>
            </a:r>
            <a:endParaRPr lang="en-US" dirty="0"/>
          </a:p>
          <a:p>
            <a:pPr lvl="1"/>
            <a:r>
              <a:rPr lang="en-US" dirty="0"/>
              <a:t>Author: </a:t>
            </a:r>
            <a:r>
              <a:rPr lang="en-US" i="1" dirty="0" err="1"/>
              <a:t>Elmasri</a:t>
            </a:r>
            <a:endParaRPr lang="en-US" dirty="0"/>
          </a:p>
          <a:p>
            <a:pPr lvl="1"/>
            <a:r>
              <a:rPr lang="en-US" dirty="0"/>
              <a:t>ISBN: </a:t>
            </a:r>
            <a:r>
              <a:rPr lang="en-US" i="1" dirty="0"/>
              <a:t>978-0132144989</a:t>
            </a:r>
            <a:endParaRPr lang="en-US" dirty="0"/>
          </a:p>
          <a:p>
            <a:pPr lvl="1"/>
            <a:r>
              <a:rPr lang="en-US" dirty="0"/>
              <a:t>Publication Year: </a:t>
            </a:r>
            <a:r>
              <a:rPr lang="en-US" i="1" dirty="0"/>
              <a:t>2017</a:t>
            </a:r>
            <a:endParaRPr lang="en-US" dirty="0"/>
          </a:p>
          <a:p>
            <a:pPr lvl="1"/>
            <a:r>
              <a:rPr lang="en-US" dirty="0"/>
              <a:t>Status: </a:t>
            </a:r>
            <a:r>
              <a:rPr lang="en-US" i="1" dirty="0"/>
              <a:t>Available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714308" y="3727268"/>
            <a:ext cx="42650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Book Object 2</a:t>
            </a:r>
          </a:p>
          <a:p>
            <a:pPr>
              <a:lnSpc>
                <a:spcPct val="150000"/>
              </a:lnSpc>
            </a:pPr>
            <a:r>
              <a:rPr lang="en-US" dirty="0"/>
              <a:t>Title: </a:t>
            </a:r>
            <a:r>
              <a:rPr lang="en-US" i="1" dirty="0"/>
              <a:t>Operating System Concepts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Author: </a:t>
            </a:r>
            <a:r>
              <a:rPr lang="en-US" i="1" dirty="0" err="1"/>
              <a:t>Silberschatz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ISBN: </a:t>
            </a:r>
            <a:r>
              <a:rPr lang="en-US" i="1" dirty="0"/>
              <a:t>978-1118063330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Publication Year: </a:t>
            </a:r>
            <a:r>
              <a:rPr lang="en-US" i="1" dirty="0"/>
              <a:t>2018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Status: </a:t>
            </a:r>
            <a:r>
              <a:rPr lang="en-US" i="1" dirty="0"/>
              <a:t>Checked Out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336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Objects and Classes in an Object-Oriented Database (OODB)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7874"/>
            <a:ext cx="10515600" cy="5360125"/>
          </a:xfrm>
        </p:spPr>
        <p:txBody>
          <a:bodyPr>
            <a:normAutofit fontScale="25000" lnSpcReduction="20000"/>
          </a:bodyPr>
          <a:lstStyle/>
          <a:p>
            <a:r>
              <a:rPr lang="en-US" sz="4000" b="1" dirty="0"/>
              <a:t>Objects in the Database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public class Book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   String title;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   String author;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   String </a:t>
            </a:r>
            <a:r>
              <a:rPr lang="en-US" sz="5600" dirty="0" err="1"/>
              <a:t>isbn</a:t>
            </a:r>
            <a:r>
              <a:rPr lang="en-US" sz="560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   </a:t>
            </a:r>
            <a:r>
              <a:rPr lang="en-US" sz="5600" dirty="0" err="1"/>
              <a:t>int</a:t>
            </a:r>
            <a:r>
              <a:rPr lang="en-US" sz="5600" dirty="0"/>
              <a:t> </a:t>
            </a:r>
            <a:r>
              <a:rPr lang="en-US" sz="5600" dirty="0" err="1"/>
              <a:t>publicationYear</a:t>
            </a:r>
            <a:r>
              <a:rPr lang="en-US" sz="560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   String status;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   public void </a:t>
            </a:r>
            <a:r>
              <a:rPr lang="en-US" sz="5600" dirty="0" err="1"/>
              <a:t>checkOut</a:t>
            </a:r>
            <a:r>
              <a:rPr lang="en-US" sz="5600" dirty="0"/>
              <a:t>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       status = "Checked Out";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   public void </a:t>
            </a:r>
            <a:r>
              <a:rPr lang="en-US" sz="5600" dirty="0" err="1"/>
              <a:t>returnBook</a:t>
            </a:r>
            <a:r>
              <a:rPr lang="en-US" sz="5600" dirty="0"/>
              <a:t>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       status = "Available";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public void </a:t>
            </a:r>
            <a:r>
              <a:rPr lang="en-US" sz="5600" dirty="0" err="1"/>
              <a:t>updateStatus</a:t>
            </a:r>
            <a:r>
              <a:rPr lang="en-US" sz="5600" dirty="0"/>
              <a:t>(String s)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       status = s;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600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59877" y="1923568"/>
            <a:ext cx="4265023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Book b1 = new Book();</a:t>
            </a:r>
          </a:p>
          <a:p>
            <a:pPr>
              <a:lnSpc>
                <a:spcPct val="150000"/>
              </a:lnSpc>
            </a:pPr>
            <a:r>
              <a:rPr lang="en-US" b="1" dirty="0"/>
              <a:t>b1.title = "Database Systems";</a:t>
            </a:r>
          </a:p>
          <a:p>
            <a:pPr>
              <a:lnSpc>
                <a:spcPct val="150000"/>
              </a:lnSpc>
            </a:pPr>
            <a:r>
              <a:rPr lang="en-US" b="1" dirty="0"/>
              <a:t>b1.author = "</a:t>
            </a:r>
            <a:r>
              <a:rPr lang="en-US" b="1" dirty="0" err="1"/>
              <a:t>Elmasri</a:t>
            </a:r>
            <a:r>
              <a:rPr lang="en-US" b="1" dirty="0"/>
              <a:t>";</a:t>
            </a:r>
          </a:p>
          <a:p>
            <a:pPr>
              <a:lnSpc>
                <a:spcPct val="150000"/>
              </a:lnSpc>
            </a:pPr>
            <a:r>
              <a:rPr lang="en-US" b="1" dirty="0"/>
              <a:t>b1.isbn = "9780132144989";</a:t>
            </a:r>
          </a:p>
          <a:p>
            <a:pPr>
              <a:lnSpc>
                <a:spcPct val="150000"/>
              </a:lnSpc>
            </a:pPr>
            <a:r>
              <a:rPr lang="en-US" b="1" dirty="0"/>
              <a:t>b1.publicationYear = 2017;</a:t>
            </a:r>
          </a:p>
          <a:p>
            <a:pPr>
              <a:lnSpc>
                <a:spcPct val="150000"/>
              </a:lnSpc>
            </a:pPr>
            <a:r>
              <a:rPr lang="en-US" b="1" dirty="0"/>
              <a:t>b1.status = "Available";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044542" y="3267650"/>
            <a:ext cx="44239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Db </a:t>
            </a:r>
            <a:r>
              <a:rPr lang="en-US" b="1" dirty="0" err="1"/>
              <a:t>biew</a:t>
            </a:r>
            <a:endParaRPr lang="en-US" b="1" dirty="0"/>
          </a:p>
          <a:p>
            <a:r>
              <a:rPr lang="en-US" dirty="0"/>
              <a:t>Object ID: OID_101</a:t>
            </a:r>
          </a:p>
          <a:p>
            <a:r>
              <a:rPr lang="en-US" dirty="0"/>
              <a:t>Class: Book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title : "DBMS"</a:t>
            </a:r>
          </a:p>
          <a:p>
            <a:r>
              <a:rPr lang="en-US" dirty="0"/>
              <a:t>   author : "</a:t>
            </a:r>
            <a:r>
              <a:rPr lang="en-US" dirty="0" err="1"/>
              <a:t>Elmasri</a:t>
            </a:r>
            <a:r>
              <a:rPr lang="en-US" dirty="0"/>
              <a:t>"</a:t>
            </a:r>
          </a:p>
          <a:p>
            <a:r>
              <a:rPr lang="en-US" dirty="0"/>
              <a:t>   </a:t>
            </a:r>
            <a:r>
              <a:rPr lang="en-US" dirty="0" err="1"/>
              <a:t>isbn</a:t>
            </a:r>
            <a:r>
              <a:rPr lang="en-US" dirty="0"/>
              <a:t> : "123"</a:t>
            </a:r>
          </a:p>
          <a:p>
            <a:r>
              <a:rPr lang="en-US" dirty="0"/>
              <a:t>   </a:t>
            </a:r>
            <a:r>
              <a:rPr lang="en-US" dirty="0" err="1"/>
              <a:t>publicationYear</a:t>
            </a:r>
            <a:r>
              <a:rPr lang="en-US" dirty="0"/>
              <a:t> : 2017</a:t>
            </a:r>
          </a:p>
          <a:p>
            <a:r>
              <a:rPr lang="en-US" dirty="0"/>
              <a:t>   status : "Available"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865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in OODB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Methods in OODB provide behavior to objects, allowing data to be accessed and modified in a controlled and meaningful way.</a:t>
            </a:r>
          </a:p>
          <a:p>
            <a:pPr marL="0" indent="0">
              <a:buNone/>
            </a:pPr>
            <a:r>
              <a:rPr lang="en-US" dirty="0"/>
              <a:t>class Book {</a:t>
            </a:r>
          </a:p>
          <a:p>
            <a:pPr marL="0" indent="0">
              <a:buNone/>
            </a:pPr>
            <a:r>
              <a:rPr lang="en-US" dirty="0"/>
              <a:t>    String title;</a:t>
            </a:r>
          </a:p>
          <a:p>
            <a:pPr marL="0" indent="0">
              <a:buNone/>
            </a:pPr>
            <a:r>
              <a:rPr lang="en-US" dirty="0"/>
              <a:t>    String status;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checkOut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status = "Checked Out";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returnBook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status = "Available";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58491" y="2917371"/>
            <a:ext cx="26648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Book b1 = new Book();</a:t>
            </a:r>
          </a:p>
          <a:p>
            <a:r>
              <a:rPr lang="en-US"/>
              <a:t>b1.title = "DBMS";</a:t>
            </a:r>
          </a:p>
          <a:p>
            <a:r>
              <a:rPr lang="en-US"/>
              <a:t>b1.status = "Available";</a:t>
            </a:r>
          </a:p>
          <a:p>
            <a:endParaRPr lang="en-US"/>
          </a:p>
          <a:p>
            <a:r>
              <a:rPr lang="en-US"/>
              <a:t>db.store(b1);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437120" y="2664823"/>
            <a:ext cx="29957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Db </a:t>
            </a:r>
            <a:r>
              <a:rPr lang="en-US" b="1" dirty="0" err="1"/>
              <a:t>biew</a:t>
            </a:r>
            <a:endParaRPr lang="en-US" dirty="0"/>
          </a:p>
          <a:p>
            <a:r>
              <a:rPr lang="en-US" dirty="0"/>
              <a:t>Object ID: OID_1</a:t>
            </a:r>
          </a:p>
          <a:p>
            <a:r>
              <a:rPr lang="en-US" dirty="0"/>
              <a:t>Class: Book</a:t>
            </a:r>
          </a:p>
          <a:p>
            <a:r>
              <a:rPr lang="en-US" dirty="0"/>
              <a:t>Data:</a:t>
            </a:r>
          </a:p>
          <a:p>
            <a:r>
              <a:rPr lang="en-US" dirty="0"/>
              <a:t>   title  = "DBMS"</a:t>
            </a:r>
          </a:p>
          <a:p>
            <a:r>
              <a:rPr lang="en-US" dirty="0"/>
              <a:t>   status = "Available"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475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in OODB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Methods in OODB provide behavior to objects, allowing data to be accessed and modified in a controlled and meaningful way.</a:t>
            </a:r>
          </a:p>
          <a:p>
            <a:pPr marL="0" indent="0">
              <a:buNone/>
            </a:pPr>
            <a:r>
              <a:rPr lang="en-US" dirty="0"/>
              <a:t>class Book {</a:t>
            </a:r>
          </a:p>
          <a:p>
            <a:pPr marL="0" indent="0">
              <a:buNone/>
            </a:pPr>
            <a:r>
              <a:rPr lang="en-US" dirty="0"/>
              <a:t>    String title;</a:t>
            </a:r>
          </a:p>
          <a:p>
            <a:pPr marL="0" indent="0">
              <a:buNone/>
            </a:pPr>
            <a:r>
              <a:rPr lang="en-US" dirty="0"/>
              <a:t>    String status;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checkOut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status = "Checked Out";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returnBook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status = "Available";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58491" y="2917371"/>
            <a:ext cx="2664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b1.checkOut();</a:t>
            </a:r>
          </a:p>
          <a:p>
            <a:r>
              <a:rPr lang="en-US" dirty="0" err="1"/>
              <a:t>db.commit</a:t>
            </a:r>
            <a:r>
              <a:rPr lang="en-US" dirty="0"/>
              <a:t>();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47856" y="2333685"/>
            <a:ext cx="299574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Db </a:t>
            </a:r>
            <a:r>
              <a:rPr lang="en-US" b="1" dirty="0" err="1"/>
              <a:t>biew</a:t>
            </a:r>
            <a:endParaRPr lang="en-US" dirty="0"/>
          </a:p>
          <a:p>
            <a:r>
              <a:rPr lang="en-US" dirty="0"/>
              <a:t>Object ID: OID_1</a:t>
            </a:r>
          </a:p>
          <a:p>
            <a:r>
              <a:rPr lang="en-US" dirty="0"/>
              <a:t>Class: Book</a:t>
            </a:r>
          </a:p>
          <a:p>
            <a:r>
              <a:rPr lang="en-US" dirty="0"/>
              <a:t>Data:</a:t>
            </a:r>
          </a:p>
          <a:p>
            <a:r>
              <a:rPr lang="en-US" dirty="0"/>
              <a:t>   title  = "DBMS"</a:t>
            </a:r>
          </a:p>
          <a:p>
            <a:r>
              <a:rPr lang="en-US" dirty="0"/>
              <a:t>   status = "Available“</a:t>
            </a:r>
          </a:p>
          <a:p>
            <a:endParaRPr lang="en-US" dirty="0"/>
          </a:p>
          <a:p>
            <a:r>
              <a:rPr lang="en-US" dirty="0"/>
              <a:t>Database AFTER method execution (backend)</a:t>
            </a:r>
          </a:p>
          <a:p>
            <a:endParaRPr lang="en-US" dirty="0"/>
          </a:p>
          <a:p>
            <a:r>
              <a:rPr lang="en-US" dirty="0"/>
              <a:t>Object ID: OID_1</a:t>
            </a:r>
          </a:p>
          <a:p>
            <a:r>
              <a:rPr lang="en-US" dirty="0"/>
              <a:t>Class: Book</a:t>
            </a:r>
          </a:p>
          <a:p>
            <a:r>
              <a:rPr lang="en-US" dirty="0"/>
              <a:t>Data:</a:t>
            </a:r>
          </a:p>
          <a:p>
            <a:r>
              <a:rPr lang="en-US" dirty="0"/>
              <a:t>   title  = "DBMS"</a:t>
            </a:r>
          </a:p>
          <a:p>
            <a:r>
              <a:rPr lang="en-US" dirty="0"/>
              <a:t>   status = "Checked Out"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00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Encapsulation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64029" y="1350934"/>
            <a:ext cx="860189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 means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keeping data (attributes) and behavior (methods) together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one place — the object.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also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protects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 it cannot be modified incorrectly.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access and modify data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through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directly (recommended).</a:t>
            </a:r>
          </a:p>
        </p:txBody>
      </p:sp>
    </p:spTree>
    <p:extLst>
      <p:ext uri="{BB962C8B-B14F-4D97-AF65-F5344CB8AC3E}">
        <p14:creationId xmlns:p14="http://schemas.microsoft.com/office/powerpoint/2010/main" val="37435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Encapsulation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1" y="1690688"/>
            <a:ext cx="507492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class Book 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private String title;   // hidden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private String status;  // hidden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Book(String t) {       // constructor to set title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    title = 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    status = "Available";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void </a:t>
            </a:r>
            <a:r>
              <a:rPr lang="en-US" altLang="en-US" sz="1400" dirty="0" err="1">
                <a:latin typeface="Arial" panose="020B0604020202020204" pitchFamily="34" charset="0"/>
              </a:rPr>
              <a:t>checkOut</a:t>
            </a:r>
            <a:r>
              <a:rPr lang="en-US" altLang="en-US" sz="1400" dirty="0">
                <a:latin typeface="Arial" panose="020B0604020202020204" pitchFamily="34" charset="0"/>
              </a:rPr>
              <a:t>() {      // method to change status safely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    status = "Checked Out";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void </a:t>
            </a:r>
            <a:r>
              <a:rPr lang="en-US" altLang="en-US" sz="1400" dirty="0" err="1">
                <a:latin typeface="Arial" panose="020B0604020202020204" pitchFamily="34" charset="0"/>
              </a:rPr>
              <a:t>returnBook</a:t>
            </a:r>
            <a:r>
              <a:rPr lang="en-US" altLang="en-US" sz="1400" dirty="0">
                <a:latin typeface="Arial" panose="020B0604020202020204" pitchFamily="34" charset="0"/>
              </a:rPr>
              <a:t>() {    // method to change status safely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    status = "Available";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String </a:t>
            </a:r>
            <a:r>
              <a:rPr lang="en-US" altLang="en-US" sz="1400" dirty="0" err="1">
                <a:latin typeface="Arial" panose="020B0604020202020204" pitchFamily="34" charset="0"/>
              </a:rPr>
              <a:t>getStatus</a:t>
            </a:r>
            <a:r>
              <a:rPr lang="en-US" altLang="en-US" sz="1400" dirty="0">
                <a:latin typeface="Arial" panose="020B0604020202020204" pitchFamily="34" charset="0"/>
              </a:rPr>
              <a:t>() {   // method to read status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    return status;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13121" y="2029097"/>
            <a:ext cx="3439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Book b1 = new Book("DBMS");     // create a book object</a:t>
            </a:r>
          </a:p>
          <a:p>
            <a:r>
              <a:rPr lang="en-US" dirty="0" err="1"/>
              <a:t>db.store</a:t>
            </a:r>
            <a:r>
              <a:rPr lang="en-US" dirty="0"/>
              <a:t>(b1);    // store in database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56960" y="3648891"/>
            <a:ext cx="2908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 ID: OID_1</a:t>
            </a:r>
          </a:p>
          <a:p>
            <a:r>
              <a:rPr lang="en-US" dirty="0"/>
              <a:t>Class: Book</a:t>
            </a:r>
          </a:p>
          <a:p>
            <a:r>
              <a:rPr lang="en-US" dirty="0"/>
              <a:t>Data:</a:t>
            </a:r>
          </a:p>
          <a:p>
            <a:r>
              <a:rPr lang="en-US" dirty="0"/>
              <a:t>   title = "DBMS"</a:t>
            </a:r>
          </a:p>
          <a:p>
            <a:r>
              <a:rPr lang="en-US" dirty="0"/>
              <a:t>   status = "Available"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857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Encapsulation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1" y="1690688"/>
            <a:ext cx="507492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class Book 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private String title;   // hidden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private String status;  // hidden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Book(String t) {       // constructor to set title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    title = 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    status = "Available";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void </a:t>
            </a:r>
            <a:r>
              <a:rPr lang="en-US" altLang="en-US" sz="1400" dirty="0" err="1">
                <a:latin typeface="Arial" panose="020B0604020202020204" pitchFamily="34" charset="0"/>
              </a:rPr>
              <a:t>checkOut</a:t>
            </a:r>
            <a:r>
              <a:rPr lang="en-US" altLang="en-US" sz="1400" dirty="0">
                <a:latin typeface="Arial" panose="020B0604020202020204" pitchFamily="34" charset="0"/>
              </a:rPr>
              <a:t>() {      // method to change status safely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    status = "Checked Out";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void </a:t>
            </a:r>
            <a:r>
              <a:rPr lang="en-US" altLang="en-US" sz="1400" dirty="0" err="1">
                <a:latin typeface="Arial" panose="020B0604020202020204" pitchFamily="34" charset="0"/>
              </a:rPr>
              <a:t>returnBook</a:t>
            </a:r>
            <a:r>
              <a:rPr lang="en-US" altLang="en-US" sz="1400" dirty="0">
                <a:latin typeface="Arial" panose="020B0604020202020204" pitchFamily="34" charset="0"/>
              </a:rPr>
              <a:t>() {    // method to change status safely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    status = "Available";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String </a:t>
            </a:r>
            <a:r>
              <a:rPr lang="en-US" altLang="en-US" sz="1400" dirty="0" err="1">
                <a:latin typeface="Arial" panose="020B0604020202020204" pitchFamily="34" charset="0"/>
              </a:rPr>
              <a:t>getStatus</a:t>
            </a:r>
            <a:r>
              <a:rPr lang="en-US" altLang="en-US" sz="1400" dirty="0">
                <a:latin typeface="Arial" panose="020B0604020202020204" pitchFamily="34" charset="0"/>
              </a:rPr>
              <a:t>() {   // method to read status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    return status;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    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13121" y="2029097"/>
            <a:ext cx="3439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b1.checkOut();   // change status safely</a:t>
            </a:r>
          </a:p>
          <a:p>
            <a:r>
              <a:rPr lang="en-US" dirty="0" err="1"/>
              <a:t>db.commit</a:t>
            </a:r>
            <a:r>
              <a:rPr lang="en-US" dirty="0"/>
              <a:t>();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56960" y="3648891"/>
            <a:ext cx="2908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 ID: OID_1</a:t>
            </a:r>
          </a:p>
          <a:p>
            <a:r>
              <a:rPr lang="en-US" dirty="0"/>
              <a:t>Class: Book</a:t>
            </a:r>
          </a:p>
          <a:p>
            <a:r>
              <a:rPr lang="en-US" dirty="0"/>
              <a:t>Data:</a:t>
            </a:r>
          </a:p>
          <a:p>
            <a:r>
              <a:rPr lang="en-US" dirty="0"/>
              <a:t>   title = "DBMS"</a:t>
            </a:r>
          </a:p>
          <a:p>
            <a:r>
              <a:rPr lang="en-US" dirty="0"/>
              <a:t>   status = "Checked Out"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721531" y="542766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NOTE- Status changed </a:t>
            </a:r>
            <a:r>
              <a:rPr lang="en-US" altLang="en-US" b="1" dirty="0">
                <a:latin typeface="Arial" panose="020B0604020202020204" pitchFamily="34" charset="0"/>
              </a:rPr>
              <a:t>only via method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 Cannot directly do </a:t>
            </a:r>
            <a:r>
              <a:rPr lang="en-US" altLang="en-US" b="1" dirty="0">
                <a:latin typeface="Arial Unicode MS"/>
              </a:rPr>
              <a:t>b1.status = "Lost"</a:t>
            </a:r>
            <a:r>
              <a:rPr lang="en-US" altLang="en-US" b="1" dirty="0"/>
              <a:t> </a:t>
            </a:r>
            <a:endParaRPr lang="en-US" alt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658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Inheritance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37902" y="1278990"/>
            <a:ext cx="760977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child class reuse attributes and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a parent class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Avoids rewriting same data &amp; code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organize related objects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hierarchically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37902" y="3175616"/>
            <a:ext cx="11608526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 in a library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Parent: Book → attributes: title, status ; methods: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checkOut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returnBook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Child: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ReferenceBook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automatically has title, status,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returnBook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don’t have to write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returnBook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again for reference books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can still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change behavior if needed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(override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checkOut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534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Polymorphism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4988" y="1338292"/>
            <a:ext cx="7301999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method 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differently for different objects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programs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flexible and realistic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with database objects seamlessly</a:t>
            </a:r>
          </a:p>
        </p:txBody>
      </p:sp>
    </p:spTree>
    <p:extLst>
      <p:ext uri="{BB962C8B-B14F-4D97-AF65-F5344CB8AC3E}">
        <p14:creationId xmlns:p14="http://schemas.microsoft.com/office/powerpoint/2010/main" val="4287830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434" y="0"/>
            <a:ext cx="4787537" cy="6966857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// Parent class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class Book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String title;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String status;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void </a:t>
            </a:r>
            <a:r>
              <a:rPr lang="en-US" sz="3300" dirty="0" err="1"/>
              <a:t>checkOut</a:t>
            </a:r>
            <a:r>
              <a:rPr lang="en-US" sz="3300" dirty="0"/>
              <a:t>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    status = "Checked Out";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void </a:t>
            </a:r>
            <a:r>
              <a:rPr lang="en-US" sz="3300" dirty="0" err="1"/>
              <a:t>returnBook</a:t>
            </a:r>
            <a:r>
              <a:rPr lang="en-US" sz="3300" dirty="0"/>
              <a:t>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    status = "Available";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// Child class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class </a:t>
            </a:r>
            <a:r>
              <a:rPr lang="en-US" sz="3300" dirty="0" err="1"/>
              <a:t>ReferenceBook</a:t>
            </a:r>
            <a:r>
              <a:rPr lang="en-US" sz="3300" dirty="0"/>
              <a:t> extends Book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// Override method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void </a:t>
            </a:r>
            <a:r>
              <a:rPr lang="en-US" sz="3300" dirty="0" err="1"/>
              <a:t>checkOut</a:t>
            </a:r>
            <a:r>
              <a:rPr lang="en-US" sz="3300" dirty="0"/>
              <a:t>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    </a:t>
            </a:r>
            <a:r>
              <a:rPr lang="en-US" sz="3300" dirty="0" err="1"/>
              <a:t>System.out.println</a:t>
            </a:r>
            <a:r>
              <a:rPr lang="en-US" sz="3300" dirty="0"/>
              <a:t>("Cannot issue reference book");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}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120640" y="722811"/>
            <a:ext cx="26386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 Normal book object</a:t>
            </a:r>
          </a:p>
          <a:p>
            <a:r>
              <a:rPr lang="en-US" dirty="0"/>
              <a:t>Book b1 = new Book();</a:t>
            </a:r>
          </a:p>
          <a:p>
            <a:r>
              <a:rPr lang="en-US" dirty="0"/>
              <a:t>b1.title = "DBMS";</a:t>
            </a:r>
          </a:p>
          <a:p>
            <a:r>
              <a:rPr lang="en-US" dirty="0"/>
              <a:t>b1.status = "Available";</a:t>
            </a:r>
          </a:p>
          <a:p>
            <a:r>
              <a:rPr lang="en-US" dirty="0" err="1"/>
              <a:t>db.store</a:t>
            </a:r>
            <a:r>
              <a:rPr lang="en-US" dirty="0"/>
              <a:t>(b1);</a:t>
            </a:r>
          </a:p>
          <a:p>
            <a:endParaRPr lang="en-US" dirty="0"/>
          </a:p>
          <a:p>
            <a:r>
              <a:rPr lang="en-US" dirty="0"/>
              <a:t>// Reference book object</a:t>
            </a:r>
          </a:p>
          <a:p>
            <a:r>
              <a:rPr lang="en-US" dirty="0" err="1"/>
              <a:t>ReferenceBook</a:t>
            </a:r>
            <a:r>
              <a:rPr lang="en-US" dirty="0"/>
              <a:t> b2 = new </a:t>
            </a:r>
            <a:r>
              <a:rPr lang="en-US" dirty="0" err="1"/>
              <a:t>ReferenceBook</a:t>
            </a:r>
            <a:r>
              <a:rPr lang="en-US" dirty="0"/>
              <a:t>();</a:t>
            </a:r>
          </a:p>
          <a:p>
            <a:r>
              <a:rPr lang="en-US" dirty="0"/>
              <a:t>b2.title = "Encyclopedia";</a:t>
            </a:r>
          </a:p>
          <a:p>
            <a:r>
              <a:rPr lang="en-US" dirty="0"/>
              <a:t>b2.status = "Available";</a:t>
            </a:r>
          </a:p>
          <a:p>
            <a:r>
              <a:rPr lang="en-US" dirty="0" err="1"/>
              <a:t>db.store</a:t>
            </a:r>
            <a:r>
              <a:rPr lang="en-US" dirty="0"/>
              <a:t>(b2);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177349" y="844731"/>
            <a:ext cx="30567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 ID: OID_1</a:t>
            </a:r>
          </a:p>
          <a:p>
            <a:r>
              <a:rPr lang="en-US" dirty="0"/>
              <a:t>Class: Book</a:t>
            </a:r>
          </a:p>
          <a:p>
            <a:r>
              <a:rPr lang="en-US" dirty="0"/>
              <a:t>Data:</a:t>
            </a:r>
          </a:p>
          <a:p>
            <a:r>
              <a:rPr lang="en-US" dirty="0"/>
              <a:t>   title  = "DBMS"</a:t>
            </a:r>
          </a:p>
          <a:p>
            <a:r>
              <a:rPr lang="en-US" dirty="0"/>
              <a:t>   status = "Available"</a:t>
            </a:r>
          </a:p>
          <a:p>
            <a:endParaRPr lang="en-US" dirty="0"/>
          </a:p>
          <a:p>
            <a:r>
              <a:rPr lang="en-US" dirty="0"/>
              <a:t>Object ID: OID_2</a:t>
            </a:r>
          </a:p>
          <a:p>
            <a:r>
              <a:rPr lang="en-US" dirty="0"/>
              <a:t>Class: </a:t>
            </a:r>
            <a:r>
              <a:rPr lang="en-US" dirty="0" err="1"/>
              <a:t>ReferenceBook</a:t>
            </a:r>
            <a:endParaRPr lang="en-US" dirty="0"/>
          </a:p>
          <a:p>
            <a:r>
              <a:rPr lang="en-US" dirty="0"/>
              <a:t>Data:</a:t>
            </a:r>
          </a:p>
          <a:p>
            <a:r>
              <a:rPr lang="en-US" dirty="0"/>
              <a:t>   title  = "Encyclopedia"</a:t>
            </a:r>
          </a:p>
          <a:p>
            <a:r>
              <a:rPr lang="en-US" dirty="0"/>
              <a:t>   status = "Available"</a:t>
            </a:r>
          </a:p>
          <a:p>
            <a:r>
              <a:rPr lang="en-US" dirty="0"/>
              <a:t>   Class reference → inherits from Book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436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434" y="0"/>
            <a:ext cx="4787537" cy="6966857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// Parent class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class Book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String title;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String status;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void </a:t>
            </a:r>
            <a:r>
              <a:rPr lang="en-US" sz="3300" dirty="0" err="1"/>
              <a:t>checkOut</a:t>
            </a:r>
            <a:r>
              <a:rPr lang="en-US" sz="3300" dirty="0"/>
              <a:t>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    status = "Checked Out";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void </a:t>
            </a:r>
            <a:r>
              <a:rPr lang="en-US" sz="3300" dirty="0" err="1"/>
              <a:t>returnBook</a:t>
            </a:r>
            <a:r>
              <a:rPr lang="en-US" sz="3300" dirty="0"/>
              <a:t>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    status = "Available";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// Child class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class </a:t>
            </a:r>
            <a:r>
              <a:rPr lang="en-US" sz="3300" dirty="0" err="1"/>
              <a:t>ReferenceBook</a:t>
            </a:r>
            <a:r>
              <a:rPr lang="en-US" sz="3300" dirty="0"/>
              <a:t> extends Book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// Override method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void </a:t>
            </a:r>
            <a:r>
              <a:rPr lang="en-US" sz="3300" dirty="0" err="1"/>
              <a:t>checkOut</a:t>
            </a:r>
            <a:r>
              <a:rPr lang="en-US" sz="3300" dirty="0"/>
              <a:t>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    </a:t>
            </a:r>
            <a:r>
              <a:rPr lang="en-US" sz="3300" dirty="0" err="1"/>
              <a:t>System.out.println</a:t>
            </a:r>
            <a:r>
              <a:rPr lang="en-US" sz="3300" dirty="0"/>
              <a:t>("Cannot issue reference book");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/>
              <a:t>}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120640" y="722811"/>
            <a:ext cx="26386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 Normal book object</a:t>
            </a:r>
          </a:p>
          <a:p>
            <a:r>
              <a:rPr lang="en-US" dirty="0"/>
              <a:t>Book b1 = new Book();</a:t>
            </a:r>
          </a:p>
          <a:p>
            <a:r>
              <a:rPr lang="en-US" dirty="0"/>
              <a:t>b1.title = "DBMS";</a:t>
            </a:r>
          </a:p>
          <a:p>
            <a:r>
              <a:rPr lang="en-US" dirty="0"/>
              <a:t>b1.status = "Available";</a:t>
            </a:r>
          </a:p>
          <a:p>
            <a:r>
              <a:rPr lang="en-US" dirty="0" err="1"/>
              <a:t>db.store</a:t>
            </a:r>
            <a:r>
              <a:rPr lang="en-US" dirty="0"/>
              <a:t>(b1);</a:t>
            </a:r>
          </a:p>
          <a:p>
            <a:endParaRPr lang="en-US" dirty="0"/>
          </a:p>
          <a:p>
            <a:r>
              <a:rPr lang="en-US" dirty="0"/>
              <a:t>// Reference book object</a:t>
            </a:r>
          </a:p>
          <a:p>
            <a:r>
              <a:rPr lang="en-US" dirty="0" err="1"/>
              <a:t>ReferenceBook</a:t>
            </a:r>
            <a:r>
              <a:rPr lang="en-US" dirty="0"/>
              <a:t> b2 = new </a:t>
            </a:r>
            <a:r>
              <a:rPr lang="en-US" dirty="0" err="1"/>
              <a:t>ReferenceBook</a:t>
            </a:r>
            <a:r>
              <a:rPr lang="en-US" dirty="0"/>
              <a:t>();</a:t>
            </a:r>
          </a:p>
          <a:p>
            <a:r>
              <a:rPr lang="en-US" dirty="0"/>
              <a:t>b2.title = "Encyclopedia";</a:t>
            </a:r>
          </a:p>
          <a:p>
            <a:r>
              <a:rPr lang="en-US" dirty="0"/>
              <a:t>b2.status = "Available";</a:t>
            </a:r>
          </a:p>
          <a:p>
            <a:r>
              <a:rPr lang="en-US" dirty="0" err="1"/>
              <a:t>db.store</a:t>
            </a:r>
            <a:r>
              <a:rPr lang="en-US" dirty="0"/>
              <a:t>(b2);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177349" y="844731"/>
            <a:ext cx="30567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 ID: OID_1</a:t>
            </a:r>
          </a:p>
          <a:p>
            <a:r>
              <a:rPr lang="en-US" dirty="0"/>
              <a:t>Class: Book</a:t>
            </a:r>
          </a:p>
          <a:p>
            <a:r>
              <a:rPr lang="en-US" dirty="0"/>
              <a:t>Data:</a:t>
            </a:r>
          </a:p>
          <a:p>
            <a:r>
              <a:rPr lang="en-US" dirty="0"/>
              <a:t>   title  = "DBMS"</a:t>
            </a:r>
          </a:p>
          <a:p>
            <a:r>
              <a:rPr lang="en-US" dirty="0"/>
              <a:t>   status = "Available"</a:t>
            </a:r>
          </a:p>
          <a:p>
            <a:endParaRPr lang="en-US" dirty="0"/>
          </a:p>
          <a:p>
            <a:r>
              <a:rPr lang="en-US" dirty="0"/>
              <a:t>Object ID: OID_2</a:t>
            </a:r>
          </a:p>
          <a:p>
            <a:r>
              <a:rPr lang="en-US" dirty="0"/>
              <a:t>Class: </a:t>
            </a:r>
            <a:r>
              <a:rPr lang="en-US" dirty="0" err="1"/>
              <a:t>ReferenceBook</a:t>
            </a:r>
            <a:endParaRPr lang="en-US" dirty="0"/>
          </a:p>
          <a:p>
            <a:r>
              <a:rPr lang="en-US" dirty="0"/>
              <a:t>Data:</a:t>
            </a:r>
          </a:p>
          <a:p>
            <a:r>
              <a:rPr lang="en-US" dirty="0"/>
              <a:t>   title  = "Encyclopedia"</a:t>
            </a:r>
          </a:p>
          <a:p>
            <a:r>
              <a:rPr lang="en-US" dirty="0"/>
              <a:t>   status = "Available"</a:t>
            </a:r>
          </a:p>
          <a:p>
            <a:r>
              <a:rPr lang="en-US" dirty="0"/>
              <a:t>   Class reference → inherits from Book</a:t>
            </a: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538650" y="5050181"/>
            <a:ext cx="5695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b1.checkOut();  // changes status to "Checked Out"</a:t>
            </a:r>
          </a:p>
          <a:p>
            <a:r>
              <a:rPr lang="en-US" dirty="0"/>
              <a:t>b2.checkOut();  // prints "Cannot issue reference book"</a:t>
            </a:r>
          </a:p>
        </p:txBody>
      </p:sp>
    </p:spTree>
    <p:extLst>
      <p:ext uri="{BB962C8B-B14F-4D97-AF65-F5344CB8AC3E}">
        <p14:creationId xmlns:p14="http://schemas.microsoft.com/office/powerpoint/2010/main" val="1949299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3E5F-A09E-4448-BFDC-6964E878F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Persistence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1DD7F-38A8-4068-83C2-C0AD3955F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Objects </a:t>
            </a:r>
            <a:r>
              <a:rPr lang="en-US" b="1" dirty="0"/>
              <a:t>continue to exist in the database even after the program stops running</a:t>
            </a:r>
            <a:r>
              <a:rPr lang="en-US" dirty="0"/>
              <a:t>.</a:t>
            </a:r>
          </a:p>
          <a:p>
            <a:r>
              <a:rPr lang="en-US" dirty="0"/>
              <a:t>Book b1 = new Book("DBMS", "</a:t>
            </a:r>
            <a:r>
              <a:rPr lang="en-US" dirty="0" err="1"/>
              <a:t>Korth</a:t>
            </a:r>
            <a:r>
              <a:rPr lang="en-US" dirty="0"/>
              <a:t>");</a:t>
            </a:r>
          </a:p>
          <a:p>
            <a:r>
              <a:rPr lang="en-US" dirty="0"/>
              <a:t>When the program runs, the Book object is created.</a:t>
            </a:r>
          </a:p>
          <a:p>
            <a:r>
              <a:rPr lang="en-US" dirty="0"/>
              <a:t>If this object is stored in an object database, it is saved permanently.</a:t>
            </a:r>
          </a:p>
          <a:p>
            <a:r>
              <a:rPr lang="en-US" dirty="0"/>
              <a:t>Even after the program ends or the system is restarted, the Book object still exists in the database.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9354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3E416-C585-4723-BC67-86D759AF9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Complex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8A1C-2131-41A7-8F31-B8A73B44D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6"/>
            <a:ext cx="10515600" cy="5286374"/>
          </a:xfrm>
        </p:spPr>
        <p:txBody>
          <a:bodyPr>
            <a:normAutofit/>
          </a:bodyPr>
          <a:lstStyle/>
          <a:p>
            <a:r>
              <a:rPr lang="en-US" dirty="0"/>
              <a:t>Objects can </a:t>
            </a:r>
            <a:r>
              <a:rPr lang="en-US" b="1" dirty="0"/>
              <a:t>refer to other objects</a:t>
            </a:r>
            <a:r>
              <a:rPr lang="en-US" dirty="0"/>
              <a:t>, forming </a:t>
            </a:r>
            <a:r>
              <a:rPr lang="en-US" b="1" dirty="0"/>
              <a:t>relationships like one-to-one, one-to-many, many-to-many</a:t>
            </a:r>
            <a:r>
              <a:rPr lang="en-US" dirty="0"/>
              <a:t>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class Author {</a:t>
            </a:r>
          </a:p>
          <a:p>
            <a:pPr marL="0" indent="0">
              <a:buNone/>
            </a:pPr>
            <a:r>
              <a:rPr lang="en-US" b="1" dirty="0"/>
              <a:t>    String name;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class Book {</a:t>
            </a:r>
          </a:p>
          <a:p>
            <a:pPr marL="0" indent="0">
              <a:buNone/>
            </a:pPr>
            <a:r>
              <a:rPr lang="en-US" b="1" dirty="0"/>
              <a:t>    String title;</a:t>
            </a:r>
          </a:p>
          <a:p>
            <a:pPr marL="0" indent="0">
              <a:buNone/>
            </a:pPr>
            <a:r>
              <a:rPr lang="en-US" b="1" dirty="0"/>
              <a:t>    Author </a:t>
            </a:r>
            <a:r>
              <a:rPr lang="en-US" b="1" dirty="0" err="1"/>
              <a:t>author</a:t>
            </a:r>
            <a:r>
              <a:rPr lang="en-US" b="1" dirty="0"/>
              <a:t>;   // Book refers to Author object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9707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D511-8A8D-4A19-8228-D9E07696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ACID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E3645-2B96-4015-AF0D-483736261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5970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Ensures </a:t>
            </a:r>
            <a:r>
              <a:rPr lang="en-US" b="1" dirty="0"/>
              <a:t>data reliability and correctness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A – Atomicity</a:t>
            </a:r>
          </a:p>
          <a:p>
            <a:pPr marL="0" indent="0">
              <a:buNone/>
            </a:pPr>
            <a:r>
              <a:rPr lang="en-US" b="1" dirty="0"/>
              <a:t>All or nothing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an operation fails, </a:t>
            </a:r>
            <a:r>
              <a:rPr lang="en-US" b="1" dirty="0"/>
              <a:t>no partial data is saved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Issuing a book: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 book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 student record</a:t>
            </a:r>
            <a:br>
              <a:rPr lang="en-US" dirty="0"/>
            </a:br>
            <a:r>
              <a:rPr lang="en-US" dirty="0"/>
              <a:t>If one fails → </a:t>
            </a:r>
            <a:r>
              <a:rPr lang="en-US" b="1" dirty="0"/>
              <a:t>both are rolled back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9635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D511-8A8D-4A19-8228-D9E07696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ACID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E3645-2B96-4015-AF0D-483736261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5970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Ensures </a:t>
            </a:r>
            <a:r>
              <a:rPr lang="en-US" b="1" dirty="0"/>
              <a:t>data reliability and correctness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C – Consistency</a:t>
            </a:r>
          </a:p>
          <a:p>
            <a:pPr marL="0" indent="0">
              <a:buNone/>
            </a:pPr>
            <a:r>
              <a:rPr lang="en-US" b="1" dirty="0"/>
              <a:t>Database rules must be followed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moves from one valid state to another.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reference book </a:t>
            </a:r>
            <a:r>
              <a:rPr lang="en-US" b="1" dirty="0"/>
              <a:t>cannot be issued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the system tries to issue it → transaction is rejected.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914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D511-8A8D-4A19-8228-D9E07696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ACID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E3645-2B96-4015-AF0D-483736261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5970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Ensures </a:t>
            </a:r>
            <a:r>
              <a:rPr lang="en-US" b="1" dirty="0"/>
              <a:t>data reliability and correctness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I – Isolation</a:t>
            </a:r>
          </a:p>
          <a:p>
            <a:r>
              <a:rPr lang="en-US" b="1" dirty="0"/>
              <a:t>Multiple users do not interfere with each other</a:t>
            </a:r>
            <a:endParaRPr lang="en-US" dirty="0"/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Two students try to issue the </a:t>
            </a:r>
            <a:r>
              <a:rPr lang="en-US" b="1" dirty="0"/>
              <a:t>same book at the same time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one transaction succeeds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 waits or fails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9917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D511-8A8D-4A19-8228-D9E07696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ACID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E3645-2B96-4015-AF0D-483736261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5970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Ensures </a:t>
            </a:r>
            <a:r>
              <a:rPr lang="en-US" b="1" dirty="0"/>
              <a:t>data reliability and correctness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D – Durability</a:t>
            </a:r>
          </a:p>
          <a:p>
            <a:pPr marL="0" indent="0">
              <a:buNone/>
            </a:pPr>
            <a:r>
              <a:rPr lang="en-US" b="1" dirty="0"/>
              <a:t>Once saved, data stays saved</a:t>
            </a:r>
            <a:endParaRPr lang="en-US" dirty="0"/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After issuing a book: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 if power fails or system crashes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issued status </a:t>
            </a:r>
            <a:r>
              <a:rPr lang="en-US" b="1" dirty="0"/>
              <a:t>remains stored</a:t>
            </a:r>
            <a:r>
              <a:rPr lang="en-US" dirty="0"/>
              <a:t> in the 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3245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2452-49A1-4246-A3E9-2C188455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Object-Oriented Databases (OODBMS)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BB587-18D0-4A85-8B6A-3A9015E08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1. Computer-Aided Design (CAD)</a:t>
            </a:r>
          </a:p>
          <a:p>
            <a:pPr marL="0" indent="0">
              <a:buNone/>
            </a:pPr>
            <a:r>
              <a:rPr lang="en-US" b="1" dirty="0"/>
              <a:t>Use: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</a:t>
            </a:r>
            <a:r>
              <a:rPr lang="en-US" b="1" dirty="0"/>
              <a:t>complex designs</a:t>
            </a:r>
            <a:r>
              <a:rPr lang="en-US" dirty="0"/>
              <a:t> made up of many interconnected components.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component is an object with properties and relationships.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car design where </a:t>
            </a:r>
            <a:r>
              <a:rPr lang="en-US" b="1" dirty="0"/>
              <a:t>engine, wheels, brakes, and body</a:t>
            </a:r>
            <a:r>
              <a:rPr lang="en-US" dirty="0"/>
              <a:t> are all objects linked together.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one component changes, related components are updated automatically.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777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2452-49A1-4246-A3E9-2C188455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Object-Oriented Databases (OODBMS)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BB587-18D0-4A85-8B6A-3A9015E08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2. Multimedia Systems</a:t>
            </a:r>
          </a:p>
          <a:p>
            <a:r>
              <a:rPr lang="en-US" b="1" dirty="0"/>
              <a:t>Use: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</a:t>
            </a:r>
            <a:r>
              <a:rPr lang="en-US" b="1" dirty="0"/>
              <a:t>images, videos, audio</a:t>
            </a:r>
            <a:r>
              <a:rPr lang="en-US" dirty="0"/>
              <a:t>, and their </a:t>
            </a:r>
            <a:r>
              <a:rPr lang="en-US" b="1" dirty="0"/>
              <a:t>metadata</a:t>
            </a:r>
            <a:r>
              <a:rPr lang="en-US" dirty="0"/>
              <a:t> as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large and complex data efficiently.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video object contains: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Video file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Audio track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Subtitle object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comments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202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2452-49A1-4246-A3E9-2C188455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Object-Oriented Databases (OODBMS)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BB587-18D0-4A85-8B6A-3A9015E08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Artificial Intelligence (AI) &amp; Machine Learning (ML)</a:t>
            </a:r>
          </a:p>
          <a:p>
            <a:pPr marL="0" indent="0">
              <a:buNone/>
            </a:pPr>
            <a:r>
              <a:rPr lang="en-US" b="1" dirty="0"/>
              <a:t>Use: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</a:t>
            </a:r>
            <a:r>
              <a:rPr lang="en-US" b="1" dirty="0"/>
              <a:t>AI models, neural networks, and knowledge bases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Objects have complex relationships (layers, nodes, weights).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trained neural network stored as objects: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Model object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Layer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Weight objects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9724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2452-49A1-4246-A3E9-2C188455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Object-Oriented Databases (OODBMS)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BB587-18D0-4A85-8B6A-3A9015E08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4. Geographic Information Systems (GIS)</a:t>
            </a:r>
          </a:p>
          <a:p>
            <a:pPr marL="0" indent="0">
              <a:buNone/>
            </a:pPr>
            <a:r>
              <a:rPr lang="en-US" b="1" dirty="0"/>
              <a:t>Use: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</a:t>
            </a:r>
            <a:r>
              <a:rPr lang="en-US" b="1" dirty="0"/>
              <a:t>spatial and geographical data</a:t>
            </a:r>
            <a:r>
              <a:rPr lang="en-US" dirty="0"/>
              <a:t> as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 maps, locations, routes, and satellite images.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map object contains: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Buildings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Rivers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Coordinates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874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2452-49A1-4246-A3E9-2C188455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Object-Oriented Databases (OODBMS)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BB587-18D0-4A85-8B6A-3A9015E08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5. Real-Time Systems</a:t>
            </a:r>
          </a:p>
          <a:p>
            <a:r>
              <a:rPr lang="en-US" b="1" dirty="0"/>
              <a:t>Use: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where </a:t>
            </a:r>
            <a:r>
              <a:rPr lang="en-US" b="1" dirty="0"/>
              <a:t>data changes continuously</a:t>
            </a:r>
            <a:r>
              <a:rPr lang="en-US" dirty="0"/>
              <a:t> and must be accessed quickly.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structured yet dynamic data.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Traffic management system: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Vehicle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Signal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Sensor objects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159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2452-49A1-4246-A3E9-2C188455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Object-Oriented Databases (OODBMS)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BB587-18D0-4A85-8B6A-3A9015E08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6. Medical and Bioinformatics Applications</a:t>
            </a:r>
          </a:p>
          <a:p>
            <a:r>
              <a:rPr lang="en-US" b="1" dirty="0"/>
              <a:t>Use: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</a:t>
            </a:r>
            <a:r>
              <a:rPr lang="en-US" b="1" dirty="0"/>
              <a:t>complex medical and biological data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images, reports, and genetic data together.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Patient object 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Personal details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Medical history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MRI scan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Lab report objects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4770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2452-49A1-4246-A3E9-2C188455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Object-Oriented Databases (OODBMS)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BB587-18D0-4A85-8B6A-3A9015E08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7. Financial Systems</a:t>
            </a:r>
          </a:p>
          <a:p>
            <a:pPr marL="0" indent="0">
              <a:buNone/>
            </a:pPr>
            <a:r>
              <a:rPr lang="en-US" b="1" dirty="0"/>
              <a:t>Use: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Models </a:t>
            </a:r>
            <a:r>
              <a:rPr lang="en-US" b="1" dirty="0"/>
              <a:t>complex financial data and transactions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risk analysis and fraud detection.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Bank account object linked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Transaction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Loan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Investment objects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288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2452-49A1-4246-A3E9-2C188455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Object-Oriented Databases (OODBMS)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BB587-18D0-4A85-8B6A-3A9015E08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8. Gaming and Virtual Reality</a:t>
            </a:r>
          </a:p>
          <a:p>
            <a:r>
              <a:rPr lang="en-US" b="1" dirty="0"/>
              <a:t>Use: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</a:t>
            </a:r>
            <a:r>
              <a:rPr lang="en-US" b="1" dirty="0"/>
              <a:t>game characters, environments, physics objects</a:t>
            </a:r>
            <a:r>
              <a:rPr lang="en-US" dirty="0"/>
              <a:t>, and interactions.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fast access and real-time updates.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Game object contains: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Player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Weapons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Environment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Physics rules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5268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2299</Words>
  <Application>Microsoft Office PowerPoint</Application>
  <PresentationFormat>Widescreen</PresentationFormat>
  <Paragraphs>417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Arial Unicode MS</vt:lpstr>
      <vt:lpstr>Calibri</vt:lpstr>
      <vt:lpstr>Calibri Light</vt:lpstr>
      <vt:lpstr>Office Theme</vt:lpstr>
      <vt:lpstr>Object-Oriented Database (OODB)</vt:lpstr>
      <vt:lpstr>INTRODUCTION</vt:lpstr>
      <vt:lpstr>Objects and Classes in an Object-Oriented Database (OODB)</vt:lpstr>
      <vt:lpstr>Objects and Classes in an Object-Oriented Database (OODB)</vt:lpstr>
      <vt:lpstr>Objects and Classes in an Object-Oriented Database (OODB)</vt:lpstr>
      <vt:lpstr>Objects and Classes in an Object-Oriented Database (OODB)</vt:lpstr>
      <vt:lpstr>Methods in OODB</vt:lpstr>
      <vt:lpstr>Methods in OODB</vt:lpstr>
      <vt:lpstr>Encapsulation</vt:lpstr>
      <vt:lpstr>Encapsulation</vt:lpstr>
      <vt:lpstr>Encapsulation</vt:lpstr>
      <vt:lpstr>Inheritance</vt:lpstr>
      <vt:lpstr>Polymorphism </vt:lpstr>
      <vt:lpstr>PowerPoint Presentation</vt:lpstr>
      <vt:lpstr>PowerPoint Presentation</vt:lpstr>
      <vt:lpstr>Persistence</vt:lpstr>
      <vt:lpstr>Complex Relationships</vt:lpstr>
      <vt:lpstr>ACID Compliance</vt:lpstr>
      <vt:lpstr>ACID Compliance</vt:lpstr>
      <vt:lpstr>ACID Compliance</vt:lpstr>
      <vt:lpstr>ACID Compliance</vt:lpstr>
      <vt:lpstr>Applications of Object-Oriented Databases (OODBMS)</vt:lpstr>
      <vt:lpstr>Applications of Object-Oriented Databases (OODBMS)</vt:lpstr>
      <vt:lpstr>Applications of Object-Oriented Databases (OODBMS)</vt:lpstr>
      <vt:lpstr>Applications of Object-Oriented Databases (OODBMS)</vt:lpstr>
      <vt:lpstr>Applications of Object-Oriented Databases (OODBMS)</vt:lpstr>
      <vt:lpstr>Applications of Object-Oriented Databases (OODBMS)</vt:lpstr>
      <vt:lpstr>Applications of Object-Oriented Databases (OODBMS)</vt:lpstr>
      <vt:lpstr>Applications of Object-Oriented Databases (OODBMS)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Database (OODB)</dc:title>
  <dc:creator>Sandhya</dc:creator>
  <cp:lastModifiedBy>Admin</cp:lastModifiedBy>
  <cp:revision>31</cp:revision>
  <dcterms:created xsi:type="dcterms:W3CDTF">2026-02-03T16:06:10Z</dcterms:created>
  <dcterms:modified xsi:type="dcterms:W3CDTF">2026-02-06T04:04:04Z</dcterms:modified>
</cp:coreProperties>
</file>