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6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1" r:id="rId35"/>
    <p:sldId id="292" r:id="rId36"/>
    <p:sldId id="293" r:id="rId37"/>
    <p:sldId id="289" r:id="rId38"/>
    <p:sldId id="290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E3F1F-BB03-4FB6-BA34-1079164C8153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37760-B6B8-4B2D-8FA6-BA0067694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31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E3F1F-BB03-4FB6-BA34-1079164C8153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37760-B6B8-4B2D-8FA6-BA0067694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81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E3F1F-BB03-4FB6-BA34-1079164C8153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37760-B6B8-4B2D-8FA6-BA0067694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482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E3F1F-BB03-4FB6-BA34-1079164C8153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37760-B6B8-4B2D-8FA6-BA0067694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39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E3F1F-BB03-4FB6-BA34-1079164C8153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37760-B6B8-4B2D-8FA6-BA0067694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87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E3F1F-BB03-4FB6-BA34-1079164C8153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37760-B6B8-4B2D-8FA6-BA0067694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7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E3F1F-BB03-4FB6-BA34-1079164C8153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37760-B6B8-4B2D-8FA6-BA0067694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343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E3F1F-BB03-4FB6-BA34-1079164C8153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37760-B6B8-4B2D-8FA6-BA0067694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1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E3F1F-BB03-4FB6-BA34-1079164C8153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37760-B6B8-4B2D-8FA6-BA0067694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69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E3F1F-BB03-4FB6-BA34-1079164C8153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37760-B6B8-4B2D-8FA6-BA0067694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712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E3F1F-BB03-4FB6-BA34-1079164C8153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37760-B6B8-4B2D-8FA6-BA0067694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784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E3F1F-BB03-4FB6-BA34-1079164C8153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37760-B6B8-4B2D-8FA6-BA0067694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5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5-2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81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Namespaces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/>
              <a:t>Redis</a:t>
            </a:r>
            <a:r>
              <a:rPr lang="en-US" dirty="0"/>
              <a:t> has </a:t>
            </a:r>
            <a:r>
              <a:rPr lang="en-US" b="1" dirty="0"/>
              <a:t>multiple databases (namespaces)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Each database is like a </a:t>
            </a:r>
            <a:r>
              <a:rPr lang="en-US" b="1" dirty="0"/>
              <a:t>separate storage box</a:t>
            </a:r>
          </a:p>
          <a:p>
            <a:pPr>
              <a:lnSpc>
                <a:spcPct val="150000"/>
              </a:lnSpc>
            </a:pPr>
            <a:r>
              <a:rPr lang="en-US" dirty="0"/>
              <a:t>DB 0 → Box 1</a:t>
            </a:r>
          </a:p>
          <a:p>
            <a:pPr>
              <a:lnSpc>
                <a:spcPct val="150000"/>
              </a:lnSpc>
            </a:pPr>
            <a:r>
              <a:rPr lang="en-US" dirty="0"/>
              <a:t>DB 1 → Box 2</a:t>
            </a:r>
          </a:p>
          <a:p>
            <a:pPr>
              <a:lnSpc>
                <a:spcPct val="150000"/>
              </a:lnSpc>
            </a:pPr>
            <a:r>
              <a:rPr lang="en-US" dirty="0"/>
              <a:t>DB 2 → Box 3</a:t>
            </a:r>
          </a:p>
        </p:txBody>
      </p:sp>
    </p:spTree>
    <p:extLst>
      <p:ext uri="{BB962C8B-B14F-4D97-AF65-F5344CB8AC3E}">
        <p14:creationId xmlns:p14="http://schemas.microsoft.com/office/powerpoint/2010/main" val="2231046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Namespaces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Default database (DB 0)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i="1" dirty="0"/>
              <a:t>SET greeting hello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i="1" dirty="0"/>
              <a:t>GET greeting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Output: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hello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i="1" dirty="0"/>
              <a:t>Stored in DB 0</a:t>
            </a:r>
          </a:p>
        </p:txBody>
      </p:sp>
    </p:spTree>
    <p:extLst>
      <p:ext uri="{BB962C8B-B14F-4D97-AF65-F5344CB8AC3E}">
        <p14:creationId xmlns:p14="http://schemas.microsoft.com/office/powerpoint/2010/main" val="2521823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Namespaces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423263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Switch to another database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SELECT 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you are in </a:t>
            </a:r>
            <a:r>
              <a:rPr lang="en-US" b="1" dirty="0"/>
              <a:t>DB 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Try to access same key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i="1" dirty="0"/>
              <a:t>GET greeting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i="1" dirty="0"/>
              <a:t>(nil)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i="1" dirty="0"/>
              <a:t>Because DB 0 data is NOT visible in DB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97486" y="2229394"/>
            <a:ext cx="3631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Store value in DB 1</a:t>
            </a:r>
          </a:p>
          <a:p>
            <a:r>
              <a:rPr lang="en-US" dirty="0"/>
              <a:t>SET greeting "</a:t>
            </a:r>
            <a:r>
              <a:rPr lang="en-US" dirty="0" err="1"/>
              <a:t>guten</a:t>
            </a:r>
            <a:r>
              <a:rPr lang="en-US" dirty="0"/>
              <a:t> tag"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5234" y="3526971"/>
            <a:ext cx="3683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DB 0 → greeting = hello  </a:t>
            </a:r>
          </a:p>
          <a:p>
            <a:r>
              <a:rPr lang="en-US" dirty="0"/>
              <a:t>DB 1 → greeting = </a:t>
            </a:r>
            <a:r>
              <a:rPr lang="en-US" dirty="0" err="1"/>
              <a:t>guten</a:t>
            </a:r>
            <a:r>
              <a:rPr lang="en-US" dirty="0"/>
              <a:t> tag</a:t>
            </a:r>
          </a:p>
        </p:txBody>
      </p:sp>
    </p:spTree>
    <p:extLst>
      <p:ext uri="{BB962C8B-B14F-4D97-AF65-F5344CB8AC3E}">
        <p14:creationId xmlns:p14="http://schemas.microsoft.com/office/powerpoint/2010/main" val="101493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Namespaces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0823" y="1690688"/>
            <a:ext cx="3631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Store value in DB 1</a:t>
            </a:r>
          </a:p>
          <a:p>
            <a:r>
              <a:rPr lang="en-US" sz="2000" dirty="0"/>
              <a:t>SET greeting "</a:t>
            </a:r>
            <a:r>
              <a:rPr lang="en-US" sz="2000" dirty="0" err="1"/>
              <a:t>guten</a:t>
            </a:r>
            <a:r>
              <a:rPr lang="en-US" sz="2000" dirty="0"/>
              <a:t> tag"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0" y="2011628"/>
            <a:ext cx="3683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DB 0 → greeting = hello  </a:t>
            </a:r>
          </a:p>
          <a:p>
            <a:r>
              <a:rPr lang="en-US" sz="2000" dirty="0"/>
              <a:t>DB 1 → greeting = </a:t>
            </a:r>
            <a:r>
              <a:rPr lang="en-US" sz="2000" dirty="0" err="1"/>
              <a:t>guten</a:t>
            </a:r>
            <a:r>
              <a:rPr lang="en-US" sz="2000" dirty="0"/>
              <a:t> tag</a:t>
            </a:r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49234" y="2721173"/>
            <a:ext cx="4304383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Move key to another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MOVE greeting 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Move "greeting" from current DB1 → DB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3737" y="4506277"/>
            <a:ext cx="43804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SELECT 2</a:t>
            </a:r>
          </a:p>
          <a:p>
            <a:r>
              <a:rPr lang="en-US" sz="2000" dirty="0"/>
              <a:t>GET greeting</a:t>
            </a:r>
          </a:p>
          <a:p>
            <a:endParaRPr lang="en-US" sz="2000" dirty="0"/>
          </a:p>
          <a:p>
            <a:r>
              <a:rPr lang="en-US" sz="2000" dirty="0"/>
              <a:t>DB 2 → greeting = </a:t>
            </a:r>
            <a:r>
              <a:rPr lang="en-US" sz="2000" dirty="0" err="1"/>
              <a:t>guten</a:t>
            </a:r>
            <a:r>
              <a:rPr lang="en-US" sz="2000" dirty="0"/>
              <a:t> tag</a:t>
            </a:r>
          </a:p>
          <a:p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5347063" y="5242560"/>
            <a:ext cx="646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MOVE works only if key does NOT exist in target DB</a:t>
            </a:r>
          </a:p>
        </p:txBody>
      </p:sp>
    </p:spTree>
    <p:extLst>
      <p:ext uri="{BB962C8B-B14F-4D97-AF65-F5344CB8AC3E}">
        <p14:creationId xmlns:p14="http://schemas.microsoft.com/office/powerpoint/2010/main" val="2311612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Namespaces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968137"/>
            <a:ext cx="563226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Why this is useful?</a:t>
            </a:r>
          </a:p>
          <a:p>
            <a:endParaRPr lang="en-US" sz="2800" dirty="0"/>
          </a:p>
          <a:p>
            <a:r>
              <a:rPr lang="en-US" sz="2800" dirty="0"/>
              <a:t>Language example</a:t>
            </a:r>
          </a:p>
          <a:p>
            <a:endParaRPr lang="en-US" sz="2800" dirty="0"/>
          </a:p>
          <a:p>
            <a:r>
              <a:rPr lang="en-US" sz="2800" dirty="0"/>
              <a:t>DB 0 → English → hello  </a:t>
            </a:r>
          </a:p>
          <a:p>
            <a:r>
              <a:rPr lang="en-US" sz="2800" dirty="0"/>
              <a:t>DB 1 → German → </a:t>
            </a:r>
            <a:r>
              <a:rPr lang="en-US" sz="2800" dirty="0" err="1"/>
              <a:t>guten</a:t>
            </a:r>
            <a:r>
              <a:rPr lang="en-US" sz="2800" dirty="0"/>
              <a:t> tag  </a:t>
            </a:r>
          </a:p>
          <a:p>
            <a:r>
              <a:rPr lang="en-US" sz="2800" dirty="0"/>
              <a:t>DB 2 → French → bonjour</a:t>
            </a:r>
          </a:p>
        </p:txBody>
      </p:sp>
    </p:spTree>
    <p:extLst>
      <p:ext uri="{BB962C8B-B14F-4D97-AF65-F5344CB8AC3E}">
        <p14:creationId xmlns:p14="http://schemas.microsoft.com/office/powerpoint/2010/main" val="367837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Telnet in </a:t>
            </a:r>
            <a:r>
              <a:rPr lang="en-US" dirty="0" err="1"/>
              <a:t>Redis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Telnet is a </a:t>
            </a:r>
            <a:r>
              <a:rPr lang="en-US" b="1" dirty="0"/>
              <a:t>networking tool</a:t>
            </a:r>
            <a:r>
              <a:rPr lang="en-US" dirty="0"/>
              <a:t> used to connect to a server over TCP/IP using an IP address and port number. </a:t>
            </a:r>
          </a:p>
          <a:p>
            <a:r>
              <a:rPr lang="en-US" dirty="0"/>
              <a:t>In </a:t>
            </a:r>
            <a:r>
              <a:rPr lang="en-US" dirty="0" err="1"/>
              <a:t>Redis</a:t>
            </a:r>
            <a:r>
              <a:rPr lang="en-US" dirty="0"/>
              <a:t>, Telnet can be used to directly communicate with the </a:t>
            </a:r>
            <a:r>
              <a:rPr lang="en-US" dirty="0" err="1"/>
              <a:t>Redis</a:t>
            </a:r>
            <a:r>
              <a:rPr lang="en-US" dirty="0"/>
              <a:t> server (default port 6379) without using the </a:t>
            </a:r>
            <a:r>
              <a:rPr lang="en-US" dirty="0" err="1"/>
              <a:t>redis</a:t>
            </a:r>
            <a:r>
              <a:rPr lang="en-US" dirty="0"/>
              <a:t>-cli interface. </a:t>
            </a:r>
          </a:p>
          <a:p>
            <a:r>
              <a:rPr lang="en-US" dirty="0"/>
              <a:t>Unlike </a:t>
            </a:r>
            <a:r>
              <a:rPr lang="en-US" dirty="0" err="1"/>
              <a:t>redis</a:t>
            </a:r>
            <a:r>
              <a:rPr lang="en-US" dirty="0"/>
              <a:t>-cli, Telnet shows the </a:t>
            </a:r>
            <a:r>
              <a:rPr lang="en-US" b="1" dirty="0"/>
              <a:t>raw communication format</a:t>
            </a:r>
            <a:r>
              <a:rPr lang="en-US" dirty="0"/>
              <a:t> used by </a:t>
            </a:r>
            <a:r>
              <a:rPr lang="en-US" dirty="0" err="1"/>
              <a:t>Redis</a:t>
            </a:r>
            <a:r>
              <a:rPr lang="en-US" dirty="0"/>
              <a:t>, known as RESP (</a:t>
            </a:r>
            <a:r>
              <a:rPr lang="en-US" dirty="0" err="1"/>
              <a:t>Redis</a:t>
            </a:r>
            <a:r>
              <a:rPr lang="en-US" dirty="0"/>
              <a:t> Serialization Protocol).</a:t>
            </a:r>
          </a:p>
          <a:p>
            <a:r>
              <a:rPr lang="en-US" dirty="0"/>
              <a:t> This helps in understanding how </a:t>
            </a:r>
            <a:r>
              <a:rPr lang="en-US" dirty="0" err="1"/>
              <a:t>Redis</a:t>
            </a:r>
            <a:r>
              <a:rPr lang="en-US" dirty="0"/>
              <a:t> internally processes commands and returns responses.</a:t>
            </a:r>
          </a:p>
        </p:txBody>
      </p:sp>
    </p:spTree>
    <p:extLst>
      <p:ext uri="{BB962C8B-B14F-4D97-AF65-F5344CB8AC3E}">
        <p14:creationId xmlns:p14="http://schemas.microsoft.com/office/powerpoint/2010/main" val="3485007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Telnet in </a:t>
            </a:r>
            <a:r>
              <a:rPr lang="en-US" dirty="0" err="1"/>
              <a:t>Redis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309" y="180820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Important Key Terms</a:t>
            </a:r>
          </a:p>
          <a:p>
            <a:pPr marL="0" indent="0">
              <a:buNone/>
            </a:pPr>
            <a:r>
              <a:rPr lang="en-US" b="1" dirty="0"/>
              <a:t>RESP (</a:t>
            </a:r>
            <a:r>
              <a:rPr lang="en-US" b="1" dirty="0" err="1"/>
              <a:t>Redis</a:t>
            </a:r>
            <a:r>
              <a:rPr lang="en-US" b="1" dirty="0"/>
              <a:t> Serialization Protocol)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internal communication format used by </a:t>
            </a:r>
            <a:r>
              <a:rPr lang="en-US" dirty="0" err="1"/>
              <a:t>Redis</a:t>
            </a:r>
            <a:r>
              <a:rPr lang="en-US" dirty="0"/>
              <a:t> between client and server. It represents data types using prefixes like:</a:t>
            </a:r>
          </a:p>
          <a:p>
            <a:pPr marL="0" indent="0">
              <a:buNone/>
            </a:pPr>
            <a:r>
              <a:rPr lang="en-US" b="1" dirty="0"/>
              <a:t>Telnet</a:t>
            </a:r>
          </a:p>
          <a:p>
            <a:pPr marL="0" indent="0">
              <a:buNone/>
            </a:pPr>
            <a:r>
              <a:rPr lang="en-US" dirty="0"/>
              <a:t>A tool to directly connect to </a:t>
            </a:r>
            <a:r>
              <a:rPr lang="en-US" dirty="0" err="1"/>
              <a:t>Redis</a:t>
            </a:r>
            <a:r>
              <a:rPr lang="en-US" dirty="0"/>
              <a:t> and view raw RESP output.</a:t>
            </a:r>
          </a:p>
          <a:p>
            <a:pPr marL="0" indent="0">
              <a:buNone/>
            </a:pPr>
            <a:r>
              <a:rPr lang="en-US" b="1" dirty="0" err="1"/>
              <a:t>redis</a:t>
            </a:r>
            <a:r>
              <a:rPr lang="en-US" b="1" dirty="0"/>
              <a:t>-cli</a:t>
            </a:r>
          </a:p>
          <a:p>
            <a:pPr marL="0" indent="0">
              <a:buNone/>
            </a:pPr>
            <a:r>
              <a:rPr lang="en-US" dirty="0"/>
              <a:t>A user-friendly interface that converts commands into RESP and formats output for easy reading.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9009" y="3188833"/>
            <a:ext cx="2009775" cy="197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133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309" y="0"/>
            <a:ext cx="10515600" cy="1325563"/>
          </a:xfrm>
        </p:spPr>
        <p:txBody>
          <a:bodyPr/>
          <a:lstStyle/>
          <a:p>
            <a:r>
              <a:rPr lang="en-US" dirty="0"/>
              <a:t>Telnet in </a:t>
            </a:r>
            <a:r>
              <a:rPr lang="en-US" dirty="0" err="1"/>
              <a:t>Redis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309" y="1193073"/>
            <a:ext cx="5336177" cy="54602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Example using Telnet</a:t>
            </a:r>
          </a:p>
          <a:p>
            <a:pPr marL="0" indent="0">
              <a:buNone/>
            </a:pPr>
            <a:r>
              <a:rPr lang="en-US" b="1" dirty="0"/>
              <a:t>$ telnet localhost 6379</a:t>
            </a:r>
          </a:p>
          <a:p>
            <a:pPr marL="0" indent="0">
              <a:buNone/>
            </a:pPr>
            <a:r>
              <a:rPr lang="en-US" b="1" dirty="0"/>
              <a:t>Trying 127.0.0.1...</a:t>
            </a:r>
          </a:p>
          <a:p>
            <a:pPr marL="0" indent="0">
              <a:buNone/>
            </a:pPr>
            <a:r>
              <a:rPr lang="en-US" b="1" dirty="0"/>
              <a:t>Connected to localhost.</a:t>
            </a:r>
          </a:p>
          <a:p>
            <a:pPr marL="0" indent="0">
              <a:buNone/>
            </a:pPr>
            <a:r>
              <a:rPr lang="en-US" b="1" dirty="0"/>
              <a:t>Escape character is '^]'.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SET test hello</a:t>
            </a:r>
          </a:p>
          <a:p>
            <a:pPr marL="0" indent="0">
              <a:buNone/>
            </a:pPr>
            <a:r>
              <a:rPr lang="en-US" b="1" dirty="0"/>
              <a:t>+OK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GET test</a:t>
            </a:r>
          </a:p>
          <a:p>
            <a:pPr marL="0" indent="0">
              <a:buNone/>
            </a:pPr>
            <a:r>
              <a:rPr lang="en-US" b="1" dirty="0"/>
              <a:t>$5</a:t>
            </a:r>
          </a:p>
          <a:p>
            <a:pPr marL="0" indent="0">
              <a:buNone/>
            </a:pPr>
            <a:r>
              <a:rPr lang="en-US" b="1" dirty="0"/>
              <a:t>hello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SADD </a:t>
            </a:r>
            <a:r>
              <a:rPr lang="en-US" b="1" dirty="0" err="1"/>
              <a:t>stest</a:t>
            </a:r>
            <a:r>
              <a:rPr lang="en-US" b="1" dirty="0"/>
              <a:t> 1 99</a:t>
            </a:r>
          </a:p>
          <a:p>
            <a:pPr marL="0" indent="0">
              <a:buNone/>
            </a:pPr>
            <a:r>
              <a:rPr lang="en-US" b="1" dirty="0"/>
              <a:t>:2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762103" y="4145280"/>
            <a:ext cx="313508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SMEMBERS </a:t>
            </a:r>
            <a:r>
              <a:rPr lang="en-US" b="1" dirty="0" err="1"/>
              <a:t>stest</a:t>
            </a:r>
            <a:endParaRPr lang="en-US" b="1" dirty="0"/>
          </a:p>
          <a:p>
            <a:r>
              <a:rPr lang="en-US" b="1" dirty="0"/>
              <a:t>*2</a:t>
            </a:r>
          </a:p>
          <a:p>
            <a:r>
              <a:rPr lang="en-US" b="1" dirty="0"/>
              <a:t>$1</a:t>
            </a:r>
          </a:p>
          <a:p>
            <a:r>
              <a:rPr lang="en-US" b="1" dirty="0"/>
              <a:t>1</a:t>
            </a:r>
          </a:p>
          <a:p>
            <a:r>
              <a:rPr lang="en-US" b="1" dirty="0"/>
              <a:t>$2</a:t>
            </a:r>
          </a:p>
          <a:p>
            <a:r>
              <a:rPr lang="en-US" b="1" dirty="0"/>
              <a:t>99</a:t>
            </a:r>
          </a:p>
          <a:p>
            <a:endParaRPr lang="en-US" b="1" dirty="0"/>
          </a:p>
          <a:p>
            <a:r>
              <a:rPr lang="en-US" b="1" dirty="0"/>
              <a:t>CTRL + ]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04" y="2585901"/>
            <a:ext cx="47625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991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309" y="0"/>
            <a:ext cx="10515600" cy="1325563"/>
          </a:xfrm>
        </p:spPr>
        <p:txBody>
          <a:bodyPr/>
          <a:lstStyle/>
          <a:p>
            <a:r>
              <a:rPr lang="en-US" dirty="0"/>
              <a:t>Telnet in </a:t>
            </a:r>
            <a:r>
              <a:rPr lang="en-US" dirty="0" err="1"/>
              <a:t>Redis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309" y="1193073"/>
            <a:ext cx="9376954" cy="5460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CRLF (\r\n)</a:t>
            </a:r>
            <a:r>
              <a:rPr lang="en-US" dirty="0"/>
              <a:t> -Carriage Return + Line Feed</a:t>
            </a:r>
            <a:endParaRPr lang="en-US" b="1" dirty="0"/>
          </a:p>
          <a:p>
            <a:r>
              <a:rPr lang="en-US" dirty="0"/>
              <a:t>CRLF stands for Carriage Return and Line Feed.</a:t>
            </a:r>
          </a:p>
          <a:p>
            <a:r>
              <a:rPr lang="en-US" dirty="0"/>
              <a:t> It is used to mark the end of a command in </a:t>
            </a:r>
            <a:r>
              <a:rPr lang="en-US" dirty="0" err="1"/>
              <a:t>Redis</a:t>
            </a:r>
            <a:r>
              <a:rPr lang="en-US" dirty="0"/>
              <a:t> communication.</a:t>
            </a:r>
          </a:p>
          <a:p>
            <a:r>
              <a:rPr lang="en-US" dirty="0"/>
              <a:t> Every command sent through Telnet must end with \r\n, which is equivalent to pressing the Enter key. </a:t>
            </a:r>
          </a:p>
          <a:p>
            <a:r>
              <a:rPr lang="en-US" dirty="0"/>
              <a:t>It tells </a:t>
            </a:r>
            <a:r>
              <a:rPr lang="en-US" dirty="0" err="1"/>
              <a:t>Redis</a:t>
            </a:r>
            <a:r>
              <a:rPr lang="en-US" dirty="0"/>
              <a:t> that the command is complete and ready to be processed.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958310"/>
              </p:ext>
            </p:extLst>
          </p:nvPr>
        </p:nvGraphicFramePr>
        <p:xfrm>
          <a:off x="472440" y="5055031"/>
          <a:ext cx="10515600" cy="10972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3731034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070937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641315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Thing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88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CTRL + 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Telnet escape 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Exit Telnet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820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\r\n (CRLF)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End of 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Finish 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97107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204960" y="1779387"/>
            <a:ext cx="29870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Example-</a:t>
            </a:r>
          </a:p>
          <a:p>
            <a:r>
              <a:rPr lang="en-US" dirty="0"/>
              <a:t>hello\r\</a:t>
            </a:r>
            <a:r>
              <a:rPr lang="en-US" dirty="0" err="1"/>
              <a:t>nhii</a:t>
            </a:r>
            <a:endParaRPr lang="en-US" dirty="0"/>
          </a:p>
          <a:p>
            <a:endParaRPr lang="en-US" dirty="0"/>
          </a:p>
          <a:p>
            <a:r>
              <a:rPr lang="en-US" dirty="0"/>
              <a:t>hello   → printed</a:t>
            </a:r>
          </a:p>
          <a:p>
            <a:r>
              <a:rPr lang="en-US" dirty="0"/>
              <a:t>\r      → cursor goes to beginning</a:t>
            </a:r>
          </a:p>
          <a:p>
            <a:r>
              <a:rPr lang="en-US" dirty="0"/>
              <a:t>\n      → move to next line</a:t>
            </a:r>
          </a:p>
          <a:p>
            <a:r>
              <a:rPr lang="en-US" dirty="0" err="1"/>
              <a:t>hii</a:t>
            </a:r>
            <a:r>
              <a:rPr lang="en-US" dirty="0"/>
              <a:t>     → printed on next line</a:t>
            </a:r>
          </a:p>
          <a:p>
            <a:r>
              <a:rPr lang="en-US" dirty="0"/>
              <a:t>Output-</a:t>
            </a:r>
          </a:p>
          <a:p>
            <a:r>
              <a:rPr lang="en-US" dirty="0"/>
              <a:t>hello</a:t>
            </a:r>
          </a:p>
          <a:p>
            <a:r>
              <a:rPr lang="en-US" dirty="0" err="1"/>
              <a:t>Hii</a:t>
            </a:r>
            <a:endParaRPr lang="en-US" dirty="0"/>
          </a:p>
          <a:p>
            <a:endParaRPr lang="en-US" dirty="0"/>
          </a:p>
          <a:p>
            <a:r>
              <a:rPr lang="en-US" dirty="0"/>
              <a:t>Telnet example didn't show \r\n </a:t>
            </a:r>
            <a:br>
              <a:rPr lang="en-US" dirty="0"/>
            </a:br>
            <a:r>
              <a:rPr lang="en-US" dirty="0"/>
              <a:t>BUT internally it was always used when we use enter key</a:t>
            </a:r>
          </a:p>
        </p:txBody>
      </p:sp>
    </p:spTree>
    <p:extLst>
      <p:ext uri="{BB962C8B-B14F-4D97-AF65-F5344CB8AC3E}">
        <p14:creationId xmlns:p14="http://schemas.microsoft.com/office/powerpoint/2010/main" val="1210580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Sending </a:t>
            </a:r>
            <a:r>
              <a:rPr lang="en-US" b="1" dirty="0" err="1"/>
              <a:t>Redis</a:t>
            </a:r>
            <a:r>
              <a:rPr lang="en-US" b="1" dirty="0"/>
              <a:t> commands without </a:t>
            </a:r>
            <a:r>
              <a:rPr lang="en-US" b="1" dirty="0" err="1"/>
              <a:t>redis</a:t>
            </a:r>
            <a:r>
              <a:rPr lang="en-US" b="1" dirty="0"/>
              <a:t>-cli</a:t>
            </a:r>
            <a:r>
              <a:rPr lang="en-US" dirty="0"/>
              <a:t>, using a tool called </a:t>
            </a:r>
            <a:r>
              <a:rPr lang="en-US" b="1" dirty="0" err="1"/>
              <a:t>netcat</a:t>
            </a:r>
            <a:r>
              <a:rPr lang="en-US" b="1" dirty="0"/>
              <a:t> (</a:t>
            </a:r>
            <a:r>
              <a:rPr lang="en-US" b="1" dirty="0" err="1"/>
              <a:t>nc</a:t>
            </a:r>
            <a:r>
              <a:rPr lang="en-US" b="1" dirty="0"/>
              <a:t>)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telnet → interactive (type one by one)</a:t>
            </a:r>
          </a:p>
          <a:p>
            <a:pPr marL="0" indent="0">
              <a:buNone/>
            </a:pPr>
            <a:r>
              <a:rPr lang="en-US" dirty="0" err="1"/>
              <a:t>nc</a:t>
            </a:r>
            <a:r>
              <a:rPr lang="en-US" dirty="0"/>
              <a:t>     → send commands programmatically (script style)</a:t>
            </a:r>
          </a:p>
        </p:txBody>
      </p:sp>
    </p:spTree>
    <p:extLst>
      <p:ext uri="{BB962C8B-B14F-4D97-AF65-F5344CB8AC3E}">
        <p14:creationId xmlns:p14="http://schemas.microsoft.com/office/powerpoint/2010/main" val="3780102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0789"/>
            <a:ext cx="10515600" cy="525126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s-ES" dirty="0"/>
              <a:t>(echo -en "ECHO </a:t>
            </a:r>
            <a:r>
              <a:rPr lang="es-ES" dirty="0" err="1"/>
              <a:t>hello</a:t>
            </a:r>
            <a:r>
              <a:rPr lang="es-ES" dirty="0"/>
              <a:t>\r\n"; </a:t>
            </a:r>
            <a:r>
              <a:rPr lang="es-ES" dirty="0" err="1"/>
              <a:t>sleep</a:t>
            </a:r>
            <a:r>
              <a:rPr lang="es-ES" dirty="0"/>
              <a:t> 1) | </a:t>
            </a:r>
            <a:r>
              <a:rPr lang="es-ES" dirty="0" err="1"/>
              <a:t>nc</a:t>
            </a:r>
            <a:r>
              <a:rPr lang="es-ES" dirty="0"/>
              <a:t> </a:t>
            </a:r>
            <a:r>
              <a:rPr lang="es-ES" dirty="0" err="1"/>
              <a:t>localhost</a:t>
            </a:r>
            <a:r>
              <a:rPr lang="es-ES" dirty="0"/>
              <a:t> 6379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n-US" dirty="0"/>
              <a:t>Sends this to </a:t>
            </a:r>
            <a:r>
              <a:rPr lang="en-US" dirty="0" err="1"/>
              <a:t>Redis</a:t>
            </a:r>
            <a:r>
              <a:rPr lang="en-US" dirty="0"/>
              <a:t>: ECHO hello</a:t>
            </a:r>
          </a:p>
          <a:p>
            <a:pPr marL="0" indent="0">
              <a:buNone/>
            </a:pPr>
            <a:r>
              <a:rPr lang="en-US" dirty="0"/>
              <a:t>-e → allows special characters</a:t>
            </a:r>
          </a:p>
          <a:p>
            <a:pPr marL="0" indent="0">
              <a:buNone/>
            </a:pPr>
            <a:r>
              <a:rPr lang="en-US" dirty="0"/>
              <a:t> \r\n → CRLF (compulsory for </a:t>
            </a:r>
            <a:r>
              <a:rPr lang="en-US" dirty="0" err="1"/>
              <a:t>Redis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sleep 1 → Give Redis time to respond - keep the connection open for one second after sending the command.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Output- </a:t>
            </a:r>
          </a:p>
          <a:p>
            <a:pPr marL="0" indent="0">
              <a:buNone/>
            </a:pPr>
            <a:r>
              <a:rPr lang="en-US" dirty="0"/>
              <a:t>$5</a:t>
            </a:r>
          </a:p>
          <a:p>
            <a:pPr marL="0" indent="0">
              <a:buNone/>
            </a:pPr>
            <a:r>
              <a:rPr lang="en-US" dirty="0"/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1772937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Pipelining</a:t>
            </a:r>
          </a:p>
          <a:p>
            <a:pPr marL="0" indent="0">
              <a:buNone/>
            </a:pPr>
            <a:r>
              <a:rPr lang="en-US" dirty="0"/>
              <a:t>Send MANY commands at once → get all responses together</a:t>
            </a:r>
          </a:p>
          <a:p>
            <a:pPr marL="0" indent="0">
              <a:buNone/>
            </a:pPr>
            <a:r>
              <a:rPr lang="en-US" dirty="0"/>
              <a:t>Example (Pipelining)</a:t>
            </a:r>
          </a:p>
          <a:p>
            <a:pPr marL="0" indent="0">
              <a:buNone/>
            </a:pPr>
            <a:r>
              <a:rPr lang="pt-BR" dirty="0"/>
              <a:t>(echo -en "PING\r\nPING\r\nPING\r\n"; sleep 1) | nc localhost 6379</a:t>
            </a:r>
          </a:p>
          <a:p>
            <a:pPr marL="0" indent="0">
              <a:buNone/>
            </a:pPr>
            <a:r>
              <a:rPr lang="en-US" dirty="0"/>
              <a:t>sending:</a:t>
            </a:r>
          </a:p>
          <a:p>
            <a:pPr marL="0" indent="0">
              <a:buNone/>
            </a:pPr>
            <a:r>
              <a:rPr lang="en-US" dirty="0"/>
              <a:t>PING</a:t>
            </a:r>
          </a:p>
          <a:p>
            <a:pPr marL="0" indent="0">
              <a:buNone/>
            </a:pPr>
            <a:r>
              <a:rPr lang="en-US" dirty="0"/>
              <a:t>PING</a:t>
            </a:r>
          </a:p>
          <a:p>
            <a:pPr marL="0" indent="0">
              <a:buNone/>
            </a:pPr>
            <a:r>
              <a:rPr lang="en-US" dirty="0"/>
              <a:t>PING</a:t>
            </a:r>
          </a:p>
          <a:p>
            <a:pPr marL="0" indent="0">
              <a:buNone/>
            </a:pPr>
            <a:r>
              <a:rPr lang="en-US" dirty="0"/>
              <a:t>All at once (single request)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23612" y="4197532"/>
            <a:ext cx="14107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</a:p>
          <a:p>
            <a:endParaRPr lang="en-US" dirty="0"/>
          </a:p>
          <a:p>
            <a:r>
              <a:rPr lang="en-US" dirty="0"/>
              <a:t>+PONG</a:t>
            </a:r>
          </a:p>
          <a:p>
            <a:r>
              <a:rPr lang="en-US" dirty="0"/>
              <a:t>+PONG</a:t>
            </a:r>
          </a:p>
          <a:p>
            <a:r>
              <a:rPr lang="en-US" dirty="0"/>
              <a:t>+PONG</a:t>
            </a:r>
          </a:p>
        </p:txBody>
      </p:sp>
    </p:spTree>
    <p:extLst>
      <p:ext uri="{BB962C8B-B14F-4D97-AF65-F5344CB8AC3E}">
        <p14:creationId xmlns:p14="http://schemas.microsoft.com/office/powerpoint/2010/main" val="2662051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Publish–Subscribe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Publish–Subscribe is a </a:t>
            </a:r>
            <a:r>
              <a:rPr lang="en-US" b="1" dirty="0"/>
              <a:t>messaging communication model</a:t>
            </a:r>
            <a:r>
              <a:rPr lang="en-US" dirty="0"/>
              <a:t> where a sender (publisher) sends messages to a channel, and multiple receivers (subscribers) receive those messages </a:t>
            </a:r>
            <a:r>
              <a:rPr lang="en-US" b="1" dirty="0"/>
              <a:t>simultaneously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It is used for:</a:t>
            </a:r>
          </a:p>
          <a:p>
            <a:r>
              <a:rPr lang="en-US" dirty="0"/>
              <a:t>Real-time notifications </a:t>
            </a:r>
          </a:p>
          <a:p>
            <a:r>
              <a:rPr lang="en-US" dirty="0"/>
              <a:t>Chat systems </a:t>
            </a:r>
          </a:p>
          <a:p>
            <a:r>
              <a:rPr lang="en-US" dirty="0"/>
              <a:t>Live updates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372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Publish–Subscribe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9132" y="1498911"/>
            <a:ext cx="6656206" cy="384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021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Publish–Subscribe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Important Characteristics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Decoupled system</a:t>
            </a:r>
            <a:endParaRPr lang="en-US" dirty="0"/>
          </a:p>
          <a:p>
            <a:r>
              <a:rPr lang="en-US" dirty="0"/>
              <a:t>Publisher does not know subscribers </a:t>
            </a:r>
          </a:p>
          <a:p>
            <a:r>
              <a:rPr lang="en-US" dirty="0"/>
              <a:t>Subscribers do not know publisher </a:t>
            </a:r>
          </a:p>
          <a:p>
            <a:pPr marL="0" indent="0">
              <a:buNone/>
            </a:pPr>
            <a:r>
              <a:rPr lang="en-US" b="1" dirty="0"/>
              <a:t>Real-time communication</a:t>
            </a:r>
            <a:endParaRPr lang="en-US" dirty="0"/>
          </a:p>
          <a:p>
            <a:r>
              <a:rPr lang="en-US" dirty="0"/>
              <a:t>Messages are delivered instantly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No storage</a:t>
            </a:r>
            <a:endParaRPr lang="en-US" dirty="0"/>
          </a:p>
          <a:p>
            <a:r>
              <a:rPr lang="en-US" dirty="0"/>
              <a:t>Messages are NOT saved in </a:t>
            </a:r>
            <a:r>
              <a:rPr lang="en-US" dirty="0" err="1"/>
              <a:t>Redis</a:t>
            </a:r>
            <a:r>
              <a:rPr lang="en-US" dirty="0"/>
              <a:t> </a:t>
            </a:r>
          </a:p>
          <a:p>
            <a:r>
              <a:rPr lang="en-US" dirty="0"/>
              <a:t>If subscriber is offline → message is lost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184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Publish–Subscribe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0359695"/>
              </p:ext>
            </p:extLst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23889903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685634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0368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SUBSCRIBE channel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Subscribe to a channel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742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PUBLISH channel message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Send message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783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UNSUBSCRIBE channel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Leave channel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07504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38200" y="2565065"/>
            <a:ext cx="17972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Basic Commands</a:t>
            </a:r>
          </a:p>
        </p:txBody>
      </p:sp>
    </p:spTree>
    <p:extLst>
      <p:ext uri="{BB962C8B-B14F-4D97-AF65-F5344CB8AC3E}">
        <p14:creationId xmlns:p14="http://schemas.microsoft.com/office/powerpoint/2010/main" val="4190115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Publish–Subscribe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983" y="1690688"/>
            <a:ext cx="3820886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Example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b="1" dirty="0"/>
              <a:t>Start Subscriber (Client 1)</a:t>
            </a:r>
          </a:p>
          <a:p>
            <a:pPr marL="0" indent="0">
              <a:buNone/>
            </a:pPr>
            <a:r>
              <a:rPr lang="en-US" dirty="0"/>
              <a:t>SUBSCRIBE news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Output-</a:t>
            </a:r>
          </a:p>
          <a:p>
            <a:pPr marL="0" indent="0">
              <a:buNone/>
            </a:pPr>
            <a:r>
              <a:rPr lang="en-US" dirty="0"/>
              <a:t>1) "subscribe"</a:t>
            </a:r>
          </a:p>
          <a:p>
            <a:pPr marL="0" indent="0">
              <a:buNone/>
            </a:pPr>
            <a:r>
              <a:rPr lang="en-US" dirty="0"/>
              <a:t>2) "news"</a:t>
            </a:r>
          </a:p>
          <a:p>
            <a:pPr marL="0" indent="0">
              <a:buNone/>
            </a:pPr>
            <a:r>
              <a:rPr lang="en-US" dirty="0"/>
              <a:t>3) (integer)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20344" y="1419387"/>
            <a:ext cx="51293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2. </a:t>
            </a:r>
            <a:r>
              <a:rPr lang="en-US" sz="2400" b="1" dirty="0"/>
              <a:t>Start Another Subscriber (Client 2)</a:t>
            </a:r>
          </a:p>
          <a:p>
            <a:endParaRPr lang="en-US" sz="2400" dirty="0"/>
          </a:p>
          <a:p>
            <a:r>
              <a:rPr lang="en-US" sz="2400" dirty="0"/>
              <a:t>SUBSCRIBE news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9022081" y="3444240"/>
            <a:ext cx="2525485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6401826" y="3142161"/>
            <a:ext cx="4657036" cy="1969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Publisher sends message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PUBLISH news "Breaking News: </a:t>
            </a:r>
            <a:r>
              <a:rPr lang="en-US" dirty="0" err="1"/>
              <a:t>Redis</a:t>
            </a:r>
            <a:r>
              <a:rPr lang="en-US" dirty="0"/>
              <a:t> is fast!“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Output: 2 - 2 subscribers received the message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0413" y="4809852"/>
            <a:ext cx="502484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4. Message received by subscribers</a:t>
            </a:r>
          </a:p>
          <a:p>
            <a:r>
              <a:rPr lang="en-US" sz="2000" dirty="0"/>
              <a:t>Both clients will get:</a:t>
            </a:r>
          </a:p>
          <a:p>
            <a:r>
              <a:rPr lang="en-US" sz="2000" dirty="0"/>
              <a:t>1) "message"</a:t>
            </a:r>
          </a:p>
          <a:p>
            <a:r>
              <a:rPr lang="en-US" sz="2000" dirty="0"/>
              <a:t>2) "news"</a:t>
            </a:r>
          </a:p>
          <a:p>
            <a:r>
              <a:rPr lang="en-US" sz="2000" dirty="0"/>
              <a:t>3) "Breaking News: </a:t>
            </a:r>
            <a:r>
              <a:rPr lang="en-US" sz="2000" dirty="0" err="1"/>
              <a:t>Redis</a:t>
            </a:r>
            <a:r>
              <a:rPr lang="en-US" sz="2000" dirty="0"/>
              <a:t> is fast!"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33478" y="4902926"/>
            <a:ext cx="29756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5. Unsubscribe</a:t>
            </a:r>
          </a:p>
          <a:p>
            <a:endParaRPr lang="en-US" dirty="0"/>
          </a:p>
          <a:p>
            <a:r>
              <a:rPr lang="en-US" dirty="0"/>
              <a:t>UNSUBSCRIBE news</a:t>
            </a:r>
          </a:p>
          <a:p>
            <a:r>
              <a:rPr lang="en-US" dirty="0"/>
              <a:t>Stops receiving messages</a:t>
            </a:r>
          </a:p>
        </p:txBody>
      </p:sp>
    </p:spTree>
    <p:extLst>
      <p:ext uri="{BB962C8B-B14F-4D97-AF65-F5344CB8AC3E}">
        <p14:creationId xmlns:p14="http://schemas.microsoft.com/office/powerpoint/2010/main" val="518745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Redis</a:t>
            </a:r>
            <a:r>
              <a:rPr lang="en-US" dirty="0"/>
              <a:t> </a:t>
            </a:r>
            <a:r>
              <a:rPr lang="en-US" dirty="0" smtClean="0"/>
              <a:t>Configuration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00376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daemonize</a:t>
            </a:r>
            <a:r>
              <a:rPr lang="en-US" dirty="0"/>
              <a:t> no</a:t>
            </a:r>
          </a:p>
          <a:p>
            <a:pPr marL="0" indent="0">
              <a:buNone/>
            </a:pPr>
            <a:r>
              <a:rPr lang="en-US" dirty="0"/>
              <a:t>port 6379</a:t>
            </a:r>
          </a:p>
          <a:p>
            <a:pPr marL="0" indent="0">
              <a:buNone/>
            </a:pPr>
            <a:r>
              <a:rPr lang="en-US" dirty="0" err="1"/>
              <a:t>loglevel</a:t>
            </a:r>
            <a:r>
              <a:rPr lang="en-US" dirty="0"/>
              <a:t> verbose</a:t>
            </a:r>
          </a:p>
          <a:p>
            <a:pPr marL="0" indent="0">
              <a:buNone/>
            </a:pPr>
            <a:r>
              <a:rPr lang="en-US" dirty="0" err="1"/>
              <a:t>logfile</a:t>
            </a:r>
            <a:r>
              <a:rPr lang="en-US" dirty="0"/>
              <a:t> </a:t>
            </a:r>
            <a:r>
              <a:rPr lang="en-US" dirty="0" err="1"/>
              <a:t>stdout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database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56069" y="1872343"/>
            <a:ext cx="4824548" cy="422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965372" y="738728"/>
            <a:ext cx="452239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Arial" panose="020B0604020202020204" pitchFamily="34" charset="0"/>
              </a:rPr>
              <a:t>daemonize</a:t>
            </a:r>
            <a:r>
              <a:rPr lang="en-US" altLang="en-US" dirty="0">
                <a:latin typeface="Arial" panose="020B0604020202020204" pitchFamily="34" charset="0"/>
              </a:rPr>
              <a:t> → run in background or not </a:t>
            </a:r>
          </a:p>
          <a:p>
            <a:pPr lvl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port</a:t>
            </a:r>
            <a:r>
              <a:rPr lang="en-US" altLang="en-US" dirty="0">
                <a:latin typeface="Arial" panose="020B0604020202020204" pitchFamily="34" charset="0"/>
              </a:rPr>
              <a:t> → where </a:t>
            </a:r>
            <a:r>
              <a:rPr lang="en-US" altLang="en-US" dirty="0" err="1">
                <a:latin typeface="Arial" panose="020B0604020202020204" pitchFamily="34" charset="0"/>
              </a:rPr>
              <a:t>Redis</a:t>
            </a:r>
            <a:r>
              <a:rPr lang="en-US" altLang="en-US" dirty="0">
                <a:latin typeface="Arial" panose="020B0604020202020204" pitchFamily="34" charset="0"/>
              </a:rPr>
              <a:t> runs (default 6379) </a:t>
            </a:r>
          </a:p>
          <a:p>
            <a:pPr lvl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Arial" panose="020B0604020202020204" pitchFamily="34" charset="0"/>
              </a:rPr>
              <a:t>loglevel</a:t>
            </a:r>
            <a:r>
              <a:rPr lang="en-US" altLang="en-US" dirty="0">
                <a:latin typeface="Arial" panose="020B0604020202020204" pitchFamily="34" charset="0"/>
              </a:rPr>
              <a:t> → how much logs </a:t>
            </a:r>
          </a:p>
          <a:p>
            <a:pPr lvl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Arial" panose="020B0604020202020204" pitchFamily="34" charset="0"/>
              </a:rPr>
              <a:t>logfile</a:t>
            </a:r>
            <a:r>
              <a:rPr lang="en-US" altLang="en-US" dirty="0">
                <a:latin typeface="Arial" panose="020B0604020202020204" pitchFamily="34" charset="0"/>
              </a:rPr>
              <a:t> → where logs are stored </a:t>
            </a:r>
          </a:p>
          <a:p>
            <a:pPr lvl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databases</a:t>
            </a:r>
            <a:r>
              <a:rPr lang="en-US" altLang="en-US" dirty="0">
                <a:latin typeface="Arial" panose="020B0604020202020204" pitchFamily="34" charset="0"/>
              </a:rPr>
              <a:t> → number of DBs (default 16</a:t>
            </a:r>
            <a:r>
              <a:rPr lang="en-US" altLang="en-US" dirty="0" smtClean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no →</a:t>
            </a:r>
            <a:r>
              <a:rPr lang="en-US" dirty="0"/>
              <a:t> don't run in background </a:t>
            </a:r>
            <a:endParaRPr lang="en-US" dirty="0" smtClean="0"/>
          </a:p>
          <a:p>
            <a:pPr lvl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 smtClean="0"/>
              <a:t>verbose </a:t>
            </a:r>
            <a:r>
              <a:rPr lang="en-US" b="1" dirty="0"/>
              <a:t>→ </a:t>
            </a:r>
            <a:r>
              <a:rPr lang="en-US" dirty="0"/>
              <a:t>show detailed logs </a:t>
            </a:r>
            <a:endParaRPr lang="en-US" dirty="0" smtClean="0"/>
          </a:p>
          <a:p>
            <a:pPr lvl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 err="1" smtClean="0"/>
              <a:t>stdout</a:t>
            </a:r>
            <a:r>
              <a:rPr lang="en-US" b="1" dirty="0" smtClean="0"/>
              <a:t> </a:t>
            </a:r>
            <a:r>
              <a:rPr lang="en-US" b="1" dirty="0"/>
              <a:t>→ </a:t>
            </a:r>
            <a:r>
              <a:rPr lang="en-US" dirty="0"/>
              <a:t>print logs on screen</a:t>
            </a:r>
            <a:r>
              <a:rPr lang="en-US" altLang="en-US" dirty="0" smtClean="0">
                <a:latin typeface="Arial" panose="020B0604020202020204" pitchFamily="34" charset="0"/>
              </a:rPr>
              <a:t> 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644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Master–Slave Replication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288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One </a:t>
            </a:r>
            <a:r>
              <a:rPr lang="en-US" dirty="0" err="1"/>
              <a:t>Redis</a:t>
            </a:r>
            <a:r>
              <a:rPr lang="en-US" dirty="0"/>
              <a:t> server (Master) → sends data to other servers (Slaves</a:t>
            </a:r>
            <a:r>
              <a:rPr lang="en-US" dirty="0" smtClean="0"/>
              <a:t>)</a:t>
            </a:r>
          </a:p>
          <a:p>
            <a:r>
              <a:rPr lang="en-US" dirty="0"/>
              <a:t>Master → handles writes (SET, SADD, etc.)</a:t>
            </a:r>
          </a:p>
          <a:p>
            <a:r>
              <a:rPr lang="en-US" dirty="0"/>
              <a:t>Slaves → </a:t>
            </a:r>
            <a:r>
              <a:rPr lang="en-US" dirty="0" smtClean="0"/>
              <a:t>copy </a:t>
            </a:r>
            <a:r>
              <a:rPr lang="en-US" dirty="0"/>
              <a:t>data (read-only copies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Master</a:t>
            </a:r>
          </a:p>
          <a:p>
            <a:r>
              <a:rPr lang="en-US" dirty="0" err="1" smtClean="0"/>
              <a:t>redis</a:t>
            </a:r>
            <a:r>
              <a:rPr lang="en-US" dirty="0"/>
              <a:t>-server - Runs on: port </a:t>
            </a:r>
            <a:r>
              <a:rPr lang="en-US" dirty="0" smtClean="0"/>
              <a:t>6379</a:t>
            </a:r>
          </a:p>
          <a:p>
            <a:pPr marL="0" indent="0">
              <a:buNone/>
            </a:pPr>
            <a:r>
              <a:rPr lang="en-US" b="1" dirty="0"/>
              <a:t>Slave </a:t>
            </a:r>
            <a:r>
              <a:rPr lang="en-US" b="1" dirty="0" err="1" smtClean="0"/>
              <a:t>config</a:t>
            </a:r>
            <a:endParaRPr lang="en-US" b="1" dirty="0" smtClean="0"/>
          </a:p>
          <a:p>
            <a:pPr marL="0" indent="0">
              <a:buNone/>
            </a:pPr>
            <a:r>
              <a:rPr lang="en-US" dirty="0" err="1"/>
              <a:t>cp</a:t>
            </a:r>
            <a:r>
              <a:rPr lang="en-US" dirty="0"/>
              <a:t> </a:t>
            </a:r>
            <a:r>
              <a:rPr lang="en-US" dirty="0" err="1"/>
              <a:t>redis.conf</a:t>
            </a:r>
            <a:r>
              <a:rPr lang="en-US" dirty="0"/>
              <a:t> </a:t>
            </a:r>
            <a:r>
              <a:rPr lang="en-US" dirty="0" smtClean="0"/>
              <a:t>redis-s1.conf</a:t>
            </a:r>
          </a:p>
          <a:p>
            <a:pPr marL="0" indent="0">
              <a:buNone/>
            </a:pPr>
            <a:r>
              <a:rPr lang="fr-FR" dirty="0"/>
              <a:t>port 6380</a:t>
            </a:r>
            <a:br>
              <a:rPr lang="fr-FR" dirty="0"/>
            </a:br>
            <a:r>
              <a:rPr lang="fr-FR" dirty="0" err="1"/>
              <a:t>slaveof</a:t>
            </a:r>
            <a:r>
              <a:rPr lang="fr-FR" dirty="0"/>
              <a:t> 127.0.0.1 </a:t>
            </a:r>
            <a:r>
              <a:rPr lang="fr-FR" dirty="0" smtClean="0"/>
              <a:t>6379</a:t>
            </a:r>
          </a:p>
          <a:p>
            <a:pPr marL="0" indent="0">
              <a:buNone/>
            </a:pPr>
            <a:r>
              <a:rPr lang="en-US" dirty="0" err="1"/>
              <a:t>redis</a:t>
            </a:r>
            <a:r>
              <a:rPr lang="en-US" dirty="0"/>
              <a:t>-server redis-s1.conf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71954" y="3773397"/>
            <a:ext cx="41104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port </a:t>
            </a:r>
            <a:r>
              <a:rPr lang="en-US" dirty="0" smtClean="0"/>
              <a:t>6380</a:t>
            </a:r>
          </a:p>
          <a:p>
            <a:r>
              <a:rPr lang="en-US" dirty="0"/>
              <a:t>Run another </a:t>
            </a:r>
            <a:r>
              <a:rPr lang="en-US" dirty="0" err="1"/>
              <a:t>Redis</a:t>
            </a:r>
            <a:r>
              <a:rPr lang="en-US" dirty="0"/>
              <a:t> server on different </a:t>
            </a:r>
            <a:r>
              <a:rPr lang="en-US" dirty="0" smtClean="0"/>
              <a:t>port</a:t>
            </a:r>
          </a:p>
          <a:p>
            <a:endParaRPr lang="en-US" dirty="0"/>
          </a:p>
          <a:p>
            <a:r>
              <a:rPr lang="en-US" dirty="0" err="1"/>
              <a:t>slaveof</a:t>
            </a:r>
            <a:r>
              <a:rPr lang="en-US" dirty="0"/>
              <a:t> 127.0.0.1 </a:t>
            </a:r>
            <a:r>
              <a:rPr lang="en-US" dirty="0" smtClean="0"/>
              <a:t>6379</a:t>
            </a:r>
          </a:p>
          <a:p>
            <a:r>
              <a:rPr lang="en-US" dirty="0"/>
              <a:t>This server becomes slave of master at 6379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2971" y="2190743"/>
            <a:ext cx="23861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master, many </a:t>
            </a:r>
            <a:r>
              <a:rPr lang="en-US" dirty="0" smtClean="0"/>
              <a:t>slaves.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Master </a:t>
            </a:r>
            <a:r>
              <a:rPr lang="en-US" dirty="0"/>
              <a:t>handles </a:t>
            </a:r>
            <a:r>
              <a:rPr lang="en-US" dirty="0" smtClean="0"/>
              <a:t>writes.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Slaves </a:t>
            </a:r>
            <a:r>
              <a:rPr lang="en-US" dirty="0"/>
              <a:t>replicate </a:t>
            </a:r>
            <a:r>
              <a:rPr lang="en-US" dirty="0" smtClean="0"/>
              <a:t>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Slaves </a:t>
            </a:r>
            <a:r>
              <a:rPr lang="en-US" dirty="0"/>
              <a:t>are read-only</a:t>
            </a:r>
          </a:p>
        </p:txBody>
      </p:sp>
    </p:spTree>
    <p:extLst>
      <p:ext uri="{BB962C8B-B14F-4D97-AF65-F5344CB8AC3E}">
        <p14:creationId xmlns:p14="http://schemas.microsoft.com/office/powerpoint/2010/main" val="639881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Dump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Inserting a LARGE amount of data into </a:t>
            </a:r>
            <a:r>
              <a:rPr lang="en-US" dirty="0" err="1" smtClean="0"/>
              <a:t>Redis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Example:</a:t>
            </a:r>
            <a:endParaRPr lang="en-US" dirty="0"/>
          </a:p>
          <a:p>
            <a:r>
              <a:rPr lang="en-US" dirty="0"/>
              <a:t>2.5 million book records </a:t>
            </a:r>
          </a:p>
          <a:p>
            <a:r>
              <a:rPr lang="en-US" dirty="0"/>
              <a:t>Key = ISBN </a:t>
            </a:r>
          </a:p>
          <a:p>
            <a:r>
              <a:rPr lang="en-US" dirty="0"/>
              <a:t>Value = Book Title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Goal- Load huge dataset into </a:t>
            </a:r>
            <a:r>
              <a:rPr lang="en-US" dirty="0" err="1"/>
              <a:t>Redis</a:t>
            </a:r>
            <a:r>
              <a:rPr lang="en-US" dirty="0"/>
              <a:t> FAST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148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Dump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Method 1: Simple Insertion (Slow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$</a:t>
            </a:r>
            <a:r>
              <a:rPr lang="en-US" dirty="0" err="1"/>
              <a:t>redis.set</a:t>
            </a:r>
            <a:r>
              <a:rPr lang="en-US" dirty="0"/>
              <a:t>(</a:t>
            </a:r>
            <a:r>
              <a:rPr lang="en-US" dirty="0" err="1"/>
              <a:t>isbn</a:t>
            </a:r>
            <a:r>
              <a:rPr lang="en-US" dirty="0"/>
              <a:t>, title</a:t>
            </a:r>
            <a:r>
              <a:rPr lang="en-US" dirty="0" smtClean="0"/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For every line in file: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Read data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Insert using </a:t>
            </a:r>
            <a:r>
              <a:rPr lang="en-US" altLang="en-US" dirty="0" smtClean="0">
                <a:latin typeface="Arial Unicode MS"/>
              </a:rPr>
              <a:t>SET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~2.4 million records → 266 </a:t>
            </a:r>
            <a:r>
              <a:rPr lang="en-US" dirty="0" smtClean="0"/>
              <a:t>seconds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Why slow</a:t>
            </a:r>
            <a:r>
              <a:rPr lang="en-US" dirty="0" smtClean="0"/>
              <a:t>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Each SET = separate request to </a:t>
            </a:r>
            <a:r>
              <a:rPr lang="en-US" altLang="en-US" dirty="0" err="1" smtClean="0"/>
              <a:t>Redis</a:t>
            </a:r>
            <a:endParaRPr lang="en-US" altLang="en-US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Too many network calls → slow</a:t>
            </a:r>
            <a:endParaRPr lang="en-US" alt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373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Dump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Method 2: Using Pipelining (Fast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Instead of sending one command at a time</a:t>
            </a:r>
            <a:r>
              <a:rPr lang="en-US" dirty="0" smtClean="0"/>
              <a:t>:</a:t>
            </a:r>
          </a:p>
          <a:p>
            <a:r>
              <a:rPr lang="en-US" dirty="0"/>
              <a:t>Send 1000 commands </a:t>
            </a:r>
            <a:r>
              <a:rPr lang="en-US" dirty="0" smtClean="0"/>
              <a:t>together</a:t>
            </a:r>
          </a:p>
          <a:p>
            <a:r>
              <a:rPr lang="en-US" dirty="0"/>
              <a:t>Batch + Pipeline = faster </a:t>
            </a:r>
            <a:r>
              <a:rPr lang="en-US" dirty="0" smtClean="0"/>
              <a:t>insertion</a:t>
            </a:r>
          </a:p>
          <a:p>
            <a:r>
              <a:rPr lang="en-US" dirty="0"/>
              <a:t>Step 1: Store lines in </a:t>
            </a:r>
            <a:r>
              <a:rPr lang="en-US" dirty="0" smtClean="0"/>
              <a:t>batch</a:t>
            </a:r>
          </a:p>
          <a:p>
            <a:r>
              <a:rPr lang="en-US" dirty="0"/>
              <a:t>batch &lt;&lt; </a:t>
            </a:r>
            <a:r>
              <a:rPr lang="en-US" dirty="0" smtClean="0"/>
              <a:t>line</a:t>
            </a:r>
          </a:p>
          <a:p>
            <a:r>
              <a:rPr lang="en-US" dirty="0"/>
              <a:t>Step 2: When batch = </a:t>
            </a:r>
            <a:r>
              <a:rPr lang="en-US" dirty="0" smtClean="0"/>
              <a:t>1000</a:t>
            </a:r>
          </a:p>
          <a:p>
            <a:r>
              <a:rPr lang="en-US" dirty="0"/>
              <a:t>flush(batch)</a:t>
            </a:r>
          </a:p>
        </p:txBody>
      </p:sp>
    </p:spTree>
    <p:extLst>
      <p:ext uri="{BB962C8B-B14F-4D97-AF65-F5344CB8AC3E}">
        <p14:creationId xmlns:p14="http://schemas.microsoft.com/office/powerpoint/2010/main" val="3377663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Dump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Method 2: Using Pipelining (Fast</a:t>
            </a:r>
            <a:r>
              <a:rPr lang="en-US" dirty="0" smtClean="0"/>
              <a:t>)</a:t>
            </a:r>
          </a:p>
          <a:p>
            <a:r>
              <a:rPr lang="en-US" dirty="0"/>
              <a:t>Step 3: Pipeline </a:t>
            </a:r>
            <a:r>
              <a:rPr lang="en-US" dirty="0" smtClean="0"/>
              <a:t>execution</a:t>
            </a:r>
          </a:p>
          <a:p>
            <a:pPr marL="0" indent="0">
              <a:buNone/>
            </a:pPr>
            <a:r>
              <a:rPr lang="en-US" dirty="0"/>
              <a:t>$</a:t>
            </a:r>
            <a:r>
              <a:rPr lang="en-US" dirty="0" err="1"/>
              <a:t>redis.pipelined</a:t>
            </a:r>
            <a:r>
              <a:rPr lang="en-US" dirty="0"/>
              <a:t> do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batch.each</a:t>
            </a:r>
            <a:r>
              <a:rPr lang="en-US" dirty="0"/>
              <a:t> do |line|</a:t>
            </a:r>
          </a:p>
          <a:p>
            <a:pPr marL="0" indent="0">
              <a:buNone/>
            </a:pPr>
            <a:r>
              <a:rPr lang="en-US" dirty="0"/>
              <a:t>    $</a:t>
            </a:r>
            <a:r>
              <a:rPr lang="en-US" dirty="0" err="1"/>
              <a:t>redis.set</a:t>
            </a:r>
            <a:r>
              <a:rPr lang="en-US" dirty="0"/>
              <a:t>(</a:t>
            </a:r>
            <a:r>
              <a:rPr lang="en-US" dirty="0" err="1"/>
              <a:t>isbn</a:t>
            </a:r>
            <a:r>
              <a:rPr lang="en-US" dirty="0"/>
              <a:t>, title)</a:t>
            </a:r>
          </a:p>
          <a:p>
            <a:pPr marL="0" indent="0">
              <a:buNone/>
            </a:pPr>
            <a:r>
              <a:rPr lang="en-US" dirty="0"/>
              <a:t>  end</a:t>
            </a:r>
          </a:p>
          <a:p>
            <a:pPr marL="0" indent="0">
              <a:buNone/>
            </a:pPr>
            <a:r>
              <a:rPr lang="en-US" dirty="0"/>
              <a:t>e</a:t>
            </a:r>
            <a:r>
              <a:rPr lang="en-US" dirty="0" smtClean="0"/>
              <a:t>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~2.6 million records → 79 seconds</a:t>
            </a:r>
            <a:endParaRPr lang="en-US" b="1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6696892" y="4854735"/>
            <a:ext cx="506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Normal mode = thousands of requests/sec  </a:t>
            </a:r>
          </a:p>
          <a:p>
            <a:r>
              <a:rPr lang="en-US" b="1" dirty="0"/>
              <a:t>Pipeline mode = tens of thousands/sec</a:t>
            </a:r>
          </a:p>
        </p:txBody>
      </p:sp>
    </p:spTree>
    <p:extLst>
      <p:ext uri="{BB962C8B-B14F-4D97-AF65-F5344CB8AC3E}">
        <p14:creationId xmlns:p14="http://schemas.microsoft.com/office/powerpoint/2010/main" val="8080283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Redis</a:t>
            </a:r>
            <a:r>
              <a:rPr lang="en-US" dirty="0"/>
              <a:t> Cluster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Store data across MULTIPLE </a:t>
            </a:r>
            <a:r>
              <a:rPr lang="en-US" dirty="0" err="1"/>
              <a:t>Redis</a:t>
            </a:r>
            <a:r>
              <a:rPr lang="en-US" dirty="0"/>
              <a:t> </a:t>
            </a:r>
            <a:r>
              <a:rPr lang="en-US" dirty="0" smtClean="0"/>
              <a:t>servers</a:t>
            </a:r>
          </a:p>
          <a:p>
            <a:pPr marL="0" indent="0">
              <a:buNone/>
            </a:pPr>
            <a:r>
              <a:rPr lang="en-US" dirty="0"/>
              <a:t>Not like replication (copying), but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Split data between </a:t>
            </a:r>
            <a:r>
              <a:rPr lang="en-US" dirty="0" smtClean="0"/>
              <a:t>servers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Setup</a:t>
            </a:r>
          </a:p>
          <a:p>
            <a:pPr marL="0" indent="0">
              <a:buNone/>
            </a:pPr>
            <a:r>
              <a:rPr lang="en-US" dirty="0"/>
              <a:t>You have 2 </a:t>
            </a:r>
            <a:r>
              <a:rPr lang="en-US" dirty="0" err="1"/>
              <a:t>Redis</a:t>
            </a:r>
            <a:r>
              <a:rPr lang="en-US" dirty="0"/>
              <a:t> servers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fr-FR" dirty="0"/>
              <a:t>Server 1 → port 6379  </a:t>
            </a:r>
          </a:p>
          <a:p>
            <a:pPr marL="0" indent="0">
              <a:buNone/>
            </a:pPr>
            <a:r>
              <a:rPr lang="fr-FR" dirty="0"/>
              <a:t>Server 2 → port </a:t>
            </a:r>
            <a:r>
              <a:rPr lang="fr-FR" dirty="0" smtClean="0"/>
              <a:t>6380</a:t>
            </a:r>
          </a:p>
          <a:p>
            <a:pPr marL="0" indent="0">
              <a:buNone/>
            </a:pPr>
            <a:r>
              <a:rPr lang="en-US" dirty="0"/>
              <a:t>Both are </a:t>
            </a:r>
            <a:r>
              <a:rPr lang="en-US" b="1" dirty="0"/>
              <a:t>masters</a:t>
            </a:r>
            <a:r>
              <a:rPr lang="en-US" dirty="0"/>
              <a:t> (no slave here)</a:t>
            </a:r>
          </a:p>
        </p:txBody>
      </p:sp>
    </p:spTree>
    <p:extLst>
      <p:ext uri="{BB962C8B-B14F-4D97-AF65-F5344CB8AC3E}">
        <p14:creationId xmlns:p14="http://schemas.microsoft.com/office/powerpoint/2010/main" val="37359914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Redis</a:t>
            </a:r>
            <a:r>
              <a:rPr lang="en-US" dirty="0"/>
              <a:t> Cluster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Step </a:t>
            </a:r>
            <a:r>
              <a:rPr lang="en-US" dirty="0" smtClean="0"/>
              <a:t>1: Import </a:t>
            </a:r>
            <a:r>
              <a:rPr lang="en-US" dirty="0"/>
              <a:t>distributed </a:t>
            </a:r>
            <a:r>
              <a:rPr lang="en-US" dirty="0" smtClean="0"/>
              <a:t>library</a:t>
            </a:r>
          </a:p>
          <a:p>
            <a:pPr marL="0" indent="0">
              <a:buNone/>
            </a:pPr>
            <a:r>
              <a:rPr lang="en-US" b="1" dirty="0"/>
              <a:t>require </a:t>
            </a:r>
            <a:r>
              <a:rPr lang="en-US" b="1" dirty="0" smtClean="0"/>
              <a:t>'</a:t>
            </a:r>
            <a:r>
              <a:rPr lang="en-US" b="1" dirty="0" err="1" smtClean="0"/>
              <a:t>redis</a:t>
            </a:r>
            <a:r>
              <a:rPr lang="en-US" b="1" dirty="0" smtClean="0"/>
              <a:t>/distributed‘</a:t>
            </a:r>
          </a:p>
          <a:p>
            <a:pPr marL="0" indent="0">
              <a:buNone/>
            </a:pPr>
            <a:r>
              <a:rPr lang="en-US" i="1" dirty="0"/>
              <a:t>Work with multiple </a:t>
            </a:r>
            <a:r>
              <a:rPr lang="en-US" i="1" dirty="0" err="1"/>
              <a:t>Redis</a:t>
            </a:r>
            <a:r>
              <a:rPr lang="en-US" i="1" dirty="0"/>
              <a:t> servers as ONE </a:t>
            </a:r>
            <a:r>
              <a:rPr lang="en-US" i="1" dirty="0" smtClean="0"/>
              <a:t>system</a:t>
            </a:r>
          </a:p>
          <a:p>
            <a:pPr marL="0" indent="0">
              <a:buNone/>
            </a:pPr>
            <a:r>
              <a:rPr lang="en-US" dirty="0"/>
              <a:t>Step 2: Connect both </a:t>
            </a:r>
            <a:r>
              <a:rPr lang="en-US" dirty="0" smtClean="0"/>
              <a:t>servers</a:t>
            </a:r>
          </a:p>
          <a:p>
            <a:pPr marL="0" indent="0">
              <a:buNone/>
            </a:pPr>
            <a:r>
              <a:rPr lang="en-US" b="1" dirty="0"/>
              <a:t>$</a:t>
            </a:r>
            <a:r>
              <a:rPr lang="en-US" b="1" dirty="0" err="1"/>
              <a:t>redis</a:t>
            </a:r>
            <a:r>
              <a:rPr lang="en-US" b="1" dirty="0"/>
              <a:t> = </a:t>
            </a:r>
            <a:r>
              <a:rPr lang="en-US" b="1" dirty="0" err="1"/>
              <a:t>Redis</a:t>
            </a:r>
            <a:r>
              <a:rPr lang="en-US" b="1" dirty="0"/>
              <a:t>::</a:t>
            </a:r>
            <a:r>
              <a:rPr lang="en-US" b="1" dirty="0" err="1"/>
              <a:t>Distributed.new</a:t>
            </a:r>
            <a:r>
              <a:rPr lang="en-US" b="1" dirty="0"/>
              <a:t>([</a:t>
            </a:r>
          </a:p>
          <a:p>
            <a:pPr marL="0" indent="0">
              <a:buNone/>
            </a:pPr>
            <a:r>
              <a:rPr lang="en-US" b="1" dirty="0"/>
              <a:t>"</a:t>
            </a:r>
            <a:r>
              <a:rPr lang="en-US" b="1" dirty="0" err="1"/>
              <a:t>redis</a:t>
            </a:r>
            <a:r>
              <a:rPr lang="en-US" b="1" dirty="0"/>
              <a:t>://localhost:6379/",</a:t>
            </a:r>
          </a:p>
          <a:p>
            <a:pPr marL="0" indent="0">
              <a:buNone/>
            </a:pPr>
            <a:r>
              <a:rPr lang="en-US" b="1" dirty="0"/>
              <a:t>"</a:t>
            </a:r>
            <a:r>
              <a:rPr lang="en-US" b="1" dirty="0" err="1"/>
              <a:t>redis</a:t>
            </a:r>
            <a:r>
              <a:rPr lang="en-US" b="1" dirty="0"/>
              <a:t>://localhost:6380/"</a:t>
            </a:r>
          </a:p>
          <a:p>
            <a:pPr marL="0" indent="0">
              <a:buNone/>
            </a:pPr>
            <a:r>
              <a:rPr lang="en-US" b="1" dirty="0" smtClean="0"/>
              <a:t>])</a:t>
            </a:r>
          </a:p>
          <a:p>
            <a:pPr marL="0" indent="0">
              <a:buNone/>
            </a:pPr>
            <a:r>
              <a:rPr lang="en-US" i="1" dirty="0"/>
              <a:t>Client sees both servers as one cluster</a:t>
            </a:r>
          </a:p>
        </p:txBody>
      </p:sp>
    </p:spTree>
    <p:extLst>
      <p:ext uri="{BB962C8B-B14F-4D97-AF65-F5344CB8AC3E}">
        <p14:creationId xmlns:p14="http://schemas.microsoft.com/office/powerpoint/2010/main" val="725211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Redis</a:t>
            </a:r>
            <a:r>
              <a:rPr lang="en-US" dirty="0"/>
              <a:t> Cluster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Client decides where to store </a:t>
            </a:r>
            <a:r>
              <a:rPr lang="en-US" dirty="0" smtClean="0"/>
              <a:t>data</a:t>
            </a:r>
          </a:p>
          <a:p>
            <a:pPr marL="0" indent="0">
              <a:buNone/>
            </a:pPr>
            <a:r>
              <a:rPr lang="en-US" dirty="0"/>
              <a:t>Using </a:t>
            </a:r>
            <a:r>
              <a:rPr lang="en-US" b="1" dirty="0"/>
              <a:t>consistent </a:t>
            </a:r>
            <a:r>
              <a:rPr lang="en-US" b="1" dirty="0" smtClean="0"/>
              <a:t>hashing</a:t>
            </a:r>
          </a:p>
          <a:p>
            <a:pPr marL="0" indent="0">
              <a:buNone/>
            </a:pPr>
            <a:r>
              <a:rPr lang="en-US" i="1" dirty="0"/>
              <a:t>Key → hashed → assigned to one </a:t>
            </a:r>
            <a:r>
              <a:rPr lang="en-US" i="1" dirty="0" smtClean="0"/>
              <a:t>server</a:t>
            </a:r>
          </a:p>
          <a:p>
            <a:pPr marL="0" indent="0">
              <a:buNone/>
            </a:pPr>
            <a:endParaRPr lang="en-US" i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36003"/>
              </p:ext>
            </p:extLst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7688003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300895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Key (ISBN)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Stored 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5060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123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Server 6379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125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456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Server 6380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7339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789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Server 6379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7351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32315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Redis</a:t>
            </a:r>
            <a:r>
              <a:rPr lang="en-US" dirty="0"/>
              <a:t> Cluster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Insert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$</a:t>
            </a:r>
            <a:r>
              <a:rPr lang="en-US" dirty="0" err="1"/>
              <a:t>redis.set</a:t>
            </a:r>
            <a:r>
              <a:rPr lang="en-US" dirty="0"/>
              <a:t>(</a:t>
            </a:r>
            <a:r>
              <a:rPr lang="en-US" dirty="0" err="1"/>
              <a:t>isbn</a:t>
            </a:r>
            <a:r>
              <a:rPr lang="en-US" dirty="0"/>
              <a:t>, title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Internally- </a:t>
            </a:r>
            <a:r>
              <a:rPr lang="en-US" dirty="0"/>
              <a:t>Client decides</a:t>
            </a:r>
            <a:r>
              <a:rPr lang="en-US" dirty="0" smtClean="0"/>
              <a:t>:→ </a:t>
            </a:r>
            <a:r>
              <a:rPr lang="en-US" dirty="0"/>
              <a:t>which server to store this </a:t>
            </a:r>
            <a:r>
              <a:rPr lang="en-US" dirty="0" smtClean="0"/>
              <a:t>key</a:t>
            </a:r>
          </a:p>
          <a:p>
            <a:pPr marL="0" indent="0">
              <a:buNone/>
            </a:pPr>
            <a:r>
              <a:rPr lang="en-US" dirty="0"/>
              <a:t>GET- $</a:t>
            </a:r>
            <a:r>
              <a:rPr lang="en-US" dirty="0" err="1"/>
              <a:t>redis.get</a:t>
            </a:r>
            <a:r>
              <a:rPr lang="en-US" dirty="0"/>
              <a:t>(</a:t>
            </a:r>
            <a:r>
              <a:rPr lang="en-US" dirty="0" err="1"/>
              <a:t>isbn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Client again: Calculates → which server has this key  </a:t>
            </a:r>
          </a:p>
          <a:p>
            <a:pPr marL="0" indent="0">
              <a:buNone/>
            </a:pPr>
            <a:r>
              <a:rPr lang="en-US" dirty="0"/>
              <a:t>→ fetches from correct </a:t>
            </a:r>
            <a:r>
              <a:rPr lang="en-US" dirty="0" smtClean="0"/>
              <a:t>server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approach improves scalability and performance by spreading data across multiple nodes.</a:t>
            </a:r>
          </a:p>
        </p:txBody>
      </p:sp>
    </p:spTree>
    <p:extLst>
      <p:ext uri="{BB962C8B-B14F-4D97-AF65-F5344CB8AC3E}">
        <p14:creationId xmlns:p14="http://schemas.microsoft.com/office/powerpoint/2010/main" val="35692751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It is a </a:t>
            </a:r>
            <a:r>
              <a:rPr lang="en-US" b="1" dirty="0"/>
              <a:t>fast checking system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Check if a word is ALREADY used or </a:t>
            </a:r>
            <a:r>
              <a:rPr lang="en-US" dirty="0" smtClean="0"/>
              <a:t>NOT</a:t>
            </a:r>
          </a:p>
          <a:p>
            <a:pPr marL="0" indent="0">
              <a:buNone/>
            </a:pPr>
            <a:r>
              <a:rPr lang="en-US" dirty="0"/>
              <a:t>If it says NOT present → 100% correct </a:t>
            </a:r>
            <a:br>
              <a:rPr lang="en-US" dirty="0"/>
            </a:br>
            <a:r>
              <a:rPr lang="en-US" dirty="0"/>
              <a:t>If it says PRESENT → maybe correct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Instead of searching millions of words → quick </a:t>
            </a:r>
            <a:r>
              <a:rPr lang="en-US" dirty="0" smtClean="0"/>
              <a:t>check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Example</a:t>
            </a:r>
          </a:p>
          <a:p>
            <a:pPr marL="0" indent="0">
              <a:buNone/>
            </a:pPr>
            <a:r>
              <a:rPr lang="en-US" dirty="0"/>
              <a:t>Millions of book </a:t>
            </a:r>
            <a:r>
              <a:rPr lang="en-US" dirty="0" smtClean="0"/>
              <a:t>titles</a:t>
            </a:r>
          </a:p>
          <a:p>
            <a:pPr marL="0" indent="0">
              <a:buNone/>
            </a:pPr>
            <a:r>
              <a:rPr lang="en-US" dirty="0"/>
              <a:t>Check if a word is unique</a:t>
            </a:r>
          </a:p>
        </p:txBody>
      </p:sp>
    </p:spTree>
    <p:extLst>
      <p:ext uri="{BB962C8B-B14F-4D97-AF65-F5344CB8AC3E}">
        <p14:creationId xmlns:p14="http://schemas.microsoft.com/office/powerpoint/2010/main" val="26191379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it </a:t>
            </a:r>
            <a:r>
              <a:rPr lang="en-US" dirty="0" smtClean="0"/>
              <a:t>works</a:t>
            </a:r>
          </a:p>
          <a:p>
            <a:pPr marL="0" indent="0">
              <a:buNone/>
            </a:pPr>
            <a:r>
              <a:rPr lang="en-US" dirty="0"/>
              <a:t>A big array of 0s and 1s (bits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word → converted to some positions → set those bits = </a:t>
            </a:r>
            <a:r>
              <a:rPr lang="en-US" dirty="0" smtClean="0"/>
              <a:t>1</a:t>
            </a:r>
          </a:p>
          <a:p>
            <a:pPr marL="0" indent="0">
              <a:buNone/>
            </a:pPr>
            <a:r>
              <a:rPr lang="en-US" dirty="0"/>
              <a:t>Example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"book" → positions 2, 5, 9 → set to 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776" y="4376465"/>
            <a:ext cx="5076825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8066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it </a:t>
            </a:r>
            <a:r>
              <a:rPr lang="en-US" dirty="0" smtClean="0"/>
              <a:t>works</a:t>
            </a:r>
          </a:p>
          <a:p>
            <a:pPr marL="0" indent="0">
              <a:buNone/>
            </a:pPr>
            <a:r>
              <a:rPr lang="en-US" dirty="0"/>
              <a:t>When checking a </a:t>
            </a:r>
            <a:r>
              <a:rPr lang="en-US" dirty="0" smtClean="0"/>
              <a:t>word</a:t>
            </a:r>
          </a:p>
          <a:p>
            <a:pPr marL="0" indent="0">
              <a:buNone/>
            </a:pPr>
            <a:r>
              <a:rPr lang="en-US" dirty="0"/>
              <a:t>Check same </a:t>
            </a:r>
            <a:r>
              <a:rPr lang="en-US" dirty="0" smtClean="0"/>
              <a:t>positions</a:t>
            </a:r>
          </a:p>
          <a:p>
            <a:pPr marL="0" indent="0">
              <a:buNone/>
            </a:pPr>
            <a:r>
              <a:rPr lang="en-US" dirty="0"/>
              <a:t>If ANY position = </a:t>
            </a:r>
            <a:r>
              <a:rPr lang="en-US" dirty="0" smtClean="0"/>
              <a:t>0</a:t>
            </a:r>
          </a:p>
          <a:p>
            <a:pPr marL="0" indent="0">
              <a:buNone/>
            </a:pPr>
            <a:r>
              <a:rPr lang="en-US" dirty="0"/>
              <a:t>→ word is NOT present (100% sure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If ALL positions = </a:t>
            </a:r>
            <a:r>
              <a:rPr lang="en-US" dirty="0" smtClean="0"/>
              <a:t>1</a:t>
            </a:r>
          </a:p>
          <a:p>
            <a:pPr marL="0" indent="0">
              <a:buNone/>
            </a:pPr>
            <a:r>
              <a:rPr lang="en-US" dirty="0"/>
              <a:t>→ word MAY be present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759478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68574"/>
            <a:ext cx="4761411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Bloom Filter </a:t>
            </a:r>
            <a:r>
              <a:rPr lang="en-US" sz="1800" dirty="0" smtClean="0"/>
              <a:t>Code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 smtClean="0"/>
              <a:t>require '</a:t>
            </a:r>
            <a:r>
              <a:rPr lang="en-US" sz="1800" dirty="0" err="1" smtClean="0"/>
              <a:t>rubygems</a:t>
            </a:r>
            <a:r>
              <a:rPr lang="en-US" sz="1800" dirty="0" smtClean="0"/>
              <a:t>'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 smtClean="0"/>
              <a:t>require </a:t>
            </a:r>
            <a:r>
              <a:rPr lang="en-US" sz="1800" dirty="0"/>
              <a:t>'</a:t>
            </a:r>
            <a:r>
              <a:rPr lang="en-US" sz="1800" dirty="0" err="1"/>
              <a:t>bloomfilter-rb</a:t>
            </a:r>
            <a:r>
              <a:rPr lang="en-US" sz="1800" dirty="0"/>
              <a:t>'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 smtClean="0"/>
              <a:t># </a:t>
            </a:r>
            <a:r>
              <a:rPr lang="en-US" sz="1800" dirty="0"/>
              <a:t>Create Bloom Filter (stored in </a:t>
            </a:r>
            <a:r>
              <a:rPr lang="en-US" sz="1800" dirty="0" err="1"/>
              <a:t>Redis</a:t>
            </a:r>
            <a:r>
              <a:rPr lang="en-US" sz="18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 err="1"/>
              <a:t>bloomfilter</a:t>
            </a:r>
            <a:r>
              <a:rPr lang="en-US" sz="1800" dirty="0"/>
              <a:t> = </a:t>
            </a:r>
            <a:r>
              <a:rPr lang="en-US" sz="1800" dirty="0" err="1"/>
              <a:t>BloomFilter</a:t>
            </a:r>
            <a:r>
              <a:rPr lang="en-US" sz="1800" dirty="0"/>
              <a:t>::</a:t>
            </a:r>
            <a:r>
              <a:rPr lang="en-US" sz="1800" dirty="0" err="1"/>
              <a:t>Redis.new</a:t>
            </a:r>
            <a:r>
              <a:rPr lang="en-US" sz="1800" dirty="0"/>
              <a:t>(:size =&gt; 1000)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 smtClean="0"/>
              <a:t># </a:t>
            </a:r>
            <a:r>
              <a:rPr lang="en-US" sz="1800" dirty="0"/>
              <a:t>---------------------------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/>
              <a:t># Example with "apple"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/>
              <a:t># ---------------------------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 smtClean="0"/>
              <a:t># </a:t>
            </a:r>
            <a:r>
              <a:rPr lang="en-US" sz="1800" dirty="0"/>
              <a:t>Insert word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 err="1"/>
              <a:t>bloomfilter.insert</a:t>
            </a:r>
            <a:r>
              <a:rPr lang="en-US" sz="1800" dirty="0"/>
              <a:t>("apple")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 smtClean="0"/>
              <a:t>puts </a:t>
            </a:r>
            <a:r>
              <a:rPr lang="en-US" sz="1800" dirty="0"/>
              <a:t>"Inserted: apple</a:t>
            </a:r>
            <a:r>
              <a:rPr lang="en-US" sz="1800" dirty="0" smtClean="0"/>
              <a:t>"</a:t>
            </a: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6052457" y="1785257"/>
            <a:ext cx="4589417" cy="4358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# Check words</a:t>
            </a:r>
          </a:p>
          <a:p>
            <a:pPr>
              <a:lnSpc>
                <a:spcPct val="120000"/>
              </a:lnSpc>
            </a:pPr>
            <a:r>
              <a:rPr lang="en-US" dirty="0"/>
              <a:t>if </a:t>
            </a:r>
            <a:r>
              <a:rPr lang="en-US" dirty="0" err="1"/>
              <a:t>bloomfilter.include</a:t>
            </a:r>
            <a:r>
              <a:rPr lang="en-US" dirty="0"/>
              <a:t>?("apple")</a:t>
            </a:r>
          </a:p>
          <a:p>
            <a:pPr>
              <a:lnSpc>
                <a:spcPct val="120000"/>
              </a:lnSpc>
            </a:pPr>
            <a:r>
              <a:rPr lang="en-US" dirty="0"/>
              <a:t>  puts "apple → MAY be present"</a:t>
            </a:r>
          </a:p>
          <a:p>
            <a:pPr>
              <a:lnSpc>
                <a:spcPct val="120000"/>
              </a:lnSpc>
            </a:pPr>
            <a:r>
              <a:rPr lang="en-US" dirty="0"/>
              <a:t>else</a:t>
            </a:r>
          </a:p>
          <a:p>
            <a:pPr>
              <a:lnSpc>
                <a:spcPct val="120000"/>
              </a:lnSpc>
            </a:pPr>
            <a:r>
              <a:rPr lang="en-US" dirty="0"/>
              <a:t>  puts "apple → NOT present"</a:t>
            </a:r>
          </a:p>
          <a:p>
            <a:pPr>
              <a:lnSpc>
                <a:spcPct val="120000"/>
              </a:lnSpc>
            </a:pPr>
            <a:r>
              <a:rPr lang="en-US" dirty="0"/>
              <a:t>end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if </a:t>
            </a:r>
            <a:r>
              <a:rPr lang="en-US" dirty="0" err="1"/>
              <a:t>bloomfilter.include</a:t>
            </a:r>
            <a:r>
              <a:rPr lang="en-US" dirty="0"/>
              <a:t>?("banana")</a:t>
            </a:r>
          </a:p>
          <a:p>
            <a:pPr>
              <a:lnSpc>
                <a:spcPct val="120000"/>
              </a:lnSpc>
            </a:pPr>
            <a:r>
              <a:rPr lang="en-US" dirty="0"/>
              <a:t>  puts "banana → MAY be present"</a:t>
            </a:r>
          </a:p>
          <a:p>
            <a:pPr>
              <a:lnSpc>
                <a:spcPct val="120000"/>
              </a:lnSpc>
            </a:pPr>
            <a:r>
              <a:rPr lang="en-US" dirty="0"/>
              <a:t>else</a:t>
            </a:r>
          </a:p>
          <a:p>
            <a:pPr>
              <a:lnSpc>
                <a:spcPct val="120000"/>
              </a:lnSpc>
            </a:pPr>
            <a:r>
              <a:rPr lang="en-US" dirty="0"/>
              <a:t>  puts "banana → NOT present"</a:t>
            </a:r>
          </a:p>
          <a:p>
            <a:pPr>
              <a:lnSpc>
                <a:spcPct val="120000"/>
              </a:lnSpc>
            </a:pPr>
            <a:r>
              <a:rPr lang="en-US" dirty="0"/>
              <a:t>end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553303" y="2194560"/>
            <a:ext cx="27519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apple → hash → positions (example: 3, 10, 25)</a:t>
            </a:r>
          </a:p>
          <a:p>
            <a:r>
              <a:rPr lang="en-US" dirty="0"/>
              <a:t>→ set bits = </a:t>
            </a:r>
            <a:r>
              <a:rPr lang="en-US" dirty="0" smtClean="0"/>
              <a:t>1</a:t>
            </a:r>
          </a:p>
          <a:p>
            <a:endParaRPr lang="en-US" dirty="0"/>
          </a:p>
          <a:p>
            <a:r>
              <a:rPr lang="en-US" dirty="0"/>
              <a:t>Check "apple"</a:t>
            </a:r>
          </a:p>
          <a:p>
            <a:r>
              <a:rPr lang="en-US" dirty="0" err="1" smtClean="0"/>
              <a:t>bloomfilter.include</a:t>
            </a:r>
            <a:r>
              <a:rPr lang="en-US" dirty="0"/>
              <a:t>?("apple</a:t>
            </a:r>
            <a:r>
              <a:rPr lang="en-US" dirty="0" smtClean="0"/>
              <a:t>")</a:t>
            </a:r>
          </a:p>
          <a:p>
            <a:r>
              <a:rPr lang="en-US" dirty="0"/>
              <a:t>positions 3, 10, 25 → all = 1 → </a:t>
            </a:r>
            <a:r>
              <a:rPr lang="en-US" dirty="0" smtClean="0"/>
              <a:t>true</a:t>
            </a:r>
          </a:p>
          <a:p>
            <a:endParaRPr lang="en-US" dirty="0"/>
          </a:p>
          <a:p>
            <a:r>
              <a:rPr lang="en-US" dirty="0"/>
              <a:t>apple → MAY be </a:t>
            </a:r>
            <a:r>
              <a:rPr lang="en-US" dirty="0" smtClean="0"/>
              <a:t>present</a:t>
            </a:r>
          </a:p>
          <a:p>
            <a:endParaRPr lang="en-US" dirty="0"/>
          </a:p>
          <a:p>
            <a:r>
              <a:rPr lang="en-US" dirty="0"/>
              <a:t>If any position = 0</a:t>
            </a:r>
            <a:r>
              <a:rPr lang="en-US" dirty="0" smtClean="0"/>
              <a:t>:</a:t>
            </a:r>
          </a:p>
          <a:p>
            <a:r>
              <a:rPr lang="en-US" dirty="0"/>
              <a:t>apple</a:t>
            </a:r>
            <a:r>
              <a:rPr lang="en-US" dirty="0" smtClean="0"/>
              <a:t> </a:t>
            </a:r>
            <a:r>
              <a:rPr lang="en-US" dirty="0"/>
              <a:t>→ NOT present</a:t>
            </a:r>
          </a:p>
        </p:txBody>
      </p:sp>
    </p:spTree>
    <p:extLst>
      <p:ext uri="{BB962C8B-B14F-4D97-AF65-F5344CB8AC3E}">
        <p14:creationId xmlns:p14="http://schemas.microsoft.com/office/powerpoint/2010/main" val="19808584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Redis’s</a:t>
            </a:r>
            <a:r>
              <a:rPr lang="en-US" b="1" dirty="0"/>
              <a:t> Strengths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Key strengths of </a:t>
            </a:r>
            <a:r>
              <a:rPr lang="en-US" dirty="0" err="1"/>
              <a:t>Redis</a:t>
            </a:r>
            <a:r>
              <a:rPr lang="en-US" dirty="0"/>
              <a:t>, emphasizing its speed, data structures, durability options,</a:t>
            </a:r>
          </a:p>
          <a:p>
            <a:pPr marL="0" indent="0">
              <a:buNone/>
            </a:pPr>
            <a:r>
              <a:rPr lang="en-US" dirty="0"/>
              <a:t>and replication features:</a:t>
            </a:r>
          </a:p>
          <a:p>
            <a:pPr marL="0" indent="0">
              <a:buNone/>
            </a:pPr>
            <a:r>
              <a:rPr lang="en-US" b="1" dirty="0"/>
              <a:t>1. Speed</a:t>
            </a:r>
          </a:p>
          <a:p>
            <a:pPr marL="0" indent="0">
              <a:buNone/>
            </a:pPr>
            <a:r>
              <a:rPr lang="en-US" dirty="0"/>
              <a:t>• In-memory storage makes </a:t>
            </a:r>
            <a:r>
              <a:rPr lang="en-US" dirty="0" err="1"/>
              <a:t>Redis</a:t>
            </a:r>
            <a:r>
              <a:rPr lang="en-US" dirty="0"/>
              <a:t> extremely fast for read and write operations.</a:t>
            </a:r>
          </a:p>
          <a:p>
            <a:pPr marL="0" indent="0">
              <a:buNone/>
            </a:pPr>
            <a:r>
              <a:rPr lang="en-US" dirty="0"/>
              <a:t>• This speed is especially advantageous for real-time applications (e.g., caching,</a:t>
            </a:r>
          </a:p>
          <a:p>
            <a:pPr marL="0" indent="0">
              <a:buNone/>
            </a:pPr>
            <a:r>
              <a:rPr lang="en-US" dirty="0"/>
              <a:t>session management, leaderboards).</a:t>
            </a:r>
          </a:p>
          <a:p>
            <a:pPr marL="0" indent="0">
              <a:buNone/>
            </a:pPr>
            <a:r>
              <a:rPr lang="en-US" b="1" dirty="0"/>
              <a:t>2. Rich Data Types:</a:t>
            </a:r>
          </a:p>
          <a:p>
            <a:pPr marL="0" indent="0">
              <a:buNone/>
            </a:pPr>
            <a:r>
              <a:rPr lang="en-US" dirty="0"/>
              <a:t>• Unlike many simple key-value stores, </a:t>
            </a:r>
            <a:r>
              <a:rPr lang="en-US" dirty="0" err="1"/>
              <a:t>Redis</a:t>
            </a:r>
            <a:r>
              <a:rPr lang="en-US" dirty="0"/>
              <a:t> supports complex data structures,</a:t>
            </a:r>
          </a:p>
          <a:p>
            <a:pPr marL="0" indent="0">
              <a:buNone/>
            </a:pPr>
            <a:r>
              <a:rPr lang="en-US" dirty="0"/>
              <a:t>including: Lists, Hashes, Sets, Sorted sets.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Redis</a:t>
            </a:r>
            <a:r>
              <a:rPr lang="en-US" dirty="0"/>
              <a:t> also provides specialized operations for each datatype, allowing for</a:t>
            </a:r>
          </a:p>
          <a:p>
            <a:pPr marL="0" indent="0">
              <a:buNone/>
            </a:pPr>
            <a:r>
              <a:rPr lang="en-US" dirty="0"/>
              <a:t>powerful and efficient manipulation of data (e.g., pushing/popping from lists, set</a:t>
            </a:r>
          </a:p>
          <a:p>
            <a:pPr marL="0" indent="0">
              <a:buNone/>
            </a:pPr>
            <a:r>
              <a:rPr lang="en-US" dirty="0"/>
              <a:t>operations like union/intersection, etc.).</a:t>
            </a:r>
          </a:p>
        </p:txBody>
      </p:sp>
    </p:spTree>
    <p:extLst>
      <p:ext uri="{BB962C8B-B14F-4D97-AF65-F5344CB8AC3E}">
        <p14:creationId xmlns:p14="http://schemas.microsoft.com/office/powerpoint/2010/main" val="2343745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Redis’s</a:t>
            </a:r>
            <a:r>
              <a:rPr lang="en-US" b="1" dirty="0"/>
              <a:t> Strengths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1487"/>
            <a:ext cx="10515600" cy="50323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3. Flexible Durability Options: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Redis</a:t>
            </a:r>
            <a:r>
              <a:rPr lang="en-US" dirty="0"/>
              <a:t> offers a spectrum of durability settings, allowing users to balance</a:t>
            </a:r>
          </a:p>
          <a:p>
            <a:pPr marL="0" indent="0">
              <a:buNone/>
            </a:pPr>
            <a:r>
              <a:rPr lang="en-US" dirty="0"/>
              <a:t>between speed and data safety:</a:t>
            </a:r>
          </a:p>
          <a:p>
            <a:pPr marL="0" indent="0">
              <a:buNone/>
            </a:pPr>
            <a:r>
              <a:rPr lang="en-US" dirty="0"/>
              <a:t>• Snapshotting Periodic saves of the dataset.</a:t>
            </a:r>
          </a:p>
          <a:p>
            <a:pPr marL="0" indent="0">
              <a:buNone/>
            </a:pPr>
            <a:r>
              <a:rPr lang="en-US" dirty="0"/>
              <a:t>• Append-only file (AOF): Logs every write operation for more frequent backups.</a:t>
            </a:r>
          </a:p>
          <a:p>
            <a:pPr marL="0" indent="0">
              <a:buNone/>
            </a:pPr>
            <a:r>
              <a:rPr lang="en-US" dirty="0"/>
              <a:t>• These options allow fine-tuning how much performance you're willing to trade</a:t>
            </a:r>
          </a:p>
          <a:p>
            <a:pPr marL="0" indent="0">
              <a:buNone/>
            </a:pPr>
            <a:r>
              <a:rPr lang="en-US" dirty="0"/>
              <a:t>for reliability.</a:t>
            </a:r>
          </a:p>
          <a:p>
            <a:pPr marL="0" indent="0">
              <a:buNone/>
            </a:pPr>
            <a:r>
              <a:rPr lang="en-US" b="1" dirty="0"/>
              <a:t>4. Built-in Replication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Redis</a:t>
            </a:r>
            <a:r>
              <a:rPr lang="en-US" dirty="0"/>
              <a:t> supports master-slave replication out of the box:</a:t>
            </a:r>
          </a:p>
          <a:p>
            <a:pPr marL="0" indent="0">
              <a:buNone/>
            </a:pPr>
            <a:r>
              <a:rPr lang="en-US" dirty="0"/>
              <a:t>• Improves durability: If the master fails, a slave can take over.</a:t>
            </a:r>
          </a:p>
          <a:p>
            <a:pPr marL="0" indent="0">
              <a:buNone/>
            </a:pPr>
            <a:r>
              <a:rPr lang="en-US" dirty="0"/>
              <a:t>• Enhances read scalability: Slaves can handle read traffic, reducing the load on</a:t>
            </a:r>
          </a:p>
          <a:p>
            <a:pPr marL="0" indent="0">
              <a:buNone/>
            </a:pPr>
            <a:r>
              <a:rPr lang="en-US" dirty="0"/>
              <a:t>the master.</a:t>
            </a:r>
          </a:p>
          <a:p>
            <a:pPr marL="0" indent="0">
              <a:buNone/>
            </a:pPr>
            <a:r>
              <a:rPr lang="en-US" dirty="0"/>
              <a:t>• This is especially useful for read-heavy systems, such as real-time analytics</a:t>
            </a:r>
          </a:p>
          <a:p>
            <a:pPr marL="0" indent="0">
              <a:buNone/>
            </a:pPr>
            <a:r>
              <a:rPr lang="en-US" dirty="0"/>
              <a:t>dashboards or content delivery systems.</a:t>
            </a:r>
          </a:p>
        </p:txBody>
      </p:sp>
    </p:spTree>
    <p:extLst>
      <p:ext uri="{BB962C8B-B14F-4D97-AF65-F5344CB8AC3E}">
        <p14:creationId xmlns:p14="http://schemas.microsoft.com/office/powerpoint/2010/main" val="20427352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Redis’s</a:t>
            </a:r>
            <a:r>
              <a:rPr lang="en-US" b="1" dirty="0"/>
              <a:t> Weaknesses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6617"/>
            <a:ext cx="10515600" cy="55473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weaknesses of </a:t>
            </a:r>
            <a:r>
              <a:rPr lang="en-US" dirty="0" err="1"/>
              <a:t>Redis</a:t>
            </a:r>
            <a:r>
              <a:rPr lang="en-US" dirty="0"/>
              <a:t>, primarily related to memory usage, durability, </a:t>
            </a:r>
            <a:r>
              <a:rPr lang="en-US" dirty="0" smtClean="0"/>
              <a:t>and scalability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1. In-Memory Design (Speed vs. Durability)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Redis</a:t>
            </a:r>
            <a:r>
              <a:rPr lang="en-US" dirty="0"/>
              <a:t> is extremely fast because it stores all data in memory (RAM).</a:t>
            </a:r>
          </a:p>
          <a:p>
            <a:pPr marL="0" indent="0">
              <a:buNone/>
            </a:pPr>
            <a:r>
              <a:rPr lang="en-US" dirty="0"/>
              <a:t>• However, this speed comes at the cost of durability:</a:t>
            </a:r>
          </a:p>
          <a:p>
            <a:pPr marL="0" indent="0">
              <a:buNone/>
            </a:pPr>
            <a:r>
              <a:rPr lang="en-US" dirty="0"/>
              <a:t>• If </a:t>
            </a:r>
            <a:r>
              <a:rPr lang="en-US" dirty="0" err="1"/>
              <a:t>Redis</a:t>
            </a:r>
            <a:r>
              <a:rPr lang="en-US" dirty="0"/>
              <a:t> is shut down before a snapshot is taken, data can be</a:t>
            </a:r>
          </a:p>
          <a:p>
            <a:pPr marL="0" indent="0">
              <a:buNone/>
            </a:pPr>
            <a:r>
              <a:rPr lang="en-US" dirty="0"/>
              <a:t>lost.</a:t>
            </a:r>
          </a:p>
          <a:p>
            <a:pPr marL="0" indent="0">
              <a:buNone/>
            </a:pPr>
            <a:r>
              <a:rPr lang="en-US" dirty="0"/>
              <a:t>• Even with append-only file (AOF) syncing every </a:t>
            </a:r>
            <a:r>
              <a:rPr lang="en-US" dirty="0" smtClean="0"/>
              <a:t>operation, there's </a:t>
            </a:r>
            <a:r>
              <a:rPr lang="en-US" dirty="0"/>
              <a:t>still risk—especially with expiry times, which may </a:t>
            </a:r>
            <a:r>
              <a:rPr lang="en-US" dirty="0" smtClean="0"/>
              <a:t>not replay </a:t>
            </a:r>
            <a:r>
              <a:rPr lang="en-US" dirty="0"/>
              <a:t>identically after a crash.</a:t>
            </a:r>
          </a:p>
          <a:p>
            <a:pPr marL="0" indent="0">
              <a:buNone/>
            </a:pPr>
            <a:r>
              <a:rPr lang="en-US" b="1" dirty="0"/>
              <a:t>2. Volatile Data Due to Time-Based Events:</a:t>
            </a:r>
          </a:p>
          <a:p>
            <a:pPr marL="0" indent="0">
              <a:buNone/>
            </a:pPr>
            <a:r>
              <a:rPr lang="en-US" dirty="0"/>
              <a:t>• Time-sensitive keys (e.g., those with EXPIRE or TTL) may not</a:t>
            </a:r>
          </a:p>
          <a:p>
            <a:pPr marL="0" indent="0">
              <a:buNone/>
            </a:pPr>
            <a:r>
              <a:rPr lang="en-US" dirty="0"/>
              <a:t>behave the same when restored, leading to inconsistent state after a</a:t>
            </a:r>
          </a:p>
          <a:p>
            <a:pPr marL="0" indent="0">
              <a:buNone/>
            </a:pPr>
            <a:r>
              <a:rPr lang="en-US" dirty="0"/>
              <a:t>recovery.</a:t>
            </a:r>
          </a:p>
        </p:txBody>
      </p:sp>
    </p:spTree>
    <p:extLst>
      <p:ext uri="{BB962C8B-B14F-4D97-AF65-F5344CB8AC3E}">
        <p14:creationId xmlns:p14="http://schemas.microsoft.com/office/powerpoint/2010/main" val="7874280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Redis’s</a:t>
            </a:r>
            <a:r>
              <a:rPr lang="en-US" b="1" dirty="0"/>
              <a:t> Weaknesses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6617"/>
            <a:ext cx="10515600" cy="4940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Memory Limitations: </a:t>
            </a:r>
            <a:r>
              <a:rPr lang="en-US" dirty="0" err="1"/>
              <a:t>Redis</a:t>
            </a:r>
            <a:r>
              <a:rPr lang="en-US" dirty="0"/>
              <a:t> can only store as much data as fits in</a:t>
            </a:r>
          </a:p>
          <a:p>
            <a:pPr marL="0" indent="0">
              <a:buNone/>
            </a:pPr>
            <a:r>
              <a:rPr lang="en-US" dirty="0"/>
              <a:t>the machine's RAM. Support for virtual memory (swapping data to </a:t>
            </a:r>
            <a:r>
              <a:rPr lang="en-US" dirty="0" smtClean="0"/>
              <a:t>disk) has </a:t>
            </a:r>
            <a:r>
              <a:rPr lang="en-US" dirty="0"/>
              <a:t>been removed, limiting use to in-memory datasets only.</a:t>
            </a:r>
          </a:p>
          <a:p>
            <a:pPr marL="0" indent="0">
              <a:buNone/>
            </a:pPr>
            <a:r>
              <a:rPr lang="en-US" b="1" dirty="0"/>
              <a:t>4. Clustering and Scalability: </a:t>
            </a:r>
            <a:r>
              <a:rPr lang="en-US" dirty="0"/>
              <a:t>While a </a:t>
            </a:r>
            <a:r>
              <a:rPr lang="en-US" b="1" dirty="0" err="1"/>
              <a:t>Redis</a:t>
            </a:r>
            <a:r>
              <a:rPr lang="en-US" b="1" dirty="0"/>
              <a:t> Cluster </a:t>
            </a:r>
            <a:r>
              <a:rPr lang="en-US" dirty="0"/>
              <a:t>exists to allow</a:t>
            </a:r>
          </a:p>
          <a:p>
            <a:pPr marL="0" indent="0">
              <a:buNone/>
            </a:pPr>
            <a:r>
              <a:rPr lang="en-US" dirty="0"/>
              <a:t>horizontal scaling, it's still under active development and may lack</a:t>
            </a:r>
          </a:p>
          <a:p>
            <a:pPr marL="0" indent="0">
              <a:buNone/>
            </a:pPr>
            <a:r>
              <a:rPr lang="en-US" dirty="0"/>
              <a:t>features or stability. As of now, users must </a:t>
            </a:r>
            <a:r>
              <a:rPr lang="en-US" b="1" dirty="0"/>
              <a:t>manually implement</a:t>
            </a:r>
          </a:p>
          <a:p>
            <a:pPr marL="0" indent="0">
              <a:buNone/>
            </a:pPr>
            <a:r>
              <a:rPr lang="en-US" dirty="0"/>
              <a:t>clustering using client libraries that support it e.g., a Ruby client.</a:t>
            </a:r>
          </a:p>
        </p:txBody>
      </p:sp>
    </p:spTree>
    <p:extLst>
      <p:ext uri="{BB962C8B-B14F-4D97-AF65-F5344CB8AC3E}">
        <p14:creationId xmlns:p14="http://schemas.microsoft.com/office/powerpoint/2010/main" val="27467563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Polyglot Persistence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23466"/>
            <a:ext cx="6699270" cy="4372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Practice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</a:t>
            </a:r>
            <a:r>
              <a:rPr lang="en-US" altLang="en-US" sz="1800" dirty="0">
                <a:latin typeface="Arial" panose="020B0604020202020204" pitchFamily="34" charset="0"/>
              </a:rPr>
              <a:t>u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databases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 single application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Different data → use different database types 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One database cannot efficiently handle all types of data</a:t>
            </a:r>
          </a:p>
          <a:p>
            <a:r>
              <a:rPr lang="en-US" sz="1800" b="1" dirty="0"/>
              <a:t>Advantages</a:t>
            </a:r>
            <a:endParaRPr lang="en-US" sz="1800" dirty="0"/>
          </a:p>
          <a:p>
            <a:r>
              <a:rPr lang="en-US" sz="1800" dirty="0"/>
              <a:t>Better performance </a:t>
            </a:r>
          </a:p>
          <a:p>
            <a:r>
              <a:rPr lang="en-US" sz="1800" dirty="0"/>
              <a:t>High scalability </a:t>
            </a:r>
          </a:p>
          <a:p>
            <a:r>
              <a:rPr lang="en-US" sz="1800" dirty="0"/>
              <a:t>Flexibility in design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17000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Polyglot Persistence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94" y="1397778"/>
            <a:ext cx="9789931" cy="520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486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1926</TotalTime>
  <Words>2125</Words>
  <Application>Microsoft Office PowerPoint</Application>
  <PresentationFormat>Widescreen</PresentationFormat>
  <Paragraphs>425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Arial Unicode MS</vt:lpstr>
      <vt:lpstr>Calibri</vt:lpstr>
      <vt:lpstr>Calibri Light</vt:lpstr>
      <vt:lpstr>Office Theme</vt:lpstr>
      <vt:lpstr>Module 5-2</vt:lpstr>
      <vt:lpstr>Database Namespaces</vt:lpstr>
      <vt:lpstr>Database Namespaces</vt:lpstr>
      <vt:lpstr>Database Namespaces</vt:lpstr>
      <vt:lpstr>Database Namespaces</vt:lpstr>
      <vt:lpstr>Database Namespaces</vt:lpstr>
      <vt:lpstr>Telnet in Redis</vt:lpstr>
      <vt:lpstr>Telnet in Redis</vt:lpstr>
      <vt:lpstr>Telnet in Redis</vt:lpstr>
      <vt:lpstr>Telnet in Redis</vt:lpstr>
      <vt:lpstr>Pipelining</vt:lpstr>
      <vt:lpstr>Pipelining</vt:lpstr>
      <vt:lpstr>Pipelining</vt:lpstr>
      <vt:lpstr>Publish–Subscribe</vt:lpstr>
      <vt:lpstr>Publish–Subscribe</vt:lpstr>
      <vt:lpstr>Publish–Subscribe</vt:lpstr>
      <vt:lpstr>Publish–Subscribe</vt:lpstr>
      <vt:lpstr>Publish–Subscribe</vt:lpstr>
      <vt:lpstr>Redis Configuration</vt:lpstr>
      <vt:lpstr>Master–Slave Replication</vt:lpstr>
      <vt:lpstr>Data Dump</vt:lpstr>
      <vt:lpstr>Data Dump</vt:lpstr>
      <vt:lpstr>Data Dump</vt:lpstr>
      <vt:lpstr>Data Dump</vt:lpstr>
      <vt:lpstr>Redis Cluster</vt:lpstr>
      <vt:lpstr>Redis Cluster</vt:lpstr>
      <vt:lpstr>Redis Cluster</vt:lpstr>
      <vt:lpstr>Redis Cluster</vt:lpstr>
      <vt:lpstr>Bloom Filter</vt:lpstr>
      <vt:lpstr>Bloom Filter</vt:lpstr>
      <vt:lpstr>Bloom Filter</vt:lpstr>
      <vt:lpstr>Bloom Filter</vt:lpstr>
      <vt:lpstr>Redis’s Strengths</vt:lpstr>
      <vt:lpstr>Redis’s Strengths</vt:lpstr>
      <vt:lpstr>Redis’s Weaknesses</vt:lpstr>
      <vt:lpstr>Redis’s Weaknesses</vt:lpstr>
      <vt:lpstr>Polyglot Persistence</vt:lpstr>
      <vt:lpstr>Polyglot Persistence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5-2</dc:title>
  <dc:creator>Sandhya</dc:creator>
  <cp:lastModifiedBy>Sandhya</cp:lastModifiedBy>
  <cp:revision>58</cp:revision>
  <dcterms:created xsi:type="dcterms:W3CDTF">2026-04-28T12:03:10Z</dcterms:created>
  <dcterms:modified xsi:type="dcterms:W3CDTF">2026-05-03T13:29:45Z</dcterms:modified>
</cp:coreProperties>
</file>