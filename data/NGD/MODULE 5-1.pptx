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7" r:id="rId20"/>
    <p:sldId id="278" r:id="rId21"/>
    <p:sldId id="279" r:id="rId22"/>
    <p:sldId id="280" r:id="rId23"/>
    <p:sldId id="275" r:id="rId24"/>
    <p:sldId id="273" r:id="rId25"/>
    <p:sldId id="276" r:id="rId26"/>
    <p:sldId id="281" r:id="rId27"/>
    <p:sldId id="282" r:id="rId28"/>
    <p:sldId id="284" r:id="rId29"/>
    <p:sldId id="285" r:id="rId30"/>
    <p:sldId id="286" r:id="rId31"/>
    <p:sldId id="283" r:id="rId32"/>
    <p:sldId id="289" r:id="rId33"/>
    <p:sldId id="288" r:id="rId34"/>
    <p:sldId id="287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301" r:id="rId44"/>
    <p:sldId id="302" r:id="rId45"/>
    <p:sldId id="303" r:id="rId46"/>
    <p:sldId id="304" r:id="rId47"/>
    <p:sldId id="298" r:id="rId48"/>
    <p:sldId id="299" r:id="rId49"/>
    <p:sldId id="300" r:id="rId50"/>
    <p:sldId id="305" r:id="rId51"/>
    <p:sldId id="306" r:id="rId52"/>
    <p:sldId id="307" r:id="rId53"/>
    <p:sldId id="308" r:id="rId54"/>
    <p:sldId id="309" r:id="rId55"/>
    <p:sldId id="311" r:id="rId56"/>
    <p:sldId id="312" r:id="rId57"/>
    <p:sldId id="313" r:id="rId58"/>
    <p:sldId id="310" r:id="rId59"/>
    <p:sldId id="314" r:id="rId60"/>
    <p:sldId id="315" r:id="rId61"/>
    <p:sldId id="316" r:id="rId62"/>
    <p:sldId id="317" r:id="rId63"/>
    <p:sldId id="319" r:id="rId64"/>
    <p:sldId id="322" r:id="rId65"/>
    <p:sldId id="318" r:id="rId66"/>
    <p:sldId id="321" r:id="rId67"/>
    <p:sldId id="320" r:id="rId68"/>
    <p:sldId id="324" r:id="rId69"/>
    <p:sldId id="340" r:id="rId70"/>
    <p:sldId id="323" r:id="rId71"/>
    <p:sldId id="325" r:id="rId72"/>
    <p:sldId id="326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27" r:id="rId8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7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tableStyles" Target="tableStyles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2AC6C-0E2C-440E-93C5-206613B6D2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955A8D-05BF-4946-BA94-43E1D347BE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23A09C-8220-419C-BE6E-150ED1AD2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A5181-F06A-4361-A96C-415C04DEC797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E4364C-DBE8-46BB-85A9-0A190BEEB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DE3DBE-5A63-4212-B92A-6C487BB8A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5C67E-661B-454A-B341-7FDC561E15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2329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1B45D-0D3B-4753-AD67-7520DD15F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F127CA-6912-4AB3-9CA7-9AF51806B0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D1BFA7-68C5-4D13-BF61-9BD2C123C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A5181-F06A-4361-A96C-415C04DEC797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2D347A-8AB2-44DE-9D68-37B42DD3D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FD5D95-259F-4F8D-93CF-4FAEE8BF2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5C67E-661B-454A-B341-7FDC561E15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762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D1A4A-BA1D-4F85-B908-6FB5272EA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6F1D3-CE3D-4B86-9566-CB3F8A50D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3C76B7-FA90-49F7-A1A5-DE038DF38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A5181-F06A-4361-A96C-415C04DEC797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DCB868-3A0E-420F-8D50-F924B4020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A4604B-CB77-4684-BCD1-4ED0C0247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5C67E-661B-454A-B341-7FDC561E15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7947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E7C39-BD9A-47F3-B6C1-2BFEFED29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5E585-1772-4F26-8C22-A50105D6A8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6CFB04-57C7-425E-9CBB-C3AE7AD98D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134DEE-3DD5-4DF3-B359-800584172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A5181-F06A-4361-A96C-415C04DEC797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ABB031-F02B-4D86-9124-84EDB31D7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BB2699-309A-423A-A444-3F74DA0E9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5C67E-661B-454A-B341-7FDC561E15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3416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DEA63-252A-43D9-8781-4D93D314B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6AF665-879B-4E93-AC73-1C065B031B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75DD42-F515-4E7E-AC6B-4E79E724A5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3E5162-E2E4-4BEA-8608-6DC02AA19E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154BD1-8661-4F95-AB27-EBDD010ED8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1E79A2-4953-4C86-B9F8-C96829EF9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A5181-F06A-4361-A96C-415C04DEC797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9A36C0-76C3-49EB-9417-5EFAFD59D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D298F8-6980-4187-B95E-8844F7281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5C67E-661B-454A-B341-7FDC561E15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476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D4714-A2D9-476A-B09B-ED919C296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A9D18A-6424-49C5-A5E5-D2EDB5625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A5181-F06A-4361-A96C-415C04DEC797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6181AA-7BC9-4B87-BDA7-EE60FB189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65067D-A3EF-4DBF-98EE-9AFEB5B63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5C67E-661B-454A-B341-7FDC561E15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5990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8D3179-6164-4D7E-8EFF-CD0C8D6A3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A5181-F06A-4361-A96C-415C04DEC797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376670-017A-4688-A272-330848165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361AD7-0EE0-462F-8D57-9F5CCBCA5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5C67E-661B-454A-B341-7FDC561E15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2912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57D04-E979-41D0-AA7B-0CC854975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084ECD-97BB-45AE-92A4-9BF62D060B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D55A53-58BE-43D4-AABE-B1CB41EB0B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4A5C3E-1EC1-43E5-AB4D-533A3CDE4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A5181-F06A-4361-A96C-415C04DEC797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BCFC18-6AAE-40D2-BFC6-D14F77A4A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DB0149-13BE-448F-9955-503DF9805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5C67E-661B-454A-B341-7FDC561E15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4948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91DE2-9381-47DC-9A2C-B43C5BE40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8AD47B-334F-437B-89E1-5103149F74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3B09B1-CAF2-426B-9B2B-41CE229878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3C4184-4122-4265-BDAF-FF889219A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A5181-F06A-4361-A96C-415C04DEC797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045C39-1EA1-4250-842B-E9CB615DC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4DE6BA-4824-4B63-B9E2-3C185D6BE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5C67E-661B-454A-B341-7FDC561E15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633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ADFA6-703A-464C-B01A-281FEF2BB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304F4F-0F32-4412-893B-6DB424E9D1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CA4B89-9C44-4100-B3B3-2A1E5BBAC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A5181-F06A-4361-A96C-415C04DEC797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82C2B-F7E6-47B4-921C-B1566D527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1004B1-FAA2-4217-B5C5-EC109E72A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5C67E-661B-454A-B341-7FDC561E15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86324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91C083-33DF-4A18-9CCA-853FC4EC75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F518B2-2620-4B7A-865E-CE42311717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254356-DB39-42BB-885F-F1B485878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A5181-F06A-4361-A96C-415C04DEC797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347DCA-936E-422F-B022-659A46D41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61023D-8D8C-4D83-BF57-21B559F10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5C67E-661B-454A-B341-7FDC561E15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4195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ACAC9E-8A96-41A1-9A36-CD4B7A747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B1FC83-E5B2-449A-8270-4DBDC8E7A6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93FF2-DEBE-4EAC-8444-D2DF173010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EA5181-F06A-4361-A96C-415C04DEC797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75966D-8358-42D6-9681-9EF0A4866B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4F60E6-90E1-4DCA-A235-8AAE754086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15C67E-661B-454A-B341-7FDC561E15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3405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://bit.ly/VLD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evenweeks.org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29EA6-4C16-49BC-81D7-8C1589AFD4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MODULE 5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C4F72A-520F-416C-A7E6-BB10584725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Redis</a:t>
            </a:r>
          </a:p>
        </p:txBody>
      </p:sp>
    </p:spTree>
    <p:extLst>
      <p:ext uri="{BB962C8B-B14F-4D97-AF65-F5344CB8AC3E}">
        <p14:creationId xmlns:p14="http://schemas.microsoft.com/office/powerpoint/2010/main" val="14666347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2EC27-25C9-4AE0-9E20-E549C4308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What is Redis 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80A72E9-DAE9-414E-80DC-3EB9157D051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71550" y="1430915"/>
            <a:ext cx="9496425" cy="38072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Redis is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key-value store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is stored like: 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→ value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"user:1" → "Sandhya"</a:t>
            </a:r>
          </a:p>
        </p:txBody>
      </p:sp>
    </p:spTree>
    <p:extLst>
      <p:ext uri="{BB962C8B-B14F-4D97-AF65-F5344CB8AC3E}">
        <p14:creationId xmlns:p14="http://schemas.microsoft.com/office/powerpoint/2010/main" val="3672362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7BCC-7404-4E68-881A-9531505DD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 Structure 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2BC4A-E0D9-4BC5-B21B-AC8571B7F5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Redis is called a </a:t>
            </a:r>
            <a:r>
              <a:rPr lang="en-US" b="1" dirty="0"/>
              <a:t>Data Structure Server</a:t>
            </a:r>
            <a:r>
              <a:rPr lang="en-US" dirty="0"/>
              <a:t> because it supports </a:t>
            </a:r>
            <a:r>
              <a:rPr lang="en-US" b="1" dirty="0"/>
              <a:t>different types of data structures</a:t>
            </a:r>
            <a:r>
              <a:rPr lang="en-US" dirty="0"/>
              <a:t>, not just plain values.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Supported Data Structures: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Strings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Lists (like arrays / queues)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Hashes (like objects)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Sets (unique values)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Sorted Sets (values with scores)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0E2967-91A1-46A6-A250-146205ECDD04}"/>
              </a:ext>
            </a:extLst>
          </p:cNvPr>
          <p:cNvSpPr txBox="1"/>
          <p:nvPr/>
        </p:nvSpPr>
        <p:spPr>
          <a:xfrm>
            <a:off x="6619875" y="2686049"/>
            <a:ext cx="5257799" cy="3384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 → message queue 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→ unique users 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Sorted set → leaderboard </a:t>
            </a:r>
          </a:p>
          <a:p>
            <a:pPr>
              <a:lnSpc>
                <a:spcPct val="2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instead of just storing data, Redis lets you perform operations directly on data structures.</a:t>
            </a:r>
          </a:p>
        </p:txBody>
      </p:sp>
    </p:spTree>
    <p:extLst>
      <p:ext uri="{BB962C8B-B14F-4D97-AF65-F5344CB8AC3E}">
        <p14:creationId xmlns:p14="http://schemas.microsoft.com/office/powerpoint/2010/main" val="16714334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7BCC-7404-4E68-881A-9531505DD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 Structure Server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C811219-C822-47E4-B163-1EA1F69C26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40273098"/>
              </p:ext>
            </p:extLst>
          </p:nvPr>
        </p:nvGraphicFramePr>
        <p:xfrm>
          <a:off x="838200" y="1690688"/>
          <a:ext cx="10515600" cy="301752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87595343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34207525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2766010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933554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Relational DB (MySQL)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Document DB (CouchDB)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794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+ Data Structures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Tables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JSON Documents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75440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Queries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Powerful (SQL)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Flexible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8892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Very fast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8577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Durability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Lower (optional)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5698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54266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3F292-FDC1-4A23-903A-399ADC765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Special Features of Redis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561D29-7B2A-42CA-B85A-D85E0079C3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2550"/>
            <a:ext cx="5067300" cy="4824413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b="1" dirty="0"/>
              <a:t>Extremely Fast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Works </a:t>
            </a:r>
            <a:r>
              <a:rPr lang="en-US" b="1" dirty="0"/>
              <a:t>in-memory</a:t>
            </a:r>
            <a:r>
              <a:rPr lang="en-US" dirty="0"/>
              <a:t> (RAM-based)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used for: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caching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real-time apps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2. Blocking Queue / Stack</a:t>
            </a:r>
          </a:p>
          <a:p>
            <a:r>
              <a:rPr lang="en-US" dirty="0"/>
              <a:t>Redis can act like: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Queue (FIFO)</a:t>
            </a:r>
            <a:r>
              <a:rPr lang="en-US" dirty="0"/>
              <a:t> → First In First Out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Stack (LIFO)</a:t>
            </a:r>
            <a:r>
              <a:rPr lang="en-US" dirty="0"/>
              <a:t> → Last In First Out </a:t>
            </a:r>
          </a:p>
          <a:p>
            <a:pPr marL="0" indent="0">
              <a:buNone/>
            </a:pPr>
            <a:r>
              <a:rPr lang="en-US" dirty="0"/>
              <a:t> Used for: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job processing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messaging systems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D32C6B-6E00-49EF-B87C-051F1A357669}"/>
              </a:ext>
            </a:extLst>
          </p:cNvPr>
          <p:cNvSpPr txBox="1"/>
          <p:nvPr/>
        </p:nvSpPr>
        <p:spPr>
          <a:xfrm>
            <a:off x="6029325" y="1314450"/>
            <a:ext cx="5591175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Publish–Subscribe System (Pub/Sub)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component sends message (publisher)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Others receive it (subscribers)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in: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 apps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notifications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updates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76AE99-04EB-42C1-AFF2-BCC5F07D86C8}"/>
              </a:ext>
            </a:extLst>
          </p:cNvPr>
          <p:cNvSpPr txBox="1"/>
          <p:nvPr/>
        </p:nvSpPr>
        <p:spPr>
          <a:xfrm>
            <a:off x="5867399" y="4191000"/>
            <a:ext cx="5915025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4.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Expiry (TTL – Time To Live)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 set expiration time on keys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session123 "data" EX 60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deleted after 60 seconds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0928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3F292-FDC1-4A23-903A-399ADC765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Special Features of Redis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561D29-7B2A-42CA-B85A-D85E0079C3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2550"/>
            <a:ext cx="5067300" cy="496252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5. </a:t>
            </a:r>
            <a:r>
              <a:rPr lang="en-US" b="1" dirty="0"/>
              <a:t>Durability Options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Can save data to disk (optional)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You can choose: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more speed (less saving)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more safety (more saving) 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6. Replication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 can be copied to other servers</a:t>
            </a:r>
          </a:p>
          <a:p>
            <a:pPr marL="0" indent="0">
              <a:buNone/>
            </a:pPr>
            <a:r>
              <a:rPr lang="en-US" dirty="0"/>
              <a:t> Helps in: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fault tolerance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scaling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2761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07ADE-5AF1-4BE4-AF12-4B876C605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Redis as a Toolkit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E88D2-31E9-4FE9-84F3-8DD578B26B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Redis is NOT just a database</a:t>
            </a:r>
          </a:p>
          <a:p>
            <a:pPr marL="0" indent="0">
              <a:buNone/>
            </a:pPr>
            <a:r>
              <a:rPr lang="en-US" dirty="0"/>
              <a:t>It is a </a:t>
            </a:r>
            <a:r>
              <a:rPr lang="en-US" b="1" dirty="0"/>
              <a:t>collection of useful tools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It can act as: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Cache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Queue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Pub/Sub system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Session store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Leaderboard system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91522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612408"/>
            <a:ext cx="516199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Redis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CLI (Command Line Interface)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501444" y="1027906"/>
            <a:ext cx="9842091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Redis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mainly used through its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CLI (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redis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-cli)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Redis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server: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redis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-server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alt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start </a:t>
            </a:r>
            <a:r>
              <a:rPr lang="en-US" alt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redis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-server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another terminal and run: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redis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-cli</a:t>
            </a:r>
            <a:endParaRPr kumimoji="0" lang="en-US" altLang="en-US" sz="200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connection: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PING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PONG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23790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URL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shortener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1387" y="1432334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/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URL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shortener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service that takes a really long URL and maps it to a shorter version on their own domain. http://www.myveryververylongdomain.com/somelongpath.php 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http://bit.ly/VLD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Visiting that short URL redirects users to the longer mapped URL, saves the visitors from text messaging long strings, and also provides the short URL creator some statistics like a count of visits. </a:t>
            </a:r>
          </a:p>
        </p:txBody>
      </p:sp>
    </p:spTree>
    <p:extLst>
      <p:ext uri="{BB962C8B-B14F-4D97-AF65-F5344CB8AC3E}">
        <p14:creationId xmlns:p14="http://schemas.microsoft.com/office/powerpoint/2010/main" val="21337199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CRUD Operations in </a:t>
            </a:r>
            <a:r>
              <a:rPr lang="en-US" b="1" dirty="0" err="1"/>
              <a:t>Redis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91656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/ UPDATE → SET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7wks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http://www.sevenweeks.org/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= 7wks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 = URL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48052" y="1858297"/>
            <a:ext cx="435569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→ GET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7wks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"http://www.sevenweeks.org/"</a:t>
            </a:r>
          </a:p>
        </p:txBody>
      </p:sp>
    </p:spTree>
    <p:extLst>
      <p:ext uri="{BB962C8B-B14F-4D97-AF65-F5344CB8AC3E}">
        <p14:creationId xmlns:p14="http://schemas.microsoft.com/office/powerpoint/2010/main" val="33276346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CRUD Operations in </a:t>
            </a:r>
            <a:r>
              <a:rPr lang="en-US" b="1" dirty="0" err="1"/>
              <a:t>Redis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916561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Bulk operations: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Key Operations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MSET (Multiple SET)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nn-NO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MSET gog http://www.google.com yah http://www.yahoo.com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148052" y="1858297"/>
            <a:ext cx="4355690" cy="4269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MGET (Multiple GET)</a:t>
            </a:r>
          </a:p>
          <a:p>
            <a:pPr>
              <a:lnSpc>
                <a:spcPct val="2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MGET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yah</a:t>
            </a:r>
          </a:p>
          <a:p>
            <a:pPr>
              <a:lnSpc>
                <a:spcPct val="20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>
              <a:lnSpc>
                <a:spcPct val="2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"http://www.google.com/"</a:t>
            </a:r>
          </a:p>
          <a:p>
            <a:pPr>
              <a:lnSpc>
                <a:spcPct val="2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"http://www.yahoo.com/"</a:t>
            </a:r>
          </a:p>
        </p:txBody>
      </p:sp>
    </p:spTree>
    <p:extLst>
      <p:ext uri="{BB962C8B-B14F-4D97-AF65-F5344CB8AC3E}">
        <p14:creationId xmlns:p14="http://schemas.microsoft.com/office/powerpoint/2010/main" val="36002004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Integer Operations 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Redis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523271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INCR (Increment by 1)</a:t>
            </a:r>
          </a:p>
          <a:p>
            <a:pPr marL="0" indent="0">
              <a:buNone/>
            </a:pPr>
            <a:r>
              <a:rPr lang="en-US" dirty="0"/>
              <a:t>SET count 2</a:t>
            </a:r>
          </a:p>
          <a:p>
            <a:pPr marL="0" indent="0">
              <a:buNone/>
            </a:pPr>
            <a:r>
              <a:rPr lang="en-US" dirty="0"/>
              <a:t>INCR count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INCRBY (Increment by specific value)</a:t>
            </a:r>
          </a:p>
          <a:p>
            <a:pPr marL="0" indent="0">
              <a:buNone/>
            </a:pPr>
            <a:r>
              <a:rPr lang="en-US" dirty="0"/>
              <a:t>INCRBY count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84258" y="1818968"/>
            <a:ext cx="4404852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DECR / DECRBY</a:t>
            </a:r>
          </a:p>
          <a:p>
            <a:pPr>
              <a:lnSpc>
                <a:spcPct val="2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DECR count</a:t>
            </a:r>
          </a:p>
          <a:p>
            <a:pPr>
              <a:lnSpc>
                <a:spcPct val="2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DECRBY count 2</a:t>
            </a:r>
          </a:p>
        </p:txBody>
      </p:sp>
    </p:spTree>
    <p:extLst>
      <p:ext uri="{BB962C8B-B14F-4D97-AF65-F5344CB8AC3E}">
        <p14:creationId xmlns:p14="http://schemas.microsoft.com/office/powerpoint/2010/main" val="27357622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Error Handling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value is not an integer: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bad_count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"a"</a:t>
            </a:r>
          </a:p>
          <a:p>
            <a:pPr marL="457200" lvl="1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bad_count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ERROR: value is not an integer</a:t>
            </a:r>
          </a:p>
        </p:txBody>
      </p:sp>
    </p:spTree>
    <p:extLst>
      <p:ext uri="{BB962C8B-B14F-4D97-AF65-F5344CB8AC3E}">
        <p14:creationId xmlns:p14="http://schemas.microsoft.com/office/powerpoint/2010/main" val="22675913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UPDATE and DELETE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Redis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not have a separate UPDATE command</a:t>
            </a:r>
          </a:p>
          <a:p>
            <a:pPr marL="457200" lvl="1" indent="0">
              <a:buNone/>
            </a:pP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key </a:t>
            </a:r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new_value</a:t>
            </a: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Example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2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7wks http://old.com</a:t>
            </a:r>
          </a:p>
          <a:p>
            <a:pPr marL="914400" lvl="2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7wks http://new.com   ← updates value</a:t>
            </a:r>
          </a:p>
          <a:p>
            <a:pPr marL="914400" lvl="2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Delete-</a:t>
            </a:r>
          </a:p>
          <a:p>
            <a:pPr marL="457200" lvl="1" indent="0">
              <a:buNone/>
            </a:pP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DEL key</a:t>
            </a:r>
          </a:p>
          <a:p>
            <a:pPr marL="914400" lvl="2" indent="0">
              <a:buNone/>
            </a:pP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914400" lvl="2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 7wks</a:t>
            </a:r>
          </a:p>
        </p:txBody>
      </p:sp>
    </p:spTree>
    <p:extLst>
      <p:ext uri="{BB962C8B-B14F-4D97-AF65-F5344CB8AC3E}">
        <p14:creationId xmlns:p14="http://schemas.microsoft.com/office/powerpoint/2010/main" val="29219190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Redis</a:t>
            </a:r>
            <a:r>
              <a:rPr lang="en-US" b="1" dirty="0"/>
              <a:t> Transactions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group of commands that are executed: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together OR not at all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partial execution.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consistency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62063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Redis</a:t>
            </a:r>
            <a:r>
              <a:rPr lang="en-US" b="1" dirty="0"/>
              <a:t> Transactions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589901"/>
            <a:ext cx="4969630" cy="2954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Redis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uses: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 → start transaction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EXEC → execute all commands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96000" y="1690688"/>
            <a:ext cx="557489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>
              <a:lnSpc>
                <a:spcPct val="20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</a:t>
            </a:r>
          </a:p>
          <a:p>
            <a:pPr>
              <a:lnSpc>
                <a:spcPct val="2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prag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http://pragprog.com</a:t>
            </a:r>
          </a:p>
          <a:p>
            <a:pPr>
              <a:lnSpc>
                <a:spcPct val="2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 count</a:t>
            </a:r>
          </a:p>
          <a:p>
            <a:pPr>
              <a:lnSpc>
                <a:spcPct val="2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</a:t>
            </a:r>
          </a:p>
        </p:txBody>
      </p:sp>
    </p:spTree>
    <p:extLst>
      <p:ext uri="{BB962C8B-B14F-4D97-AF65-F5344CB8AC3E}">
        <p14:creationId xmlns:p14="http://schemas.microsoft.com/office/powerpoint/2010/main" val="8470047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Redis</a:t>
            </a:r>
            <a:r>
              <a:rPr lang="en-US" b="1" dirty="0"/>
              <a:t> Transactions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2020788"/>
            <a:ext cx="3607526" cy="2092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Transactions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96000" y="1690688"/>
            <a:ext cx="5574890" cy="14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>
              <a:lnSpc>
                <a:spcPct val="20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Transactions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lvl="1">
              <a:lnSpc>
                <a:spcPct val="200000"/>
              </a:lnSpc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4826" y="2614418"/>
            <a:ext cx="3657600" cy="10668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4826" y="3836731"/>
            <a:ext cx="3205316" cy="21145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" y="3067228"/>
            <a:ext cx="4686300" cy="10096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4300893"/>
            <a:ext cx="1676400" cy="11525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60206" y="6135329"/>
            <a:ext cx="6961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Redis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transactions are queued first, executed later</a:t>
            </a:r>
          </a:p>
        </p:txBody>
      </p:sp>
    </p:spTree>
    <p:extLst>
      <p:ext uri="{BB962C8B-B14F-4D97-AF65-F5344CB8AC3E}">
        <p14:creationId xmlns:p14="http://schemas.microsoft.com/office/powerpoint/2010/main" val="6526243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Redis</a:t>
            </a:r>
            <a:r>
              <a:rPr lang="en-US" b="1" dirty="0"/>
              <a:t> Transactions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346587" y="1589901"/>
            <a:ext cx="7249100" cy="2954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Cancelling a Transaction:</a:t>
            </a: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dirty="0"/>
              <a:t>If you don’t want to execute queued commands:</a:t>
            </a: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DISCARD</a:t>
            </a:r>
            <a:endParaRPr kumimoji="0" lang="en-US" altLang="en-US" b="1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04801" y="3926820"/>
            <a:ext cx="57911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>
              <a:lnSpc>
                <a:spcPct val="20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lvl="1">
              <a:lnSpc>
                <a:spcPct val="200000"/>
              </a:lnSpc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r="41744" b="24572"/>
          <a:stretch/>
        </p:blipFill>
        <p:spPr>
          <a:xfrm>
            <a:off x="913612" y="4605892"/>
            <a:ext cx="2822646" cy="195458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4897" y="4544556"/>
            <a:ext cx="3212690" cy="169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9529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838200" y="-72251"/>
            <a:ext cx="7404591" cy="68326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Task 1: Using MSET and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MGET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MSET to store the following student details: </a:t>
            </a:r>
          </a:p>
          <a:p>
            <a:pPr marL="457200" marR="0" lvl="1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 001 → name: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department: CSE, age: 20 </a:t>
            </a:r>
          </a:p>
          <a:p>
            <a:pPr marL="457200" marR="0" lvl="1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 002 → name: ram, department: ECE, age: 21 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Retrieve all details of: </a:t>
            </a:r>
          </a:p>
          <a:p>
            <a:pPr marL="457200" marR="0" lvl="1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 001 </a:t>
            </a:r>
          </a:p>
          <a:p>
            <a:pPr marL="457200" marR="0" lvl="1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 002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34872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838200" y="989579"/>
            <a:ext cx="8413955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Task 1: Using MSET</a:t>
            </a: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MSET 001:name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sam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001:dept CSE 001:age 20 </a:t>
            </a: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MSET 002:name ram 002:dept ECE 002:age 21</a:t>
            </a: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MGET 001:name 001:dept 001:age</a:t>
            </a: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MGET 002:name 002:dept 002:age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91863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 noChangeArrowheads="1"/>
          </p:cNvSpPr>
          <p:nvPr>
            <p:ph idx="1"/>
          </p:nvPr>
        </p:nvSpPr>
        <p:spPr bwMode="auto">
          <a:xfrm>
            <a:off x="867697" y="259051"/>
            <a:ext cx="8423787" cy="6740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Task: Using MSET and MGET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MSET to store the following details: </a:t>
            </a:r>
          </a:p>
          <a:p>
            <a:pPr marL="457200" marR="0" lvl="1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CSDS department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(Student 001): </a:t>
            </a:r>
          </a:p>
          <a:p>
            <a:pPr marL="914400" marR="0" lvl="2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name: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914400" marR="0" lvl="2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age: 20 </a:t>
            </a:r>
          </a:p>
          <a:p>
            <a:pPr marL="457200" marR="0" lvl="1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AIDS department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(Student 001): </a:t>
            </a:r>
          </a:p>
          <a:p>
            <a:pPr marL="914400" marR="0" lvl="2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name: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914400" marR="0" lvl="2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age: 20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685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 noChangeArrowheads="1"/>
          </p:cNvSpPr>
          <p:nvPr>
            <p:ph idx="1"/>
          </p:nvPr>
        </p:nvSpPr>
        <p:spPr bwMode="auto">
          <a:xfrm>
            <a:off x="966020" y="668957"/>
            <a:ext cx="8423787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Task: Using MSET and MGET</a:t>
            </a: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MSET csds:001:name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sam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csds:001:age 20</a:t>
            </a: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MSET aids:001:name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sam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aids:001:age 20</a:t>
            </a: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MGET csds:001:name csds:001:age</a:t>
            </a: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MGET aids:001:name aids:001:age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62358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5684" y="2764195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Complex Datatypes</a:t>
            </a:r>
          </a:p>
        </p:txBody>
      </p:sp>
    </p:spTree>
    <p:extLst>
      <p:ext uri="{BB962C8B-B14F-4D97-AF65-F5344CB8AC3E}">
        <p14:creationId xmlns:p14="http://schemas.microsoft.com/office/powerpoint/2010/main" val="17344339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53961"/>
            <a:ext cx="10515600" cy="5823002"/>
          </a:xfrm>
        </p:spPr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Redis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not just for strings and integers.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supports complex datatypes: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Lists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Hashes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Sets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Sorted Sets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allow handling real-world data efficiently.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key can store huge data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 to 2³² (~4 billion elements)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one key can hold massive collections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89922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53961"/>
            <a:ext cx="10515600" cy="582300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Command Naming Pattern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8908431"/>
              </p:ext>
            </p:extLst>
          </p:nvPr>
        </p:nvGraphicFramePr>
        <p:xfrm>
          <a:off x="838200" y="1537330"/>
          <a:ext cx="10515600" cy="219456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12502403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66420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Prefix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14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SET, GET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96882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38429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Hashes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63006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Sorted Sets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723046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Lists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L... (left), R... (right)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29079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60146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HASH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1" y="1355661"/>
            <a:ext cx="5188974" cy="381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one key per student:</a:t>
            </a: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HMSET 001 name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sam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CSE</a:t>
            </a: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HMSET 002 name ram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ECE</a:t>
            </a:r>
          </a:p>
          <a:p>
            <a:pPr marL="457200" lvl="1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001 → { name: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sam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CSE }</a:t>
            </a:r>
          </a:p>
          <a:p>
            <a:pPr marL="457200" lvl="1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002 → { name: ram,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ECE }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558115" y="1986116"/>
            <a:ext cx="512260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HGET 001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→ CSE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HGETALL 001     → all details</a:t>
            </a:r>
          </a:p>
        </p:txBody>
      </p:sp>
    </p:spTree>
    <p:extLst>
      <p:ext uri="{BB962C8B-B14F-4D97-AF65-F5344CB8AC3E}">
        <p14:creationId xmlns:p14="http://schemas.microsoft.com/office/powerpoint/2010/main" val="13441908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Task: </a:t>
            </a:r>
            <a:r>
              <a:rPr lang="en-US" b="1" dirty="0" err="1"/>
              <a:t>Redis</a:t>
            </a:r>
            <a:r>
              <a:rPr lang="en-US" b="1" dirty="0"/>
              <a:t> Hash – Product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/>
              <a:t>Create Product using Hash</a:t>
            </a:r>
          </a:p>
          <a:p>
            <a:r>
              <a:rPr lang="en-US" dirty="0"/>
              <a:t>Create a product with ID </a:t>
            </a:r>
            <a:r>
              <a:rPr lang="en-US" b="1" dirty="0"/>
              <a:t>101</a:t>
            </a:r>
            <a:r>
              <a:rPr lang="en-US" dirty="0"/>
              <a:t> using </a:t>
            </a:r>
            <a:r>
              <a:rPr lang="en-US" dirty="0" err="1"/>
              <a:t>Redis</a:t>
            </a:r>
            <a:r>
              <a:rPr lang="en-US" dirty="0"/>
              <a:t> Hash with the following fields: </a:t>
            </a:r>
          </a:p>
          <a:p>
            <a:pPr lvl="1"/>
            <a:r>
              <a:rPr lang="en-US" dirty="0"/>
              <a:t>name → Laptop </a:t>
            </a:r>
          </a:p>
          <a:p>
            <a:pPr lvl="1"/>
            <a:r>
              <a:rPr lang="en-US" dirty="0"/>
              <a:t>price → 60000 </a:t>
            </a:r>
          </a:p>
          <a:p>
            <a:pPr lvl="1"/>
            <a:r>
              <a:rPr lang="en-US" dirty="0"/>
              <a:t>category → Electronics </a:t>
            </a:r>
          </a:p>
          <a:p>
            <a:pPr lvl="1"/>
            <a:r>
              <a:rPr lang="en-US" dirty="0"/>
              <a:t>stock → 10 </a:t>
            </a:r>
          </a:p>
          <a:p>
            <a:r>
              <a:rPr lang="en-US" dirty="0"/>
              <a:t>Create another product with ID </a:t>
            </a:r>
            <a:r>
              <a:rPr lang="en-US" b="1" dirty="0"/>
              <a:t>102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name → Mobile </a:t>
            </a:r>
          </a:p>
          <a:p>
            <a:pPr lvl="1"/>
            <a:r>
              <a:rPr lang="en-US" dirty="0"/>
              <a:t>price → 20000 </a:t>
            </a:r>
          </a:p>
          <a:p>
            <a:pPr lvl="1"/>
            <a:r>
              <a:rPr lang="en-US" dirty="0"/>
              <a:t>category → Electronics </a:t>
            </a:r>
          </a:p>
          <a:p>
            <a:pPr lvl="1"/>
            <a:r>
              <a:rPr lang="en-US" dirty="0"/>
              <a:t>stock → 25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68159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Task: </a:t>
            </a:r>
            <a:r>
              <a:rPr lang="en-US" b="1" dirty="0" err="1"/>
              <a:t>Redis</a:t>
            </a:r>
            <a:r>
              <a:rPr lang="en-US" b="1" dirty="0"/>
              <a:t> Hash – Product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HMSET 101 name Laptop price 60000 category Electronics stock 10</a:t>
            </a:r>
          </a:p>
          <a:p>
            <a:pPr marL="0" indent="0">
              <a:buNone/>
            </a:pPr>
            <a:r>
              <a:rPr lang="en-US" dirty="0"/>
              <a:t>HMSET 102 name Mobile price 20000 category Electronics stock 25</a:t>
            </a:r>
          </a:p>
        </p:txBody>
      </p:sp>
    </p:spTree>
    <p:extLst>
      <p:ext uri="{BB962C8B-B14F-4D97-AF65-F5344CB8AC3E}">
        <p14:creationId xmlns:p14="http://schemas.microsoft.com/office/powerpoint/2010/main" val="4717450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Task: </a:t>
            </a:r>
            <a:r>
              <a:rPr lang="en-US" b="1" dirty="0" err="1"/>
              <a:t>Redis</a:t>
            </a:r>
            <a:r>
              <a:rPr lang="en-US" b="1" dirty="0"/>
              <a:t> Hash – Product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Read Operations</a:t>
            </a:r>
          </a:p>
          <a:p>
            <a:r>
              <a:rPr lang="en-US" dirty="0"/>
              <a:t>Retrieve all details of product 101 </a:t>
            </a:r>
          </a:p>
          <a:p>
            <a:r>
              <a:rPr lang="en-US" dirty="0"/>
              <a:t>Retrieve only the price of product 102 </a:t>
            </a:r>
          </a:p>
          <a:p>
            <a:r>
              <a:rPr lang="en-US" dirty="0"/>
              <a:t>Display all field names of product 101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44347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Task: </a:t>
            </a:r>
            <a:r>
              <a:rPr lang="en-US" b="1" dirty="0" err="1"/>
              <a:t>Redis</a:t>
            </a:r>
            <a:r>
              <a:rPr lang="en-US" b="1" dirty="0"/>
              <a:t> Hash – Product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HGETALL 101</a:t>
            </a:r>
          </a:p>
          <a:p>
            <a:pPr marL="0" indent="0">
              <a:buNone/>
            </a:pPr>
            <a:r>
              <a:rPr lang="en-US" dirty="0"/>
              <a:t>HGET 102 price</a:t>
            </a:r>
          </a:p>
          <a:p>
            <a:pPr marL="0" indent="0">
              <a:buNone/>
            </a:pPr>
            <a:r>
              <a:rPr lang="en-US" dirty="0"/>
              <a:t>HKEYS 101</a:t>
            </a:r>
          </a:p>
        </p:txBody>
      </p:sp>
    </p:spTree>
    <p:extLst>
      <p:ext uri="{BB962C8B-B14F-4D97-AF65-F5344CB8AC3E}">
        <p14:creationId xmlns:p14="http://schemas.microsoft.com/office/powerpoint/2010/main" val="38337048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Task: </a:t>
            </a:r>
            <a:r>
              <a:rPr lang="en-US" b="1" dirty="0" err="1"/>
              <a:t>Redis</a:t>
            </a:r>
            <a:r>
              <a:rPr lang="en-US" b="1" dirty="0"/>
              <a:t> Hash – Product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Update Operations</a:t>
            </a:r>
          </a:p>
          <a:p>
            <a:r>
              <a:rPr lang="en-US" dirty="0"/>
              <a:t>Update the </a:t>
            </a:r>
            <a:r>
              <a:rPr lang="en-US" b="1" dirty="0"/>
              <a:t>price</a:t>
            </a:r>
            <a:r>
              <a:rPr lang="en-US" dirty="0"/>
              <a:t> of product 101 to 55000 </a:t>
            </a:r>
          </a:p>
          <a:p>
            <a:r>
              <a:rPr lang="en-US" dirty="0"/>
              <a:t>Increase the </a:t>
            </a:r>
            <a:r>
              <a:rPr lang="en-US" b="1" dirty="0"/>
              <a:t>stock</a:t>
            </a:r>
            <a:r>
              <a:rPr lang="en-US" dirty="0"/>
              <a:t> of product 102 by 5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9072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Task: </a:t>
            </a:r>
            <a:r>
              <a:rPr lang="en-US" b="1" dirty="0" err="1"/>
              <a:t>Redis</a:t>
            </a:r>
            <a:r>
              <a:rPr lang="en-US" b="1" dirty="0"/>
              <a:t> Hash – Product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Update Operations</a:t>
            </a:r>
          </a:p>
          <a:p>
            <a:r>
              <a:rPr lang="en-US" dirty="0"/>
              <a:t>Update the </a:t>
            </a:r>
            <a:r>
              <a:rPr lang="en-US" b="1" dirty="0"/>
              <a:t>price</a:t>
            </a:r>
            <a:r>
              <a:rPr lang="en-US" dirty="0"/>
              <a:t> of product 101 to 55000 </a:t>
            </a:r>
          </a:p>
          <a:p>
            <a:r>
              <a:rPr lang="en-US" dirty="0"/>
              <a:t>Increase the </a:t>
            </a:r>
            <a:r>
              <a:rPr lang="en-US" b="1" dirty="0"/>
              <a:t>stock</a:t>
            </a:r>
            <a:r>
              <a:rPr lang="en-US" dirty="0"/>
              <a:t> of product 102 by 5</a:t>
            </a:r>
          </a:p>
          <a:p>
            <a:endParaRPr lang="en-US" dirty="0"/>
          </a:p>
          <a:p>
            <a:r>
              <a:rPr lang="en-US" dirty="0"/>
              <a:t>HSET 101 price 55000</a:t>
            </a:r>
          </a:p>
          <a:p>
            <a:r>
              <a:rPr lang="en-US" dirty="0"/>
              <a:t>HINCRBY 102 stock 5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3976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Task: </a:t>
            </a:r>
            <a:r>
              <a:rPr lang="en-US" b="1" dirty="0" err="1"/>
              <a:t>Redis</a:t>
            </a:r>
            <a:r>
              <a:rPr lang="en-US" b="1" dirty="0"/>
              <a:t> Hash – Product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Delete Operations</a:t>
            </a:r>
          </a:p>
          <a:p>
            <a:r>
              <a:rPr lang="en-US" dirty="0"/>
              <a:t>Delete the category field of product 101 </a:t>
            </a:r>
          </a:p>
          <a:p>
            <a:r>
              <a:rPr lang="en-US" dirty="0"/>
              <a:t>Retrieve all details of product 101 after deletion </a:t>
            </a:r>
          </a:p>
          <a:p>
            <a:r>
              <a:rPr lang="en-US" dirty="0"/>
              <a:t>Delete the entire product 102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9214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Task: </a:t>
            </a:r>
            <a:r>
              <a:rPr lang="en-US" b="1" dirty="0" err="1"/>
              <a:t>Redis</a:t>
            </a:r>
            <a:r>
              <a:rPr lang="en-US" b="1" dirty="0"/>
              <a:t> Hash – Product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HDEL 101 category</a:t>
            </a:r>
          </a:p>
          <a:p>
            <a:r>
              <a:rPr lang="en-US" dirty="0"/>
              <a:t>HGETALL 101</a:t>
            </a:r>
          </a:p>
          <a:p>
            <a:r>
              <a:rPr lang="en-US" dirty="0"/>
              <a:t>DEL 102</a:t>
            </a:r>
          </a:p>
        </p:txBody>
      </p:sp>
    </p:spTree>
    <p:extLst>
      <p:ext uri="{BB962C8B-B14F-4D97-AF65-F5344CB8AC3E}">
        <p14:creationId xmlns:p14="http://schemas.microsoft.com/office/powerpoint/2010/main" val="10054342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66684"/>
            <a:ext cx="10515600" cy="481027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RPUSH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list A B C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Adds elements to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 (end)</a:t>
            </a: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RPUSH list A   → [A]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RPUSH list B   → [A, B]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RPUSH list C   → [A, B, C]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= Right = End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Think like a queue: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People join at the end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person stays at front (index 0)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68263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66684"/>
            <a:ext cx="10515600" cy="48102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Redis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processes values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left → right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but keeps inserting at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left side each time</a:t>
            </a: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LPUSH list A   → [A]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LPUSH list B   → [B, A]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LPUSH list C   → [C, B, A]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[C, B, A]</a:t>
            </a:r>
          </a:p>
        </p:txBody>
      </p:sp>
    </p:spTree>
    <p:extLst>
      <p:ext uri="{BB962C8B-B14F-4D97-AF65-F5344CB8AC3E}">
        <p14:creationId xmlns:p14="http://schemas.microsoft.com/office/powerpoint/2010/main" val="15845016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71663"/>
            <a:ext cx="10515600" cy="489964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RPUSH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mylist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B C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LINDEX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mylist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LPUSH mylist1 A B C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LINDEX mylist1 0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LRANGE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mylist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0 -1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LRANGE mylist1 0 -1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LINDEX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mylist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-1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140523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LIST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3455743"/>
              </p:ext>
            </p:extLst>
          </p:nvPr>
        </p:nvGraphicFramePr>
        <p:xfrm>
          <a:off x="385916" y="1602223"/>
          <a:ext cx="10515600" cy="277368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48719953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1348073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165176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LPUSH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insert at left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74288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RPUSH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insert at right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43310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LPOP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remove from left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8200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RPOP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remove from right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00003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LINDEX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List Index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8305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LRANGE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List Range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52063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879441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RPUSH </a:t>
            </a:r>
            <a:r>
              <a:rPr lang="en-US" dirty="0" err="1"/>
              <a:t>mylist</a:t>
            </a:r>
            <a:r>
              <a:rPr lang="en-US" dirty="0"/>
              <a:t> A B C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LPOP </a:t>
            </a:r>
            <a:r>
              <a:rPr lang="en-US" dirty="0" err="1"/>
              <a:t>mylist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LRANGE </a:t>
            </a:r>
            <a:r>
              <a:rPr lang="en-US" dirty="0" err="1"/>
              <a:t>mylist</a:t>
            </a:r>
            <a:r>
              <a:rPr lang="en-US" dirty="0"/>
              <a:t> 0 -1</a:t>
            </a:r>
          </a:p>
        </p:txBody>
      </p:sp>
    </p:spTree>
    <p:extLst>
      <p:ext uri="{BB962C8B-B14F-4D97-AF65-F5344CB8AC3E}">
        <p14:creationId xmlns:p14="http://schemas.microsoft.com/office/powerpoint/2010/main" val="86643060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RPUSH </a:t>
            </a:r>
            <a:r>
              <a:rPr lang="en-US" dirty="0" err="1"/>
              <a:t>mylist</a:t>
            </a:r>
            <a:r>
              <a:rPr lang="en-US" dirty="0"/>
              <a:t> A B C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RPOP </a:t>
            </a:r>
            <a:r>
              <a:rPr lang="en-US" dirty="0" err="1"/>
              <a:t>mylist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LRANGE </a:t>
            </a:r>
            <a:r>
              <a:rPr lang="en-US" dirty="0" err="1"/>
              <a:t>mylist</a:t>
            </a:r>
            <a:r>
              <a:rPr lang="en-US" dirty="0"/>
              <a:t> 0 -1</a:t>
            </a:r>
          </a:p>
        </p:txBody>
      </p:sp>
    </p:spTree>
    <p:extLst>
      <p:ext uri="{BB962C8B-B14F-4D97-AF65-F5344CB8AC3E}">
        <p14:creationId xmlns:p14="http://schemas.microsoft.com/office/powerpoint/2010/main" val="406365244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RPUSH </a:t>
            </a:r>
            <a:r>
              <a:rPr lang="en-US" dirty="0" err="1"/>
              <a:t>eric:wishlist</a:t>
            </a:r>
            <a:r>
              <a:rPr lang="en-US" dirty="0"/>
              <a:t> 7wks </a:t>
            </a:r>
            <a:r>
              <a:rPr lang="en-US" dirty="0" err="1"/>
              <a:t>gog</a:t>
            </a:r>
            <a:r>
              <a:rPr lang="en-US" dirty="0"/>
              <a:t> </a:t>
            </a:r>
            <a:r>
              <a:rPr lang="en-US" dirty="0" err="1"/>
              <a:t>prag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LRANGE </a:t>
            </a:r>
            <a:r>
              <a:rPr lang="en-US" dirty="0" err="1"/>
              <a:t>eric:wishlist</a:t>
            </a:r>
            <a:r>
              <a:rPr lang="en-US" dirty="0"/>
              <a:t> 0 -1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Length of List</a:t>
            </a:r>
          </a:p>
          <a:p>
            <a:pPr marL="0" indent="0">
              <a:buNone/>
            </a:pPr>
            <a:r>
              <a:rPr lang="en-US" dirty="0"/>
              <a:t>LLEN </a:t>
            </a:r>
            <a:r>
              <a:rPr lang="en-US" dirty="0" err="1"/>
              <a:t>eric:wishlist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Returns number of elements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22013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Remove Elements (LREM)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LREM </a:t>
            </a:r>
            <a:r>
              <a:rPr lang="en-US" dirty="0" err="1"/>
              <a:t>eric</a:t>
            </a:r>
            <a:r>
              <a:rPr lang="en-US" dirty="0"/>
              <a:t>: </a:t>
            </a:r>
            <a:r>
              <a:rPr lang="en-US" dirty="0" err="1"/>
              <a:t>wishlist</a:t>
            </a:r>
            <a:r>
              <a:rPr lang="en-US" dirty="0"/>
              <a:t> 0 </a:t>
            </a:r>
            <a:r>
              <a:rPr lang="en-US" dirty="0" err="1"/>
              <a:t>gog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Removes: All occurrences of "</a:t>
            </a:r>
            <a:r>
              <a:rPr lang="en-US" dirty="0" err="1"/>
              <a:t>gog</a:t>
            </a:r>
            <a:r>
              <a:rPr lang="en-US" dirty="0"/>
              <a:t>“</a:t>
            </a:r>
          </a:p>
          <a:p>
            <a:pPr marL="0" indent="0">
              <a:buNone/>
            </a:pPr>
            <a:r>
              <a:rPr lang="en-US" dirty="0"/>
              <a:t>Count parameter:</a:t>
            </a:r>
          </a:p>
          <a:p>
            <a:pPr marL="0" indent="0">
              <a:buNone/>
            </a:pPr>
            <a:r>
              <a:rPr lang="en-US" dirty="0"/>
              <a:t>0 → remove all matches</a:t>
            </a:r>
          </a:p>
          <a:p>
            <a:pPr marL="0" indent="0">
              <a:buNone/>
            </a:pPr>
            <a:r>
              <a:rPr lang="en-US" dirty="0"/>
              <a:t>&gt;0 → remove from left</a:t>
            </a:r>
          </a:p>
          <a:p>
            <a:pPr marL="0" indent="0">
              <a:buNone/>
            </a:pPr>
            <a:r>
              <a:rPr lang="en-US" dirty="0"/>
              <a:t>&lt;0 → remove from right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992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3468329" cy="435133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19431" y="1690688"/>
            <a:ext cx="673509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RPUSH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mylist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B C B D B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LRANGE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mylist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0 -1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LREM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mylist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 B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LRANGE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mylist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0 -1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27587" y="4119716"/>
            <a:ext cx="5919019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OUTPUT</a:t>
            </a:r>
          </a:p>
          <a:p>
            <a:endParaRPr lang="en-US" dirty="0"/>
          </a:p>
          <a:p>
            <a:r>
              <a:rPr lang="en-US" sz="2800" dirty="0"/>
              <a:t>A C D</a:t>
            </a:r>
          </a:p>
        </p:txBody>
      </p:sp>
    </p:spTree>
    <p:extLst>
      <p:ext uri="{BB962C8B-B14F-4D97-AF65-F5344CB8AC3E}">
        <p14:creationId xmlns:p14="http://schemas.microsoft.com/office/powerpoint/2010/main" val="9048294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3468329" cy="435133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19431" y="1690688"/>
            <a:ext cx="673509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Remove 2 B from LEFT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RPUSH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mylist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B C B D B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LRANGE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mylist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0 -1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LREM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mylist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B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LRANGE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mylist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0 -1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07922" y="4657100"/>
            <a:ext cx="5919019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OUTPUT</a:t>
            </a:r>
          </a:p>
          <a:p>
            <a:endParaRPr lang="en-US" dirty="0"/>
          </a:p>
          <a:p>
            <a:r>
              <a:rPr lang="en-US" sz="2800" dirty="0"/>
              <a:t>A C D B</a:t>
            </a:r>
          </a:p>
        </p:txBody>
      </p:sp>
    </p:spTree>
    <p:extLst>
      <p:ext uri="{BB962C8B-B14F-4D97-AF65-F5344CB8AC3E}">
        <p14:creationId xmlns:p14="http://schemas.microsoft.com/office/powerpoint/2010/main" val="384214524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3468329" cy="435133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19431" y="1690688"/>
            <a:ext cx="673509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Remove 2 B from RIGHT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RPUSH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mylist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B C B D B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LRANGE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mylist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0 -1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LREM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mylist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-2 B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LRANGE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mylist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0 -1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07922" y="4657100"/>
            <a:ext cx="5919019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OUTPUT</a:t>
            </a:r>
          </a:p>
          <a:p>
            <a:endParaRPr lang="en-US" dirty="0"/>
          </a:p>
          <a:p>
            <a:r>
              <a:rPr lang="en-US" sz="2800" dirty="0"/>
              <a:t>A B C D </a:t>
            </a:r>
          </a:p>
        </p:txBody>
      </p:sp>
    </p:spTree>
    <p:extLst>
      <p:ext uri="{BB962C8B-B14F-4D97-AF65-F5344CB8AC3E}">
        <p14:creationId xmlns:p14="http://schemas.microsoft.com/office/powerpoint/2010/main" val="197253572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3468329" cy="435133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880405" y="1690688"/>
            <a:ext cx="7827784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LREM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mylist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 B → remove all B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LREM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mylist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B → remove 2 B from left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LREM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mylist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-2 B → remove 2 B from right </a:t>
            </a:r>
          </a:p>
        </p:txBody>
      </p:sp>
    </p:spTree>
    <p:extLst>
      <p:ext uri="{BB962C8B-B14F-4D97-AF65-F5344CB8AC3E}">
        <p14:creationId xmlns:p14="http://schemas.microsoft.com/office/powerpoint/2010/main" val="371176170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 Behavior (FIFO)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 Behavior (LIFO)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3032034"/>
              </p:ext>
            </p:extLst>
          </p:nvPr>
        </p:nvGraphicFramePr>
        <p:xfrm>
          <a:off x="838200" y="3086894"/>
          <a:ext cx="10515600" cy="1828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11422046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1684608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Behavior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55921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RPUSH + LPOP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Queue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82702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LPUSH + RPOP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Queue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26221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RPUSH + RPOP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76949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LPUSH + LPOP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46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334233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RPUSH </a:t>
            </a:r>
            <a:r>
              <a:rPr lang="en-US" dirty="0" err="1"/>
              <a:t>eric:wishlist</a:t>
            </a:r>
            <a:r>
              <a:rPr lang="en-US" dirty="0"/>
              <a:t> 7wks </a:t>
            </a:r>
            <a:r>
              <a:rPr lang="en-US" dirty="0" err="1"/>
              <a:t>gog</a:t>
            </a:r>
            <a:r>
              <a:rPr lang="en-US" dirty="0"/>
              <a:t> </a:t>
            </a:r>
            <a:r>
              <a:rPr lang="en-US" dirty="0" err="1"/>
              <a:t>prag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LRANGE </a:t>
            </a:r>
            <a:r>
              <a:rPr lang="en-US" dirty="0" err="1"/>
              <a:t>eric:wishlist</a:t>
            </a:r>
            <a:r>
              <a:rPr lang="en-US" dirty="0"/>
              <a:t> 0 -1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RPOPLPUSH </a:t>
            </a:r>
            <a:r>
              <a:rPr lang="en-US" dirty="0" err="1"/>
              <a:t>eric:wishlist</a:t>
            </a:r>
            <a:r>
              <a:rPr lang="en-US" dirty="0"/>
              <a:t> </a:t>
            </a:r>
            <a:r>
              <a:rPr lang="en-US" dirty="0" err="1"/>
              <a:t>eric:visited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LRANGE </a:t>
            </a:r>
            <a:r>
              <a:rPr lang="en-US" dirty="0" err="1"/>
              <a:t>eric:visited</a:t>
            </a:r>
            <a:r>
              <a:rPr lang="en-US" dirty="0"/>
              <a:t> 0 -1</a:t>
            </a:r>
          </a:p>
        </p:txBody>
      </p:sp>
    </p:spTree>
    <p:extLst>
      <p:ext uri="{BB962C8B-B14F-4D97-AF65-F5344CB8AC3E}">
        <p14:creationId xmlns:p14="http://schemas.microsoft.com/office/powerpoint/2010/main" val="80625662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3311013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RPOPLPUSH</a:t>
            </a:r>
          </a:p>
          <a:p>
            <a:pPr marL="0" indent="0">
              <a:buNone/>
            </a:pPr>
            <a:r>
              <a:rPr lang="en-US" dirty="0"/>
              <a:t>Removes from:</a:t>
            </a:r>
          </a:p>
          <a:p>
            <a:r>
              <a:rPr lang="en-US" b="1" dirty="0"/>
              <a:t>right (</a:t>
            </a:r>
            <a:r>
              <a:rPr lang="en-US" b="1" dirty="0" err="1"/>
              <a:t>wishlist</a:t>
            </a:r>
            <a:r>
              <a:rPr lang="en-US" b="1" dirty="0"/>
              <a:t>)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Adds to:</a:t>
            </a:r>
          </a:p>
          <a:p>
            <a:r>
              <a:rPr lang="en-US" b="1" dirty="0"/>
              <a:t>left (visited)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515897" y="1917290"/>
            <a:ext cx="495545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DO NOT exist: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LPOPLPUSH ❌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RPOPRPUSH ❌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50048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Blocking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Redis</a:t>
            </a:r>
            <a:r>
              <a:rPr lang="en-US" dirty="0"/>
              <a:t> gives you </a:t>
            </a:r>
            <a:r>
              <a:rPr lang="en-US" b="1" dirty="0"/>
              <a:t>two behaviors</a:t>
            </a:r>
            <a:r>
              <a:rPr lang="en-US" dirty="0"/>
              <a:t>:</a:t>
            </a:r>
          </a:p>
          <a:p>
            <a:r>
              <a:rPr lang="en-US" dirty="0"/>
              <a:t>Immediate response</a:t>
            </a:r>
          </a:p>
          <a:p>
            <a:r>
              <a:rPr lang="en-US" dirty="0"/>
              <a:t>Wait for data (real-time systems)</a:t>
            </a:r>
          </a:p>
          <a:p>
            <a:pPr marL="0" indent="0">
              <a:buNone/>
            </a:pPr>
            <a:r>
              <a:rPr lang="en-US" dirty="0"/>
              <a:t>So:</a:t>
            </a:r>
          </a:p>
          <a:p>
            <a:r>
              <a:rPr lang="en-US" dirty="0"/>
              <a:t>Without B → no waiting </a:t>
            </a:r>
          </a:p>
          <a:p>
            <a:r>
              <a:rPr lang="en-US" dirty="0"/>
              <a:t>With B → wait for data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Blocking — it makes </a:t>
            </a:r>
            <a:r>
              <a:rPr lang="en-US" b="1" dirty="0" err="1"/>
              <a:t>Redis</a:t>
            </a:r>
            <a:r>
              <a:rPr lang="en-US" b="1" dirty="0"/>
              <a:t> wait until data is available instead of returning immediately.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34946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Blocking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Compare Normal vs Blocking</a:t>
            </a:r>
          </a:p>
          <a:p>
            <a:r>
              <a:rPr lang="en-US" b="1" dirty="0"/>
              <a:t>Normal command</a:t>
            </a:r>
          </a:p>
          <a:p>
            <a:pPr marL="0" indent="0">
              <a:buNone/>
            </a:pPr>
            <a:r>
              <a:rPr lang="en-US" b="1" dirty="0"/>
              <a:t>RPOP comments</a:t>
            </a:r>
          </a:p>
          <a:p>
            <a:pPr marL="0" indent="0">
              <a:buNone/>
            </a:pPr>
            <a:r>
              <a:rPr lang="en-US" dirty="0"/>
              <a:t>If list is empty: nil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b="1" dirty="0"/>
              <a:t>Blocking command</a:t>
            </a:r>
          </a:p>
          <a:p>
            <a:pPr marL="0" indent="0">
              <a:buNone/>
            </a:pPr>
            <a:r>
              <a:rPr lang="en-US" b="1" dirty="0"/>
              <a:t>BRPOP comments 300</a:t>
            </a:r>
          </a:p>
          <a:p>
            <a:pPr marL="0" indent="0">
              <a:buNone/>
            </a:pPr>
            <a:r>
              <a:rPr lang="en-US" dirty="0"/>
              <a:t>If list is empty:</a:t>
            </a:r>
          </a:p>
          <a:p>
            <a:r>
              <a:rPr lang="en-US" b="1" dirty="0"/>
              <a:t>WAITS (blocks)</a:t>
            </a:r>
            <a:r>
              <a:rPr lang="en-US" dirty="0"/>
              <a:t> </a:t>
            </a:r>
          </a:p>
          <a:p>
            <a:r>
              <a:rPr lang="en-US" dirty="0"/>
              <a:t>until data comes or timeout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610475" y="4076631"/>
            <a:ext cx="31623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Same for Left</a:t>
            </a:r>
          </a:p>
          <a:p>
            <a:r>
              <a:rPr lang="en-US" dirty="0"/>
              <a:t>LPOP   → normal (no wait)</a:t>
            </a:r>
          </a:p>
          <a:p>
            <a:r>
              <a:rPr lang="en-US" dirty="0"/>
              <a:t>BLPOP  → blocking (wait)</a:t>
            </a:r>
          </a:p>
        </p:txBody>
      </p:sp>
    </p:spTree>
    <p:extLst>
      <p:ext uri="{BB962C8B-B14F-4D97-AF65-F5344CB8AC3E}">
        <p14:creationId xmlns:p14="http://schemas.microsoft.com/office/powerpoint/2010/main" val="188518600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Blocking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Terminal 1 (Digester)</a:t>
            </a:r>
          </a:p>
          <a:p>
            <a:pPr marL="0" indent="0">
              <a:buNone/>
            </a:pPr>
            <a:r>
              <a:rPr lang="en-US" b="1" dirty="0"/>
              <a:t>BRPOP comments 300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Terminal 2 (Producer)</a:t>
            </a:r>
          </a:p>
          <a:p>
            <a:pPr marL="0" indent="0">
              <a:buNone/>
            </a:pPr>
            <a:r>
              <a:rPr lang="en-US" b="1" dirty="0"/>
              <a:t>LPUSH comments "</a:t>
            </a:r>
            <a:r>
              <a:rPr lang="en-US" b="1" dirty="0" err="1"/>
              <a:t>Prag</a:t>
            </a:r>
            <a:r>
              <a:rPr lang="en-US" b="1" dirty="0"/>
              <a:t> is great!“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Terminal 1 wakes up and shows:</a:t>
            </a:r>
          </a:p>
          <a:p>
            <a:pPr marL="0" indent="0">
              <a:buNone/>
            </a:pPr>
            <a:r>
              <a:rPr lang="en-US" b="1" dirty="0"/>
              <a:t>1) "comments"</a:t>
            </a:r>
          </a:p>
          <a:p>
            <a:pPr marL="0" indent="0">
              <a:buNone/>
            </a:pPr>
            <a:r>
              <a:rPr lang="en-US" b="1" dirty="0"/>
              <a:t>2) "</a:t>
            </a:r>
            <a:r>
              <a:rPr lang="en-US" b="1" dirty="0" err="1"/>
              <a:t>Prag</a:t>
            </a:r>
            <a:r>
              <a:rPr lang="en-US" b="1" dirty="0"/>
              <a:t> is great!"</a:t>
            </a:r>
          </a:p>
          <a:p>
            <a:pPr marL="0" indent="0">
              <a:buNone/>
            </a:pPr>
            <a:r>
              <a:rPr lang="en-US" b="1" dirty="0"/>
              <a:t>(50.22s)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1687175" y="1971675"/>
            <a:ext cx="2019300" cy="1085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7671284"/>
              </p:ext>
            </p:extLst>
          </p:nvPr>
        </p:nvGraphicFramePr>
        <p:xfrm>
          <a:off x="6593450" y="4540250"/>
          <a:ext cx="4760350" cy="1097280"/>
        </p:xfrm>
        <a:graphic>
          <a:graphicData uri="http://schemas.openxmlformats.org/drawingml/2006/table">
            <a:tbl>
              <a:tblPr/>
              <a:tblGrid>
                <a:gridCol w="2380175">
                  <a:extLst>
                    <a:ext uri="{9D8B030D-6E8A-4147-A177-3AD203B41FA5}">
                      <a16:colId xmlns:a16="http://schemas.microsoft.com/office/drawing/2014/main" val="2048385899"/>
                    </a:ext>
                  </a:extLst>
                </a:gridCol>
                <a:gridCol w="2380175">
                  <a:extLst>
                    <a:ext uri="{9D8B030D-6E8A-4147-A177-3AD203B41FA5}">
                      <a16:colId xmlns:a16="http://schemas.microsoft.com/office/drawing/2014/main" val="1503037309"/>
                    </a:ext>
                  </a:extLst>
                </a:gridCol>
              </a:tblGrid>
              <a:tr h="307975">
                <a:tc>
                  <a:txBody>
                    <a:bodyPr/>
                    <a:lstStyle/>
                    <a:p>
                      <a:r>
                        <a:rPr lang="en-US" dirty="0"/>
                        <a:t>"comments"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key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54760723"/>
                  </a:ext>
                </a:extLst>
              </a:tr>
              <a:tr h="307975">
                <a:tc>
                  <a:txBody>
                    <a:bodyPr/>
                    <a:lstStyle/>
                    <a:p>
                      <a:r>
                        <a:rPr lang="en-US"/>
                        <a:t>"Prag is great!"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value popped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28735613"/>
                  </a:ext>
                </a:extLst>
              </a:tr>
              <a:tr h="307975">
                <a:tc>
                  <a:txBody>
                    <a:bodyPr/>
                    <a:lstStyle/>
                    <a:p>
                      <a:r>
                        <a:rPr lang="en-US"/>
                        <a:t>(50.22s)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time it waited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736727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38200" y="6176963"/>
            <a:ext cx="98107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simple real-time comment/queue system where users push messages and a worker waits and processes them using blocking commands.</a:t>
            </a:r>
          </a:p>
        </p:txBody>
      </p:sp>
    </p:spTree>
    <p:extLst>
      <p:ext uri="{BB962C8B-B14F-4D97-AF65-F5344CB8AC3E}">
        <p14:creationId xmlns:p14="http://schemas.microsoft.com/office/powerpoint/2010/main" val="69093833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store unique unordered values and are powerful for operations like union, intersection, and difference.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Set = collection of unique values (no duplicates)</a:t>
            </a:r>
            <a:r>
              <a:rPr lang="en-US" dirty="0"/>
              <a:t>.</a:t>
            </a:r>
          </a:p>
          <a:p>
            <a:r>
              <a:rPr lang="en-US" b="1" dirty="0"/>
              <a:t>Order does NOT matter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930382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742950" y="1550225"/>
            <a:ext cx="4349268" cy="3939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Adding values → SADD </a:t>
            </a:r>
          </a:p>
          <a:p>
            <a:pPr marL="0" lvl="0" indent="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SADD news nytimes.com pragprog.com</a:t>
            </a:r>
          </a:p>
          <a:p>
            <a:pPr marL="0" lvl="0" indent="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values → SMEMBERS</a:t>
            </a:r>
          </a:p>
          <a:p>
            <a:pPr marL="0" lvl="0" indent="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SMEMBERS news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0" y="2419675"/>
            <a:ext cx="46101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ONE MORE SET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SADD tech pragprog.com apple.com</a:t>
            </a:r>
          </a:p>
          <a:p>
            <a:pPr>
              <a:lnSpc>
                <a:spcPct val="2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news → {nytimes.com, pragprog.com}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 → {pragprog.com, apple.com}</a:t>
            </a:r>
          </a:p>
        </p:txBody>
      </p:sp>
    </p:spTree>
    <p:extLst>
      <p:ext uri="{BB962C8B-B14F-4D97-AF65-F5344CB8AC3E}">
        <p14:creationId xmlns:p14="http://schemas.microsoft.com/office/powerpoint/2010/main" val="285208559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771525" y="1265091"/>
            <a:ext cx="4815549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Intersection → SINTER </a:t>
            </a: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4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elements</a:t>
            </a: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SINTER news tech</a:t>
            </a: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Difference → SDIFF</a:t>
            </a: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“Remove common, show remaining”</a:t>
            </a: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SDIFF news tech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81824" y="2343150"/>
            <a:ext cx="458152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news → {nytimes.com, pragprog.com}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 → {pragprog.com, apple.com}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162143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81700" y="2343150"/>
            <a:ext cx="558164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news → {nytimes.com, pragprog.com}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 → {pragprog.com, apple.com}</a:t>
            </a:r>
          </a:p>
          <a:p>
            <a:pPr>
              <a:lnSpc>
                <a:spcPct val="2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websites → {apple.com, pragprog.com, nytimes.com}</a:t>
            </a:r>
          </a:p>
          <a:p>
            <a:endParaRPr lang="en-US" dirty="0"/>
          </a:p>
        </p:txBody>
      </p:sp>
      <p:sp>
        <p:nvSpPr>
          <p:cNvPr id="3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771524" y="1634364"/>
            <a:ext cx="5210176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Union → SUNION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1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Combine all (no duplicates)</a:t>
            </a: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SUNION news tech</a:t>
            </a: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result → SUNIONSTORE</a:t>
            </a: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SUNIONSTORE websites news tech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649146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81700" y="2343150"/>
            <a:ext cx="558164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news → {nytimes.com, pragprog.com}</a:t>
            </a:r>
          </a:p>
          <a:p>
            <a:pPr>
              <a:lnSpc>
                <a:spcPct val="200000"/>
              </a:lnSpc>
            </a:pP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news_copy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{nytimes.com, pragprog.com}</a:t>
            </a:r>
          </a:p>
          <a:p>
            <a:endParaRPr lang="en-US" dirty="0"/>
          </a:p>
        </p:txBody>
      </p:sp>
      <p:sp>
        <p:nvSpPr>
          <p:cNvPr id="3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771524" y="2059961"/>
            <a:ext cx="5210176" cy="36731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Clone a set</a:t>
            </a: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SUNIONSTORE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news_copy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news</a:t>
            </a: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 element → SMOVE</a:t>
            </a: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SMOVE news tech nytimes.com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81700" y="4572000"/>
            <a:ext cx="58293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 → {pragprog.com, apple.com,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nytimes.com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news → {pragprog.com}</a:t>
            </a:r>
          </a:p>
          <a:p>
            <a:pPr lvl="0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607956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73199"/>
            <a:ext cx="10515600" cy="5089525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 elements → SCARD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SCARD news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Returns number of elements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element → SREM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SREM news nytimes.com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 random element → SPOP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SPOP news</a:t>
            </a:r>
          </a:p>
        </p:txBody>
      </p:sp>
    </p:spTree>
    <p:extLst>
      <p:ext uri="{BB962C8B-B14F-4D97-AF65-F5344CB8AC3E}">
        <p14:creationId xmlns:p14="http://schemas.microsoft.com/office/powerpoint/2010/main" val="360437283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7789205"/>
              </p:ext>
            </p:extLst>
          </p:nvPr>
        </p:nvGraphicFramePr>
        <p:xfrm>
          <a:off x="838200" y="2904014"/>
          <a:ext cx="10515600" cy="219456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41574097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11489029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387503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List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71579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Order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49138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Duplicates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Allowed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 allowed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69943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Index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index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80179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Left/Right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44806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Blocking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 </a:t>
                      </a:r>
                      <a:r>
                        <a:rPr lang="en-US" dirty="0"/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70501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493060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6EE49-1CA0-4649-B533-97597AE51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Sorted 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503EFE-7CCA-4D09-BA14-88C4D20CA0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/>
              <a:t>Sorted Set (ZSET)</a:t>
            </a:r>
            <a:r>
              <a:rPr lang="en-US" dirty="0"/>
              <a:t> is: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Unique elements</a:t>
            </a:r>
            <a:r>
              <a:rPr lang="en-US" dirty="0"/>
              <a:t> (like a Set)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Ordered automatically</a:t>
            </a:r>
            <a:r>
              <a:rPr lang="en-US" dirty="0"/>
              <a:t> (like a List)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Each element has a </a:t>
            </a:r>
            <a:r>
              <a:rPr lang="en-US" b="1" dirty="0"/>
              <a:t>score (number)</a:t>
            </a: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421492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6EE49-1CA0-4649-B533-97597AE51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Sorted 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503EFE-7CCA-4D09-BA14-88C4D20CA0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3425" y="1447800"/>
            <a:ext cx="10515600" cy="49291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/>
              <a:t>Sorted Set (ZSET)</a:t>
            </a:r>
            <a:r>
              <a:rPr lang="en-US" dirty="0"/>
              <a:t> is: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Unique elements</a:t>
            </a:r>
            <a:r>
              <a:rPr lang="en-US" dirty="0"/>
              <a:t> (like a Set)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Ordered automatically</a:t>
            </a:r>
            <a:r>
              <a:rPr lang="en-US" dirty="0"/>
              <a:t> (like a List)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Each element has a </a:t>
            </a:r>
            <a:r>
              <a:rPr lang="en-US" b="1" dirty="0"/>
              <a:t>score (number)</a:t>
            </a:r>
          </a:p>
          <a:p>
            <a:pPr marL="0" indent="0">
              <a:buNone/>
            </a:pPr>
            <a:r>
              <a:rPr lang="en-US" b="1" dirty="0"/>
              <a:t>Example:</a:t>
            </a:r>
          </a:p>
          <a:p>
            <a:pPr marL="0" indent="0">
              <a:buNone/>
            </a:pPr>
            <a:r>
              <a:rPr lang="en-US" dirty="0"/>
              <a:t>member → score</a:t>
            </a: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7wks   → 500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gog</a:t>
            </a:r>
            <a:r>
              <a:rPr lang="en-US" dirty="0"/>
              <a:t>    → 9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prag</a:t>
            </a:r>
            <a:r>
              <a:rPr lang="en-US" dirty="0"/>
              <a:t>   → 9999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952298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6EE49-1CA0-4649-B533-97597AE51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Sorted 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503EFE-7CCA-4D09-BA14-88C4D20CA0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3425" y="1447800"/>
            <a:ext cx="10515600" cy="49291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Example: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ZADD visits 500 7wks 9 </a:t>
            </a:r>
            <a:r>
              <a:rPr lang="en-IN" dirty="0" err="1"/>
              <a:t>gog</a:t>
            </a:r>
            <a:r>
              <a:rPr lang="en-IN" dirty="0"/>
              <a:t> 9999 </a:t>
            </a:r>
            <a:r>
              <a:rPr lang="en-IN" dirty="0" err="1"/>
              <a:t>prag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87510CB-348E-4A81-BE84-BD93596CD4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8477586"/>
              </p:ext>
            </p:extLst>
          </p:nvPr>
        </p:nvGraphicFramePr>
        <p:xfrm>
          <a:off x="838200" y="3269774"/>
          <a:ext cx="10410826" cy="2140428"/>
        </p:xfrm>
        <a:graphic>
          <a:graphicData uri="http://schemas.openxmlformats.org/drawingml/2006/table">
            <a:tbl>
              <a:tblPr/>
              <a:tblGrid>
                <a:gridCol w="5205413">
                  <a:extLst>
                    <a:ext uri="{9D8B030D-6E8A-4147-A177-3AD203B41FA5}">
                      <a16:colId xmlns:a16="http://schemas.microsoft.com/office/drawing/2014/main" val="1673826369"/>
                    </a:ext>
                  </a:extLst>
                </a:gridCol>
                <a:gridCol w="5205413">
                  <a:extLst>
                    <a:ext uri="{9D8B030D-6E8A-4147-A177-3AD203B41FA5}">
                      <a16:colId xmlns:a16="http://schemas.microsoft.com/office/drawing/2014/main" val="3291722448"/>
                    </a:ext>
                  </a:extLst>
                </a:gridCol>
              </a:tblGrid>
              <a:tr h="535107">
                <a:tc>
                  <a:txBody>
                    <a:bodyPr/>
                    <a:lstStyle/>
                    <a:p>
                      <a:r>
                        <a:rPr lang="en-IN" b="1" dirty="0"/>
                        <a:t>Member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9478826"/>
                  </a:ext>
                </a:extLst>
              </a:tr>
              <a:tr h="535107">
                <a:tc>
                  <a:txBody>
                    <a:bodyPr/>
                    <a:lstStyle/>
                    <a:p>
                      <a:r>
                        <a:rPr lang="en-IN" dirty="0"/>
                        <a:t>7wks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500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5390368"/>
                  </a:ext>
                </a:extLst>
              </a:tr>
              <a:tr h="535107">
                <a:tc>
                  <a:txBody>
                    <a:bodyPr/>
                    <a:lstStyle/>
                    <a:p>
                      <a:r>
                        <a:rPr lang="en-IN" dirty="0" err="1"/>
                        <a:t>gog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61257"/>
                  </a:ext>
                </a:extLst>
              </a:tr>
              <a:tr h="535107">
                <a:tc>
                  <a:txBody>
                    <a:bodyPr/>
                    <a:lstStyle/>
                    <a:p>
                      <a:r>
                        <a:rPr lang="en-IN" dirty="0" err="1"/>
                        <a:t>prag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9999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97762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557658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6EE49-1CA0-4649-B533-97597AE51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Sorted 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503EFE-7CCA-4D09-BA14-88C4D20CA0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3425" y="1447800"/>
            <a:ext cx="10515600" cy="49291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Example:</a:t>
            </a:r>
          </a:p>
          <a:p>
            <a:pPr marL="0" indent="0">
              <a:buNone/>
            </a:pPr>
            <a:r>
              <a:rPr lang="en-IN" dirty="0"/>
              <a:t>ZADD visits 500 7wks 9 </a:t>
            </a:r>
            <a:r>
              <a:rPr lang="en-IN" dirty="0" err="1"/>
              <a:t>gog</a:t>
            </a:r>
            <a:r>
              <a:rPr lang="en-IN" dirty="0"/>
              <a:t> 9999 </a:t>
            </a:r>
            <a:r>
              <a:rPr lang="en-IN" dirty="0" err="1"/>
              <a:t>prag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87510CB-348E-4A81-BE84-BD93596CD4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0807634"/>
              </p:ext>
            </p:extLst>
          </p:nvPr>
        </p:nvGraphicFramePr>
        <p:xfrm>
          <a:off x="838200" y="2488724"/>
          <a:ext cx="10410826" cy="2140428"/>
        </p:xfrm>
        <a:graphic>
          <a:graphicData uri="http://schemas.openxmlformats.org/drawingml/2006/table">
            <a:tbl>
              <a:tblPr/>
              <a:tblGrid>
                <a:gridCol w="5205413">
                  <a:extLst>
                    <a:ext uri="{9D8B030D-6E8A-4147-A177-3AD203B41FA5}">
                      <a16:colId xmlns:a16="http://schemas.microsoft.com/office/drawing/2014/main" val="1673826369"/>
                    </a:ext>
                  </a:extLst>
                </a:gridCol>
                <a:gridCol w="5205413">
                  <a:extLst>
                    <a:ext uri="{9D8B030D-6E8A-4147-A177-3AD203B41FA5}">
                      <a16:colId xmlns:a16="http://schemas.microsoft.com/office/drawing/2014/main" val="3291722448"/>
                    </a:ext>
                  </a:extLst>
                </a:gridCol>
              </a:tblGrid>
              <a:tr h="535107">
                <a:tc>
                  <a:txBody>
                    <a:bodyPr/>
                    <a:lstStyle/>
                    <a:p>
                      <a:r>
                        <a:rPr lang="en-IN" b="1" dirty="0"/>
                        <a:t>Member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9478826"/>
                  </a:ext>
                </a:extLst>
              </a:tr>
              <a:tr h="535107">
                <a:tc>
                  <a:txBody>
                    <a:bodyPr/>
                    <a:lstStyle/>
                    <a:p>
                      <a:r>
                        <a:rPr lang="en-IN" dirty="0"/>
                        <a:t>7wks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500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5390368"/>
                  </a:ext>
                </a:extLst>
              </a:tr>
              <a:tr h="535107">
                <a:tc>
                  <a:txBody>
                    <a:bodyPr/>
                    <a:lstStyle/>
                    <a:p>
                      <a:r>
                        <a:rPr lang="en-IN" dirty="0" err="1"/>
                        <a:t>gog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61257"/>
                  </a:ext>
                </a:extLst>
              </a:tr>
              <a:tr h="535107">
                <a:tc>
                  <a:txBody>
                    <a:bodyPr/>
                    <a:lstStyle/>
                    <a:p>
                      <a:r>
                        <a:rPr lang="en-IN" dirty="0" err="1"/>
                        <a:t>prag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9999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977628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5E18003-816E-47DF-93BA-7BCA55748A0A}"/>
              </a:ext>
            </a:extLst>
          </p:cNvPr>
          <p:cNvSpPr txBox="1"/>
          <p:nvPr/>
        </p:nvSpPr>
        <p:spPr>
          <a:xfrm>
            <a:off x="1057275" y="5290683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gog</a:t>
            </a:r>
            <a:r>
              <a:rPr lang="en-IN" dirty="0"/>
              <a:t>    (9)</a:t>
            </a:r>
          </a:p>
          <a:p>
            <a:r>
              <a:rPr lang="en-IN" dirty="0"/>
              <a:t>7wks   (500)</a:t>
            </a:r>
          </a:p>
          <a:p>
            <a:r>
              <a:rPr lang="en-IN" dirty="0" err="1"/>
              <a:t>prag</a:t>
            </a:r>
            <a:r>
              <a:rPr lang="en-IN" dirty="0"/>
              <a:t>   (9999)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4A9EDC-E4D5-4ABB-BFBD-F142C020770F}"/>
              </a:ext>
            </a:extLst>
          </p:cNvPr>
          <p:cNvSpPr txBox="1"/>
          <p:nvPr/>
        </p:nvSpPr>
        <p:spPr>
          <a:xfrm>
            <a:off x="1057275" y="4781550"/>
            <a:ext cx="5314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How Redis stores it internally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09086164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C0F2B-62E5-4896-9EFC-BFBB5A878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Sorted Set - Ranges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F3372D-A9F1-4992-9AF2-AE0F8D8F5F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Display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ZRANGE visits 0 -1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ZRANGE visits 0 -1 WITHSCORES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D40717-4191-4483-9B9B-B51B88261720}"/>
              </a:ext>
            </a:extLst>
          </p:cNvPr>
          <p:cNvSpPr txBox="1"/>
          <p:nvPr/>
        </p:nvSpPr>
        <p:spPr>
          <a:xfrm>
            <a:off x="5200649" y="2448520"/>
            <a:ext cx="31718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Output:</a:t>
            </a:r>
          </a:p>
          <a:p>
            <a:r>
              <a:rPr lang="en-IN" dirty="0" err="1"/>
              <a:t>gog</a:t>
            </a:r>
            <a:endParaRPr lang="en-IN" dirty="0"/>
          </a:p>
          <a:p>
            <a:r>
              <a:rPr lang="en-IN" dirty="0"/>
              <a:t>7wks</a:t>
            </a:r>
          </a:p>
          <a:p>
            <a:r>
              <a:rPr lang="en-IN" dirty="0" err="1"/>
              <a:t>prag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E781D2-E3D0-4506-B252-83B152C7C5C5}"/>
              </a:ext>
            </a:extLst>
          </p:cNvPr>
          <p:cNvSpPr txBox="1"/>
          <p:nvPr/>
        </p:nvSpPr>
        <p:spPr>
          <a:xfrm>
            <a:off x="6029325" y="3943350"/>
            <a:ext cx="34194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Output:</a:t>
            </a:r>
            <a:endParaRPr lang="en-US" dirty="0"/>
          </a:p>
          <a:p>
            <a:r>
              <a:rPr lang="en-US" dirty="0" err="1"/>
              <a:t>gog</a:t>
            </a:r>
            <a:r>
              <a:rPr lang="en-US" dirty="0"/>
              <a:t>  5</a:t>
            </a:r>
          </a:p>
          <a:p>
            <a:r>
              <a:rPr lang="en-US" dirty="0"/>
              <a:t>7wks 700</a:t>
            </a:r>
          </a:p>
          <a:p>
            <a:r>
              <a:rPr lang="en-US" dirty="0" err="1"/>
              <a:t>prag</a:t>
            </a:r>
            <a:r>
              <a:rPr lang="en-US" dirty="0"/>
              <a:t> 10000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076042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C60D0-8E70-43A4-AC7D-566A28ED8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Sorted Set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08CE4C-6E44-4AB5-A451-067B13C09E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u="sng" dirty="0"/>
              <a:t>Incrementing Score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ZINCRBY visits 1 </a:t>
            </a:r>
            <a:r>
              <a:rPr lang="en-IN" b="1" dirty="0" err="1"/>
              <a:t>prag</a:t>
            </a:r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431CAF-BFA1-447A-829F-ABE715219E34}"/>
              </a:ext>
            </a:extLst>
          </p:cNvPr>
          <p:cNvSpPr txBox="1"/>
          <p:nvPr/>
        </p:nvSpPr>
        <p:spPr>
          <a:xfrm>
            <a:off x="1657350" y="3819525"/>
            <a:ext cx="62769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Increase </a:t>
            </a:r>
            <a:r>
              <a:rPr lang="en-US" sz="2000" dirty="0" err="1"/>
              <a:t>prag</a:t>
            </a:r>
            <a:r>
              <a:rPr lang="en-US" sz="2000" dirty="0"/>
              <a:t> score by 1</a:t>
            </a:r>
          </a:p>
          <a:p>
            <a:endParaRPr lang="en-US" sz="2000" dirty="0"/>
          </a:p>
          <a:p>
            <a:r>
              <a:rPr lang="en-US" sz="2000" dirty="0"/>
              <a:t>Old: 9999 → New: 10000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85040879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C60D0-8E70-43A4-AC7D-566A28ED8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Sorted Set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08CE4C-6E44-4AB5-A451-067B13C09E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u="sng" dirty="0"/>
              <a:t>Incrementing Score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ZINCRBY visits 1 </a:t>
            </a:r>
            <a:r>
              <a:rPr lang="en-IN" b="1" dirty="0" err="1"/>
              <a:t>prag</a:t>
            </a:r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431CAF-BFA1-447A-829F-ABE715219E34}"/>
              </a:ext>
            </a:extLst>
          </p:cNvPr>
          <p:cNvSpPr txBox="1"/>
          <p:nvPr/>
        </p:nvSpPr>
        <p:spPr>
          <a:xfrm>
            <a:off x="1657350" y="3819525"/>
            <a:ext cx="62769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Increase </a:t>
            </a:r>
            <a:r>
              <a:rPr lang="en-US" sz="2000" dirty="0" err="1"/>
              <a:t>prag</a:t>
            </a:r>
            <a:r>
              <a:rPr lang="en-US" sz="2000" dirty="0"/>
              <a:t> score by 1</a:t>
            </a:r>
          </a:p>
          <a:p>
            <a:endParaRPr lang="en-US" sz="2000" dirty="0"/>
          </a:p>
          <a:p>
            <a:r>
              <a:rPr lang="en-US" sz="2000" dirty="0"/>
              <a:t>Old: 9999 → New: 10000</a:t>
            </a:r>
            <a:endParaRPr lang="en-IN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D8CC3C-A04D-4B4C-917E-36DBBE8724C0}"/>
              </a:ext>
            </a:extLst>
          </p:cNvPr>
          <p:cNvSpPr txBox="1"/>
          <p:nvPr/>
        </p:nvSpPr>
        <p:spPr>
          <a:xfrm>
            <a:off x="723900" y="5162550"/>
            <a:ext cx="634365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To decrement</a:t>
            </a:r>
          </a:p>
          <a:p>
            <a:endParaRPr lang="en-US" dirty="0"/>
          </a:p>
          <a:p>
            <a:r>
              <a:rPr lang="en-IN" sz="2400" b="1" dirty="0"/>
              <a:t>ZINCRBY visits -3 </a:t>
            </a:r>
            <a:r>
              <a:rPr lang="en-IN" sz="2400" b="1" dirty="0" err="1"/>
              <a:t>gog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531069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DE3C4-2668-43D4-BF4D-855003DE3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Sorted Set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77EDD-117C-4622-AE44-394000E374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u="sng" dirty="0"/>
              <a:t>UPDATE score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ZADD visits 700 7wks</a:t>
            </a:r>
          </a:p>
        </p:txBody>
      </p:sp>
    </p:spTree>
    <p:extLst>
      <p:ext uri="{BB962C8B-B14F-4D97-AF65-F5344CB8AC3E}">
        <p14:creationId xmlns:p14="http://schemas.microsoft.com/office/powerpoint/2010/main" val="172274888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C0F2B-62E5-4896-9EFC-BFBB5A878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Sorted Set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F3372D-A9F1-4992-9AF2-AE0F8D8F5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089150"/>
          </a:xfrm>
        </p:spPr>
        <p:txBody>
          <a:bodyPr/>
          <a:lstStyle/>
          <a:p>
            <a:pPr marL="0" indent="0">
              <a:buNone/>
            </a:pPr>
            <a:r>
              <a:rPr lang="en-IN" b="1" u="sng" dirty="0"/>
              <a:t>Display - Highest First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ZREVRANGE visits 0 -1 WITHSCORES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D40717-4191-4483-9B9B-B51B88261720}"/>
              </a:ext>
            </a:extLst>
          </p:cNvPr>
          <p:cNvSpPr txBox="1"/>
          <p:nvPr/>
        </p:nvSpPr>
        <p:spPr>
          <a:xfrm>
            <a:off x="6896099" y="2438995"/>
            <a:ext cx="3171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E781D2-E3D0-4506-B252-83B152C7C5C5}"/>
              </a:ext>
            </a:extLst>
          </p:cNvPr>
          <p:cNvSpPr txBox="1"/>
          <p:nvPr/>
        </p:nvSpPr>
        <p:spPr>
          <a:xfrm>
            <a:off x="7153274" y="2228670"/>
            <a:ext cx="341947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Output:</a:t>
            </a:r>
            <a:endParaRPr lang="en-US" sz="2000" dirty="0"/>
          </a:p>
          <a:p>
            <a:r>
              <a:rPr lang="en-US" sz="2000" dirty="0" err="1"/>
              <a:t>prag</a:t>
            </a:r>
            <a:r>
              <a:rPr lang="en-US" sz="2000" dirty="0"/>
              <a:t> 10000 </a:t>
            </a:r>
          </a:p>
          <a:p>
            <a:r>
              <a:rPr lang="en-US" sz="2000" dirty="0"/>
              <a:t>7wks 700</a:t>
            </a:r>
          </a:p>
          <a:p>
            <a:r>
              <a:rPr lang="en-US" sz="2000" dirty="0" err="1"/>
              <a:t>gog</a:t>
            </a:r>
            <a:r>
              <a:rPr lang="en-US" sz="2000" dirty="0"/>
              <a:t>  5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F5817B-DEDD-4031-8C09-FF54062EE69E}"/>
              </a:ext>
            </a:extLst>
          </p:cNvPr>
          <p:cNvSpPr txBox="1"/>
          <p:nvPr/>
        </p:nvSpPr>
        <p:spPr>
          <a:xfrm>
            <a:off x="1143000" y="3762434"/>
            <a:ext cx="852487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/>
              <a:t>Filter by Score</a:t>
            </a:r>
          </a:p>
          <a:p>
            <a:endParaRPr lang="en-IN" sz="2800" b="1" dirty="0"/>
          </a:p>
          <a:p>
            <a:r>
              <a:rPr lang="en-IN" sz="2800" dirty="0"/>
              <a:t>ZRANGEBYSCORE visits 0 1000</a:t>
            </a:r>
          </a:p>
          <a:p>
            <a:endParaRPr lang="en-IN" sz="2800" dirty="0"/>
          </a:p>
          <a:p>
            <a:r>
              <a:rPr lang="en-IN" sz="2800" dirty="0"/>
              <a:t>ZREVRANGEBYSCORE visits  1000 0</a:t>
            </a:r>
          </a:p>
          <a:p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212728094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C0F2B-62E5-4896-9EFC-BFBB5A878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Sorted Set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F3372D-A9F1-4992-9AF2-AE0F8D8F5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08915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u="sng" dirty="0" smtClean="0"/>
              <a:t>ZREM</a:t>
            </a:r>
            <a:endParaRPr lang="en-IN" b="1" u="sng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zrem</a:t>
            </a:r>
            <a:r>
              <a:rPr lang="en-IN" dirty="0"/>
              <a:t> visits 7wks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zrange</a:t>
            </a:r>
            <a:r>
              <a:rPr lang="en-IN" dirty="0"/>
              <a:t> visits 0 -1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D40717-4191-4483-9B9B-B51B88261720}"/>
              </a:ext>
            </a:extLst>
          </p:cNvPr>
          <p:cNvSpPr txBox="1"/>
          <p:nvPr/>
        </p:nvSpPr>
        <p:spPr>
          <a:xfrm>
            <a:off x="6896099" y="2438995"/>
            <a:ext cx="3171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E781D2-E3D0-4506-B252-83B152C7C5C5}"/>
              </a:ext>
            </a:extLst>
          </p:cNvPr>
          <p:cNvSpPr txBox="1"/>
          <p:nvPr/>
        </p:nvSpPr>
        <p:spPr>
          <a:xfrm>
            <a:off x="7153274" y="2228670"/>
            <a:ext cx="341947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Output:</a:t>
            </a:r>
            <a:endParaRPr lang="en-US" sz="2000" dirty="0"/>
          </a:p>
          <a:p>
            <a:r>
              <a:rPr lang="en-US" sz="2000" dirty="0" err="1" smtClean="0"/>
              <a:t>gog</a:t>
            </a:r>
            <a:r>
              <a:rPr lang="en-US" sz="2000" dirty="0" smtClean="0"/>
              <a:t> </a:t>
            </a:r>
          </a:p>
          <a:p>
            <a:r>
              <a:rPr lang="en-US" sz="2000" dirty="0" err="1"/>
              <a:t>prag</a:t>
            </a:r>
            <a:r>
              <a:rPr lang="en-US" sz="2000" dirty="0"/>
              <a:t>  </a:t>
            </a:r>
          </a:p>
          <a:p>
            <a:r>
              <a:rPr lang="en-US" sz="2000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771832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2F15355-BD78-4D57-B5F7-21B0B1E5A4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90686379"/>
              </p:ext>
            </p:extLst>
          </p:nvPr>
        </p:nvGraphicFramePr>
        <p:xfrm>
          <a:off x="838200" y="2817019"/>
          <a:ext cx="10515600" cy="1828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7196987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4127153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Command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47700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ZADD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Add member with 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49572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ZINCRBY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Increase 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86420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ZRANGE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Get sorted values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79783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ZREVRANGE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Get highest first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65623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31197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675" y="425450"/>
            <a:ext cx="36195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/>
              <a:t>STRING</a:t>
            </a:r>
          </a:p>
          <a:p>
            <a:pPr marL="0" indent="0">
              <a:buNone/>
            </a:pPr>
            <a:r>
              <a:rPr lang="en-US" dirty="0" smtClean="0"/>
              <a:t>SET </a:t>
            </a:r>
            <a:r>
              <a:rPr lang="en-US" dirty="0"/>
              <a:t>name "Sandhya"</a:t>
            </a:r>
          </a:p>
          <a:p>
            <a:pPr marL="0" indent="0">
              <a:buNone/>
            </a:pPr>
            <a:r>
              <a:rPr lang="en-US" dirty="0"/>
              <a:t>GET name</a:t>
            </a:r>
          </a:p>
          <a:p>
            <a:pPr marL="0" indent="0">
              <a:buNone/>
            </a:pPr>
            <a:r>
              <a:rPr lang="en-US" dirty="0"/>
              <a:t>INCR count</a:t>
            </a:r>
          </a:p>
          <a:p>
            <a:pPr marL="0" indent="0">
              <a:buNone/>
            </a:pPr>
            <a:r>
              <a:rPr lang="en-US" dirty="0"/>
              <a:t>DECR count</a:t>
            </a:r>
          </a:p>
          <a:p>
            <a:pPr marL="0" indent="0">
              <a:buNone/>
            </a:pPr>
            <a:r>
              <a:rPr lang="en-US" dirty="0"/>
              <a:t>DEL 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95599" y="263525"/>
            <a:ext cx="475297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HASH</a:t>
            </a:r>
          </a:p>
          <a:p>
            <a:r>
              <a:rPr lang="en-US" sz="2400" dirty="0" smtClean="0"/>
              <a:t>Key </a:t>
            </a:r>
            <a:r>
              <a:rPr lang="en-US" sz="2400" dirty="0"/>
              <a:t>→ field → value (like dictionary)</a:t>
            </a:r>
          </a:p>
          <a:p>
            <a:endParaRPr lang="en-US" sz="2400" dirty="0" smtClean="0"/>
          </a:p>
          <a:p>
            <a:r>
              <a:rPr lang="en-US" sz="2400" dirty="0"/>
              <a:t>HSET user:1 name "Sandhya" age 22</a:t>
            </a:r>
          </a:p>
          <a:p>
            <a:r>
              <a:rPr lang="en-US" sz="2400" dirty="0"/>
              <a:t>HGET user:1 name</a:t>
            </a:r>
          </a:p>
          <a:p>
            <a:r>
              <a:rPr lang="en-US" sz="2400" dirty="0"/>
              <a:t>HGETALL user:1</a:t>
            </a:r>
          </a:p>
          <a:p>
            <a:r>
              <a:rPr lang="en-US" sz="2400" dirty="0"/>
              <a:t>HDEL user:1 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29575" y="425450"/>
            <a:ext cx="310515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LIST</a:t>
            </a:r>
          </a:p>
          <a:p>
            <a:r>
              <a:rPr lang="en-US" sz="2000" dirty="0" smtClean="0"/>
              <a:t>Ordered </a:t>
            </a:r>
            <a:r>
              <a:rPr lang="en-US" sz="2000" dirty="0"/>
              <a:t>collection (like queue/stack</a:t>
            </a:r>
            <a:r>
              <a:rPr lang="en-US" sz="2000" dirty="0" smtClean="0"/>
              <a:t>)</a:t>
            </a:r>
          </a:p>
          <a:p>
            <a:endParaRPr lang="en-US" sz="2000" dirty="0"/>
          </a:p>
          <a:p>
            <a:r>
              <a:rPr lang="en-US" sz="2000" dirty="0"/>
              <a:t>LPUSH tasks "task1"</a:t>
            </a:r>
          </a:p>
          <a:p>
            <a:r>
              <a:rPr lang="en-US" sz="2000" dirty="0"/>
              <a:t>RPUSH tasks "task2"</a:t>
            </a:r>
          </a:p>
          <a:p>
            <a:r>
              <a:rPr lang="en-US" sz="2000" dirty="0"/>
              <a:t>LPOP tasks</a:t>
            </a:r>
          </a:p>
          <a:p>
            <a:r>
              <a:rPr lang="en-US" sz="2000" dirty="0"/>
              <a:t>RPOP tasks</a:t>
            </a:r>
          </a:p>
          <a:p>
            <a:r>
              <a:rPr lang="en-US" sz="2000" dirty="0"/>
              <a:t>LRANGE tasks 0 -1</a:t>
            </a:r>
          </a:p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14326" y="3564771"/>
            <a:ext cx="3752850" cy="3262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SET</a:t>
            </a:r>
          </a:p>
          <a:p>
            <a:r>
              <a:rPr lang="en-US" sz="2000" dirty="0" smtClean="0"/>
              <a:t> </a:t>
            </a:r>
            <a:r>
              <a:rPr lang="en-US" sz="2400" dirty="0"/>
              <a:t>Unordered + unique </a:t>
            </a:r>
            <a:r>
              <a:rPr lang="en-US" sz="2400" dirty="0" smtClean="0"/>
              <a:t>values</a:t>
            </a:r>
          </a:p>
          <a:p>
            <a:endParaRPr lang="en-US" sz="2400" dirty="0"/>
          </a:p>
          <a:p>
            <a:r>
              <a:rPr lang="en-US" sz="2400" dirty="0"/>
              <a:t>SADD news "nytimes.com"</a:t>
            </a:r>
          </a:p>
          <a:p>
            <a:r>
              <a:rPr lang="en-US" sz="2400" dirty="0"/>
              <a:t>SMEMBERS news</a:t>
            </a:r>
          </a:p>
          <a:p>
            <a:r>
              <a:rPr lang="en-US" sz="2400" dirty="0"/>
              <a:t>SREM news "nytimes.com"</a:t>
            </a:r>
          </a:p>
          <a:p>
            <a:r>
              <a:rPr lang="en-US" sz="2400" dirty="0"/>
              <a:t>SINTER set1 set2</a:t>
            </a:r>
          </a:p>
          <a:p>
            <a:r>
              <a:rPr lang="en-US" sz="2400" dirty="0"/>
              <a:t>SUNION set1 set2</a:t>
            </a:r>
          </a:p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791075" y="3657600"/>
            <a:ext cx="380047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SORTED SET (ZSET</a:t>
            </a:r>
            <a:r>
              <a:rPr lang="en-US" sz="2000" b="1" dirty="0" smtClean="0"/>
              <a:t>)</a:t>
            </a:r>
          </a:p>
          <a:p>
            <a:r>
              <a:rPr lang="en-US" sz="2000" dirty="0"/>
              <a:t>Unique + ordered by </a:t>
            </a:r>
            <a:r>
              <a:rPr lang="en-US" sz="2000" dirty="0" smtClean="0"/>
              <a:t>score</a:t>
            </a:r>
          </a:p>
          <a:p>
            <a:endParaRPr lang="en-US" sz="2000" dirty="0"/>
          </a:p>
          <a:p>
            <a:r>
              <a:rPr lang="en-US" sz="2000" dirty="0"/>
              <a:t>ZADD visits 100 google.com</a:t>
            </a:r>
          </a:p>
          <a:p>
            <a:r>
              <a:rPr lang="en-US" sz="2000" dirty="0"/>
              <a:t>ZRANGE visits 0 -1</a:t>
            </a:r>
          </a:p>
          <a:p>
            <a:r>
              <a:rPr lang="en-US" sz="2000" dirty="0"/>
              <a:t>ZREVRANGE visits 0 -1</a:t>
            </a:r>
          </a:p>
          <a:p>
            <a:r>
              <a:rPr lang="en-US" sz="2000" dirty="0"/>
              <a:t>ZINCRBY visits 10 google.com</a:t>
            </a:r>
          </a:p>
          <a:p>
            <a:r>
              <a:rPr lang="en-US" sz="2000" dirty="0"/>
              <a:t>ZSCORE visits google.com</a:t>
            </a:r>
          </a:p>
        </p:txBody>
      </p:sp>
    </p:spTree>
    <p:extLst>
      <p:ext uri="{BB962C8B-B14F-4D97-AF65-F5344CB8AC3E}">
        <p14:creationId xmlns:p14="http://schemas.microsoft.com/office/powerpoint/2010/main" val="176204711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5300" y="314325"/>
            <a:ext cx="391477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# STRING</a:t>
            </a:r>
          </a:p>
          <a:p>
            <a:r>
              <a:rPr lang="en-US" sz="2400" dirty="0"/>
              <a:t>SET key value</a:t>
            </a:r>
          </a:p>
          <a:p>
            <a:r>
              <a:rPr lang="en-US" sz="2400" dirty="0"/>
              <a:t>GET key</a:t>
            </a:r>
          </a:p>
          <a:p>
            <a:endParaRPr lang="en-US" sz="2400" dirty="0"/>
          </a:p>
          <a:p>
            <a:r>
              <a:rPr lang="en-US" sz="2400" dirty="0"/>
              <a:t># HASH</a:t>
            </a:r>
          </a:p>
          <a:p>
            <a:r>
              <a:rPr lang="en-US" sz="2400" dirty="0"/>
              <a:t>HSET key field value</a:t>
            </a:r>
          </a:p>
          <a:p>
            <a:r>
              <a:rPr lang="en-US" sz="2400" dirty="0"/>
              <a:t>HGET key field</a:t>
            </a:r>
          </a:p>
          <a:p>
            <a:endParaRPr lang="en-US" sz="2400" dirty="0"/>
          </a:p>
          <a:p>
            <a:r>
              <a:rPr lang="en-US" sz="2400" dirty="0"/>
              <a:t># LIST</a:t>
            </a:r>
          </a:p>
          <a:p>
            <a:r>
              <a:rPr lang="en-US" sz="2400" dirty="0"/>
              <a:t>LPUSH key value</a:t>
            </a:r>
          </a:p>
          <a:p>
            <a:r>
              <a:rPr lang="en-US" sz="2400" dirty="0"/>
              <a:t>LRANGE key 0 -1</a:t>
            </a:r>
          </a:p>
          <a:p>
            <a:endParaRPr lang="en-US" sz="2400" dirty="0"/>
          </a:p>
          <a:p>
            <a:r>
              <a:rPr lang="en-US" sz="2400" dirty="0"/>
              <a:t># SET</a:t>
            </a:r>
          </a:p>
          <a:p>
            <a:r>
              <a:rPr lang="en-US" sz="2400" dirty="0"/>
              <a:t>SADD key value</a:t>
            </a:r>
          </a:p>
          <a:p>
            <a:r>
              <a:rPr lang="en-US" sz="2400" dirty="0"/>
              <a:t>SMEMBERS key</a:t>
            </a:r>
          </a:p>
          <a:p>
            <a:endParaRPr lang="en-US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4543425" y="4772025"/>
            <a:ext cx="360045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# SORTED SET</a:t>
            </a:r>
          </a:p>
          <a:p>
            <a:r>
              <a:rPr lang="en-US" sz="2000" dirty="0"/>
              <a:t>ZADD key score value</a:t>
            </a:r>
          </a:p>
          <a:p>
            <a:r>
              <a:rPr lang="en-US" sz="2000" dirty="0"/>
              <a:t>ZRANGE key 0 -1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09118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ZUNIONSTORE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Just like the set datatype, we can create a destination key that contains the union or intersection of one or more keys.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Consider-Website Ranking </a:t>
            </a:r>
            <a:r>
              <a:rPr lang="en-US" dirty="0" smtClean="0"/>
              <a:t>System</a:t>
            </a:r>
          </a:p>
          <a:p>
            <a:pPr marL="0" indent="0">
              <a:buNone/>
            </a:pPr>
            <a:r>
              <a:rPr lang="en-US" dirty="0"/>
              <a:t>We </a:t>
            </a:r>
            <a:r>
              <a:rPr lang="en-US" dirty="0" smtClean="0"/>
              <a:t>track:</a:t>
            </a:r>
          </a:p>
          <a:p>
            <a:pPr marL="0" indent="0">
              <a:buNone/>
            </a:pPr>
            <a:r>
              <a:rPr lang="en-US" dirty="0" smtClean="0"/>
              <a:t> Visits</a:t>
            </a:r>
          </a:p>
          <a:p>
            <a:pPr marL="0" indent="0">
              <a:buNone/>
            </a:pPr>
            <a:r>
              <a:rPr lang="en-US" dirty="0" smtClean="0"/>
              <a:t> Votes</a:t>
            </a:r>
          </a:p>
          <a:p>
            <a:pPr marL="0" indent="0">
              <a:buNone/>
            </a:pPr>
            <a:r>
              <a:rPr lang="en-US" dirty="0" smtClean="0"/>
              <a:t>Final </a:t>
            </a:r>
            <a:r>
              <a:rPr lang="en-US" dirty="0"/>
              <a:t>goal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r>
              <a:rPr lang="en-US" dirty="0" smtClean="0"/>
              <a:t>Importance </a:t>
            </a:r>
            <a:r>
              <a:rPr lang="en-US" dirty="0"/>
              <a:t>= visits + (votes × 2)</a:t>
            </a:r>
          </a:p>
        </p:txBody>
      </p:sp>
    </p:spTree>
    <p:extLst>
      <p:ext uri="{BB962C8B-B14F-4D97-AF65-F5344CB8AC3E}">
        <p14:creationId xmlns:p14="http://schemas.microsoft.com/office/powerpoint/2010/main" val="2392657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ZUNIONSTORE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Create Sorted </a:t>
            </a:r>
            <a:r>
              <a:rPr lang="en-US" dirty="0" smtClean="0"/>
              <a:t>Sets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ZADD visits 100 google 50 </a:t>
            </a:r>
            <a:r>
              <a:rPr lang="en-US" dirty="0" err="1"/>
              <a:t>youtube</a:t>
            </a:r>
            <a:r>
              <a:rPr lang="en-US" dirty="0"/>
              <a:t> 10 </a:t>
            </a:r>
            <a:r>
              <a:rPr lang="en-US" dirty="0" err="1"/>
              <a:t>bing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ZADD votes 10 google 40 </a:t>
            </a:r>
            <a:r>
              <a:rPr lang="en-US" dirty="0" err="1"/>
              <a:t>youtube</a:t>
            </a:r>
            <a:r>
              <a:rPr lang="en-US" dirty="0"/>
              <a:t> 5 </a:t>
            </a:r>
            <a:r>
              <a:rPr lang="en-US" dirty="0" err="1" smtClean="0"/>
              <a:t>bing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41857"/>
              </p:ext>
            </p:extLst>
          </p:nvPr>
        </p:nvGraphicFramePr>
        <p:xfrm>
          <a:off x="942975" y="4603274"/>
          <a:ext cx="10515600" cy="146304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40165338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59334629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074458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Website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Visits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Votes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906512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google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076655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youtube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69187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bing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5072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6420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ZUNIONSTORE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Combine using </a:t>
            </a:r>
            <a:r>
              <a:rPr lang="en-US" dirty="0" smtClean="0"/>
              <a:t>ZUNIONSTORE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ZUNIONSTORE importance 2 visits votes WEIGHTS 1 2 AGGREGATE SUM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6892632"/>
              </p:ext>
            </p:extLst>
          </p:nvPr>
        </p:nvGraphicFramePr>
        <p:xfrm>
          <a:off x="838200" y="4250849"/>
          <a:ext cx="10515600" cy="146304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30839204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89156430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61257127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6188930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Website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Visits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Votes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Final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7247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google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100 + 20 = 120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75792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youtube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50 + 80 = 130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0472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bing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 + 10 = 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15193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3224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975" y="103188"/>
            <a:ext cx="10515600" cy="644526"/>
          </a:xfrm>
        </p:spPr>
        <p:txBody>
          <a:bodyPr>
            <a:normAutofit fontScale="90000"/>
          </a:bodyPr>
          <a:lstStyle/>
          <a:p>
            <a:r>
              <a:rPr lang="en-US" dirty="0"/>
              <a:t>ZUNIONSTORE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895350"/>
            <a:ext cx="10515600" cy="474821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Display ALL </a:t>
            </a:r>
            <a:r>
              <a:rPr lang="en-US" dirty="0" smtClean="0"/>
              <a:t>values</a:t>
            </a:r>
          </a:p>
          <a:p>
            <a:pPr marL="0" indent="0">
              <a:buNone/>
            </a:pPr>
            <a:r>
              <a:rPr lang="en-US" dirty="0"/>
              <a:t>[Low to high</a:t>
            </a:r>
            <a:r>
              <a:rPr lang="en-US" dirty="0" smtClean="0"/>
              <a:t>]</a:t>
            </a:r>
          </a:p>
          <a:p>
            <a:pPr marL="0" indent="0">
              <a:buNone/>
            </a:pPr>
            <a:r>
              <a:rPr lang="en-US" dirty="0" smtClean="0"/>
              <a:t>ZRANGEBYSCORE </a:t>
            </a:r>
            <a:r>
              <a:rPr lang="en-US" dirty="0"/>
              <a:t>importance -</a:t>
            </a:r>
            <a:r>
              <a:rPr lang="en-US" dirty="0" err="1"/>
              <a:t>inf</a:t>
            </a:r>
            <a:r>
              <a:rPr lang="en-US" dirty="0"/>
              <a:t> </a:t>
            </a:r>
            <a:r>
              <a:rPr lang="en-US" dirty="0" err="1"/>
              <a:t>inf</a:t>
            </a:r>
            <a:r>
              <a:rPr lang="en-US" dirty="0"/>
              <a:t> </a:t>
            </a:r>
            <a:r>
              <a:rPr lang="en-US" dirty="0" smtClean="0"/>
              <a:t>WITHSCORES </a:t>
            </a:r>
          </a:p>
          <a:p>
            <a:pPr marL="0" indent="0">
              <a:buNone/>
            </a:pPr>
            <a:r>
              <a:rPr lang="en-US" dirty="0"/>
              <a:t>Or ZRANGE importance 0 -1 WITHSCORES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[high </a:t>
            </a:r>
            <a:r>
              <a:rPr lang="en-US" dirty="0"/>
              <a:t>to</a:t>
            </a:r>
            <a:r>
              <a:rPr lang="en-US" dirty="0" smtClean="0"/>
              <a:t> </a:t>
            </a:r>
            <a:r>
              <a:rPr lang="en-US" dirty="0"/>
              <a:t>Low </a:t>
            </a:r>
            <a:r>
              <a:rPr lang="en-US" dirty="0" smtClean="0"/>
              <a:t>]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ZREVRANGEBYSCORE importance +</a:t>
            </a:r>
            <a:r>
              <a:rPr lang="en-US" dirty="0" err="1"/>
              <a:t>inf</a:t>
            </a:r>
            <a:r>
              <a:rPr lang="en-US" dirty="0"/>
              <a:t> -</a:t>
            </a:r>
            <a:r>
              <a:rPr lang="en-US" dirty="0" err="1"/>
              <a:t>inf</a:t>
            </a:r>
            <a:r>
              <a:rPr lang="en-US" dirty="0"/>
              <a:t> </a:t>
            </a:r>
            <a:r>
              <a:rPr lang="en-US" dirty="0" smtClean="0"/>
              <a:t>WITHSCORES</a:t>
            </a:r>
          </a:p>
          <a:p>
            <a:pPr marL="0" indent="0">
              <a:buNone/>
            </a:pPr>
            <a:r>
              <a:rPr lang="en-US" dirty="0"/>
              <a:t>Or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ZREVRANGE </a:t>
            </a:r>
            <a:r>
              <a:rPr lang="en-US" dirty="0"/>
              <a:t>importance 0 -1 WITHSCORES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9730142"/>
              </p:ext>
            </p:extLst>
          </p:nvPr>
        </p:nvGraphicFramePr>
        <p:xfrm>
          <a:off x="742950" y="5394960"/>
          <a:ext cx="10515600" cy="146304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30839204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89156430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61257127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6188930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Website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Visits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Votes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Final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7247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google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100 + 20 = 120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75792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 err="1"/>
                        <a:t>youtube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50 + 80 = 130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0472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bing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 + 10 = 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15193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0130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ZUNIONSTORE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Combine using </a:t>
            </a:r>
            <a:r>
              <a:rPr lang="en-US" dirty="0" smtClean="0"/>
              <a:t>ZUNIONSTORE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ZUNIONSTORE importance 2 visits votes WEIGHTS 1 2 AGGREGATE </a:t>
            </a:r>
            <a:r>
              <a:rPr lang="en-US" dirty="0" smtClean="0"/>
              <a:t>MIN</a:t>
            </a:r>
          </a:p>
          <a:p>
            <a:pPr marL="0" indent="0">
              <a:buNone/>
            </a:pPr>
            <a:r>
              <a:rPr lang="en-US" dirty="0"/>
              <a:t>ZUNIONSTORE importance 2 visits votes WEIGHTS 1 2 AGGREGATE </a:t>
            </a:r>
            <a:r>
              <a:rPr lang="en-US" dirty="0" smtClean="0"/>
              <a:t>MAX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6892632"/>
              </p:ext>
            </p:extLst>
          </p:nvPr>
        </p:nvGraphicFramePr>
        <p:xfrm>
          <a:off x="838200" y="4250849"/>
          <a:ext cx="10515600" cy="146304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30839204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89156430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61257127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6188930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Website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Visits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Votes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Final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7247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google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100 + 20 = 120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75792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youtube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50 + 80 = 130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0472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bing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 + 10 = 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15193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2264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ZUNIONSTORE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ZADD visits 100 google 50 </a:t>
            </a:r>
            <a:r>
              <a:rPr lang="en-US" dirty="0" err="1"/>
              <a:t>youtube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ZADD votes 10 google 80 </a:t>
            </a:r>
            <a:r>
              <a:rPr lang="en-US" dirty="0" smtClean="0"/>
              <a:t>Instagram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ZUNIONSTORE result 2 visits </a:t>
            </a:r>
            <a:r>
              <a:rPr lang="en-US" dirty="0" smtClean="0"/>
              <a:t>votes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7449839"/>
              </p:ext>
            </p:extLst>
          </p:nvPr>
        </p:nvGraphicFramePr>
        <p:xfrm>
          <a:off x="657225" y="4241324"/>
          <a:ext cx="10515600" cy="146304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410244681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95931012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76528311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8135592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Element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Visits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Votes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Final (SUM)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030612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google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57803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youtube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26384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instagram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80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84522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23875" y="6176963"/>
            <a:ext cx="95440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Note- Sorted sets contain a similar command (ZINTERSTORE)to perform intersections.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704539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Expiry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85875"/>
            <a:ext cx="10515600" cy="54483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Key will automatically delete after some </a:t>
            </a:r>
            <a:r>
              <a:rPr lang="en-US" dirty="0" smtClean="0"/>
              <a:t>time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 smtClean="0"/>
              <a:t>Example</a:t>
            </a:r>
          </a:p>
          <a:p>
            <a:pPr marL="0" indent="0">
              <a:buNone/>
            </a:pPr>
            <a:r>
              <a:rPr lang="en-US" dirty="0"/>
              <a:t>SET ice "I'm melting..."</a:t>
            </a:r>
          </a:p>
          <a:p>
            <a:pPr marL="0" indent="0">
              <a:buNone/>
            </a:pPr>
            <a:r>
              <a:rPr lang="en-US" dirty="0"/>
              <a:t>EXPIRE ice </a:t>
            </a:r>
            <a:r>
              <a:rPr lang="en-US" dirty="0" smtClean="0"/>
              <a:t>10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Check if key </a:t>
            </a:r>
            <a:r>
              <a:rPr lang="en-US" dirty="0" smtClean="0"/>
              <a:t>exists</a:t>
            </a:r>
          </a:p>
          <a:p>
            <a:pPr marL="0" indent="0">
              <a:buNone/>
            </a:pPr>
            <a:r>
              <a:rPr lang="en-US" dirty="0"/>
              <a:t>EXISTS </a:t>
            </a:r>
            <a:r>
              <a:rPr lang="en-US" dirty="0" smtClean="0"/>
              <a:t>ice</a:t>
            </a:r>
          </a:p>
          <a:p>
            <a:pPr marL="0" indent="0">
              <a:buNone/>
            </a:pPr>
            <a:r>
              <a:rPr lang="en-US" dirty="0" smtClean="0"/>
              <a:t>Output:</a:t>
            </a:r>
          </a:p>
          <a:p>
            <a:pPr marL="0" indent="0">
              <a:buNone/>
            </a:pPr>
            <a:r>
              <a:rPr lang="en-US" dirty="0" smtClean="0"/>
              <a:t>1 </a:t>
            </a:r>
            <a:r>
              <a:rPr lang="en-US" dirty="0"/>
              <a:t>→ key </a:t>
            </a:r>
            <a:r>
              <a:rPr lang="en-US" dirty="0" smtClean="0"/>
              <a:t>exists</a:t>
            </a:r>
          </a:p>
          <a:p>
            <a:pPr marL="0" indent="0">
              <a:buNone/>
            </a:pPr>
            <a:r>
              <a:rPr lang="en-US" dirty="0" smtClean="0"/>
              <a:t>0 </a:t>
            </a:r>
            <a:r>
              <a:rPr lang="en-US" dirty="0"/>
              <a:t>→ key deleted (expired)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001212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Expiry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85875"/>
            <a:ext cx="10515600" cy="54483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Shortcut Command (SET + EXPIRE</a:t>
            </a:r>
            <a:r>
              <a:rPr lang="en-US" b="1" dirty="0" smtClean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SETEX ice 10 "I'm melting</a:t>
            </a:r>
            <a:r>
              <a:rPr lang="en-US" dirty="0" smtClean="0"/>
              <a:t>...“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Check Remaining </a:t>
            </a:r>
            <a:r>
              <a:rPr lang="en-US" b="1" dirty="0" smtClean="0"/>
              <a:t>Time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TTL </a:t>
            </a:r>
            <a:r>
              <a:rPr lang="en-US" dirty="0" smtClean="0"/>
              <a:t>ice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Remove Expiry (Make Permanent</a:t>
            </a:r>
            <a:r>
              <a:rPr lang="en-US" b="1" dirty="0" smtClean="0"/>
              <a:t>)</a:t>
            </a:r>
          </a:p>
          <a:p>
            <a:pPr marL="0" indent="0">
              <a:buNone/>
            </a:pPr>
            <a:r>
              <a:rPr lang="en-US" dirty="0"/>
              <a:t>PERSIST ice</a:t>
            </a:r>
          </a:p>
        </p:txBody>
      </p:sp>
    </p:spTree>
    <p:extLst>
      <p:ext uri="{BB962C8B-B14F-4D97-AF65-F5344CB8AC3E}">
        <p14:creationId xmlns:p14="http://schemas.microsoft.com/office/powerpoint/2010/main" val="219912907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Expiry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21356557"/>
              </p:ext>
            </p:extLst>
          </p:nvPr>
        </p:nvGraphicFramePr>
        <p:xfrm>
          <a:off x="838200" y="1604010"/>
          <a:ext cx="10515600" cy="13716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09494668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7245674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400" dirty="0"/>
                        <a:t>Command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42382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dirty="0"/>
                        <a:t>EXPIRE key 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relative time (after 10 sec)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76945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dirty="0"/>
                        <a:t>EXPIREAT key timestamp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exact time (fixed date/time)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02414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013881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Expiry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Real Use Case (Cache</a:t>
            </a:r>
            <a:r>
              <a:rPr lang="en-US" b="1" dirty="0" smtClean="0"/>
              <a:t>)</a:t>
            </a:r>
          </a:p>
          <a:p>
            <a:pPr marL="0" indent="0">
              <a:buNone/>
            </a:pPr>
            <a:r>
              <a:rPr lang="en-US" dirty="0"/>
              <a:t>SETEX user:1 60 "</a:t>
            </a:r>
            <a:r>
              <a:rPr lang="en-US" dirty="0" smtClean="0"/>
              <a:t>data“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Store </a:t>
            </a:r>
            <a:r>
              <a:rPr lang="en-US" dirty="0"/>
              <a:t>user </a:t>
            </a:r>
            <a:r>
              <a:rPr lang="en-US" dirty="0" smtClean="0"/>
              <a:t>data</a:t>
            </a:r>
          </a:p>
          <a:p>
            <a:pPr marL="0" indent="0">
              <a:buNone/>
            </a:pPr>
            <a:r>
              <a:rPr lang="en-US" dirty="0" smtClean="0"/>
              <a:t>Automatically </a:t>
            </a:r>
            <a:r>
              <a:rPr lang="en-US" dirty="0"/>
              <a:t>delete after 60 sec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12667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Expiry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MRU</a:t>
            </a:r>
            <a:endParaRPr lang="en-US" b="1" dirty="0"/>
          </a:p>
          <a:p>
            <a:r>
              <a:rPr lang="en-US" b="1" dirty="0" smtClean="0"/>
              <a:t>Most </a:t>
            </a:r>
            <a:r>
              <a:rPr lang="en-US" b="1" dirty="0"/>
              <a:t>Recently </a:t>
            </a:r>
            <a:r>
              <a:rPr lang="en-US" b="1" dirty="0" smtClean="0"/>
              <a:t>Used</a:t>
            </a:r>
          </a:p>
          <a:p>
            <a:pPr marL="0" indent="0">
              <a:buNone/>
            </a:pPr>
            <a:r>
              <a:rPr lang="en-US" dirty="0"/>
              <a:t>Recently used → keep it</a:t>
            </a:r>
          </a:p>
          <a:p>
            <a:pPr marL="0" indent="0">
              <a:buNone/>
            </a:pPr>
            <a:r>
              <a:rPr lang="en-US" dirty="0"/>
              <a:t>Not used → let it </a:t>
            </a:r>
            <a:r>
              <a:rPr lang="en-US" dirty="0" smtClean="0"/>
              <a:t>expire</a:t>
            </a:r>
          </a:p>
          <a:p>
            <a:pPr marL="0" indent="0">
              <a:buNone/>
            </a:pPr>
            <a:r>
              <a:rPr lang="en-US" dirty="0" smtClean="0"/>
              <a:t>Ex-</a:t>
            </a:r>
          </a:p>
          <a:p>
            <a:pPr marL="0" indent="0">
              <a:buNone/>
            </a:pPr>
            <a:r>
              <a:rPr lang="en-US" dirty="0"/>
              <a:t>Videos you watch often → shown </a:t>
            </a:r>
            <a:r>
              <a:rPr lang="en-US" dirty="0" smtClean="0"/>
              <a:t>again</a:t>
            </a:r>
          </a:p>
          <a:p>
            <a:pPr marL="0" indent="0">
              <a:buNone/>
            </a:pPr>
            <a:r>
              <a:rPr lang="en-US" dirty="0" smtClean="0"/>
              <a:t>Videos </a:t>
            </a:r>
            <a:r>
              <a:rPr lang="en-US" dirty="0"/>
              <a:t>you never open → disappear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43059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Expiry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 smtClean="0"/>
              <a:t>MRU</a:t>
            </a:r>
          </a:p>
          <a:p>
            <a:pPr marL="0" indent="0">
              <a:buNone/>
            </a:pPr>
            <a:r>
              <a:rPr lang="en-US" dirty="0"/>
              <a:t>SETEX user:1 10 "</a:t>
            </a:r>
            <a:r>
              <a:rPr lang="en-US" dirty="0" smtClean="0"/>
              <a:t>data“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After 5 sec</a:t>
            </a:r>
            <a:r>
              <a:rPr lang="en-US" dirty="0" smtClean="0"/>
              <a:t>…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GET user:1</a:t>
            </a:r>
          </a:p>
          <a:p>
            <a:pPr marL="0" indent="0">
              <a:buNone/>
            </a:pPr>
            <a:r>
              <a:rPr lang="en-US" dirty="0"/>
              <a:t>EXPIRE user:1 </a:t>
            </a:r>
            <a:r>
              <a:rPr lang="en-US" dirty="0" smtClean="0"/>
              <a:t>10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/>
              <a:t>Timer resets again to 10 seconds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953740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34593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771</TotalTime>
  <Words>2942</Words>
  <Application>Microsoft Office PowerPoint</Application>
  <PresentationFormat>Widescreen</PresentationFormat>
  <Paragraphs>874</Paragraphs>
  <Slides>85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85</vt:i4>
      </vt:variant>
    </vt:vector>
  </HeadingPairs>
  <TitlesOfParts>
    <vt:vector size="90" baseType="lpstr">
      <vt:lpstr>Arial</vt:lpstr>
      <vt:lpstr>Calibri</vt:lpstr>
      <vt:lpstr>Calibri Light</vt:lpstr>
      <vt:lpstr>Times New Roman</vt:lpstr>
      <vt:lpstr>Office Theme</vt:lpstr>
      <vt:lpstr>MODULE 5</vt:lpstr>
      <vt:lpstr>What is Redis ?</vt:lpstr>
      <vt:lpstr>Data Structure Server</vt:lpstr>
      <vt:lpstr>Data Structure Server</vt:lpstr>
      <vt:lpstr>Special Features of Redis</vt:lpstr>
      <vt:lpstr>Special Features of Redis</vt:lpstr>
      <vt:lpstr>Redis as a Toolkit</vt:lpstr>
      <vt:lpstr>Redis CLI (Command Line Interface) </vt:lpstr>
      <vt:lpstr> URL shortener</vt:lpstr>
      <vt:lpstr>CRUD Operations in Redis</vt:lpstr>
      <vt:lpstr>CRUD Operations in Redis</vt:lpstr>
      <vt:lpstr>Integer Operations in Redis</vt:lpstr>
      <vt:lpstr>Error Handling </vt:lpstr>
      <vt:lpstr>UPDATE and DELETE</vt:lpstr>
      <vt:lpstr>Redis Transactions</vt:lpstr>
      <vt:lpstr>Redis Transactions</vt:lpstr>
      <vt:lpstr>Redis Transactions</vt:lpstr>
      <vt:lpstr>Redis Transactions</vt:lpstr>
      <vt:lpstr>PowerPoint Presentation</vt:lpstr>
      <vt:lpstr>PowerPoint Presentation</vt:lpstr>
      <vt:lpstr>PowerPoint Presentation</vt:lpstr>
      <vt:lpstr>PowerPoint Presentation</vt:lpstr>
      <vt:lpstr>Complex Datatypes</vt:lpstr>
      <vt:lpstr>PowerPoint Presentation</vt:lpstr>
      <vt:lpstr>PowerPoint Presentation</vt:lpstr>
      <vt:lpstr>HASH</vt:lpstr>
      <vt:lpstr>Task: Redis Hash – Product Management</vt:lpstr>
      <vt:lpstr>Task: Redis Hash – Product Management</vt:lpstr>
      <vt:lpstr>Task: Redis Hash – Product Management</vt:lpstr>
      <vt:lpstr>Task: Redis Hash – Product Management</vt:lpstr>
      <vt:lpstr>Task: Redis Hash – Product Management</vt:lpstr>
      <vt:lpstr>Task: Redis Hash – Product Management</vt:lpstr>
      <vt:lpstr>Task: Redis Hash – Product Management</vt:lpstr>
      <vt:lpstr>Task: Redis Hash – Product Management</vt:lpstr>
      <vt:lpstr>LIST</vt:lpstr>
      <vt:lpstr>LIST</vt:lpstr>
      <vt:lpstr>LIST</vt:lpstr>
      <vt:lpstr>LIST</vt:lpstr>
      <vt:lpstr>LIST</vt:lpstr>
      <vt:lpstr>LIST</vt:lpstr>
      <vt:lpstr>LIST</vt:lpstr>
      <vt:lpstr>LIST</vt:lpstr>
      <vt:lpstr>LIST</vt:lpstr>
      <vt:lpstr>LIST</vt:lpstr>
      <vt:lpstr>LIST</vt:lpstr>
      <vt:lpstr>LIST</vt:lpstr>
      <vt:lpstr>LIST</vt:lpstr>
      <vt:lpstr>LIST</vt:lpstr>
      <vt:lpstr>LIST</vt:lpstr>
      <vt:lpstr>Blocking List</vt:lpstr>
      <vt:lpstr>Blocking List</vt:lpstr>
      <vt:lpstr>Blocking List</vt:lpstr>
      <vt:lpstr>Sets</vt:lpstr>
      <vt:lpstr>Sets</vt:lpstr>
      <vt:lpstr>Sets</vt:lpstr>
      <vt:lpstr>Sets</vt:lpstr>
      <vt:lpstr>Sets</vt:lpstr>
      <vt:lpstr>Sets</vt:lpstr>
      <vt:lpstr>PowerPoint Presentation</vt:lpstr>
      <vt:lpstr>Sorted Set</vt:lpstr>
      <vt:lpstr>Sorted Set</vt:lpstr>
      <vt:lpstr>Sorted Set</vt:lpstr>
      <vt:lpstr>Sorted Set</vt:lpstr>
      <vt:lpstr>Sorted Set - Ranges</vt:lpstr>
      <vt:lpstr>Sorted Set</vt:lpstr>
      <vt:lpstr>Sorted Set</vt:lpstr>
      <vt:lpstr>Sorted Set</vt:lpstr>
      <vt:lpstr>Sorted Set</vt:lpstr>
      <vt:lpstr>Sorted Set</vt:lpstr>
      <vt:lpstr>PowerPoint Presentation</vt:lpstr>
      <vt:lpstr>PowerPoint Presentation</vt:lpstr>
      <vt:lpstr>PowerPoint Presentation</vt:lpstr>
      <vt:lpstr>ZUNIONSTORE</vt:lpstr>
      <vt:lpstr>ZUNIONSTORE</vt:lpstr>
      <vt:lpstr>ZUNIONSTORE</vt:lpstr>
      <vt:lpstr>ZUNIONSTORE</vt:lpstr>
      <vt:lpstr>ZUNIONSTORE</vt:lpstr>
      <vt:lpstr>ZUNIONSTORE</vt:lpstr>
      <vt:lpstr>Expiry</vt:lpstr>
      <vt:lpstr>Expiry</vt:lpstr>
      <vt:lpstr>Expiry</vt:lpstr>
      <vt:lpstr>Expiry</vt:lpstr>
      <vt:lpstr>Expiry</vt:lpstr>
      <vt:lpstr>Expiry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5</dc:title>
  <dc:creator>Admin</dc:creator>
  <cp:lastModifiedBy>Sandhya</cp:lastModifiedBy>
  <cp:revision>82</cp:revision>
  <dcterms:created xsi:type="dcterms:W3CDTF">2026-04-11T09:50:44Z</dcterms:created>
  <dcterms:modified xsi:type="dcterms:W3CDTF">2026-04-16T06:36:30Z</dcterms:modified>
</cp:coreProperties>
</file>